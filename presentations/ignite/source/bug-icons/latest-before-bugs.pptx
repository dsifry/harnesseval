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2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3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14.xml" ContentType="application/vnd.openxmlformats-officedocument.presentationml.notesSlide+xml"/>
  <Override PartName="/ppt/charts/chart13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5240000" cy="8572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_rels/chart2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2.xlsx"/></Relationships>

</file>

<file path=ppt/charts/_rels/chart3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3.xlsx"/></Relationships>

</file>

<file path=ppt/charts/_rels/chart4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4.xlsx"/></Relationships>

</file>

<file path=ppt/charts/_rels/chart5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5.xlsx"/></Relationships>

</file>

<file path=ppt/charts/_rels/chart6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6.xlsx"/></Relationships>

</file>

<file path=ppt/charts/_rels/chart7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7.xlsx"/></Relationships>

</file>

<file path=ppt/charts/_rels/chart8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8.xlsx"/></Relationships>

</file>

<file path=ppt/charts/_rels/chart9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9.xlsx"/></Relationships>

</file>

<file path=ppt/charts/_rels/chart10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0.xlsx"/></Relationships>

</file>

<file path=ppt/charts/_rels/chart1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1.xlsx"/></Relationships>

</file>

<file path=ppt/charts/_rels/chart12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2.xlsx"/></Relationships>

</file>

<file path=ppt/charts/_rels/chart13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3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174998"/>
          <c:y val="0.0321497"/>
          <c:w val="0.9775"/>
          <c:h val="0.94485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benchmark bugs</c:v>
                </c:pt>
              </c:strCache>
            </c:strRef>
          </c:tx>
          <c:spPr>
            <a:solidFill>
              <a:srgbClr val="F4F1E9"/>
            </a:solidFill>
            <a:ln w="12700" cap="flat">
              <a:noFill/>
              <a:miter lim="400000"/>
            </a:ln>
            <a:effectLst/>
          </c:spPr>
          <c:marker>
            <c:symbol val="circle"/>
            <c:size val="18"/>
            <c:spPr>
              <a:solidFill>
                <a:srgbClr val="F4F1E9"/>
              </a:solidFill>
              <a:ln w="12700" cap="flat">
                <a:noFill/>
                <a:miter lim="400000"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Sheet1!$B$2:$B$43</c:f>
              <c:numCache>
                <c:ptCount val="42"/>
                <c:pt idx="0">
                  <c:v>1.000000</c:v>
                </c:pt>
                <c:pt idx="1">
                  <c:v>2.000000</c:v>
                </c:pt>
                <c:pt idx="2">
                  <c:v>3.000000</c:v>
                </c:pt>
                <c:pt idx="3">
                  <c:v>4.000000</c:v>
                </c:pt>
                <c:pt idx="4">
                  <c:v>5.000000</c:v>
                </c:pt>
                <c:pt idx="5">
                  <c:v>6.000000</c:v>
                </c:pt>
                <c:pt idx="6">
                  <c:v>7.000000</c:v>
                </c:pt>
                <c:pt idx="7">
                  <c:v>8.000000</c:v>
                </c:pt>
                <c:pt idx="8">
                  <c:v>9.000000</c:v>
                </c:pt>
                <c:pt idx="9">
                  <c:v>10.000000</c:v>
                </c:pt>
                <c:pt idx="10">
                  <c:v>11.000000</c:v>
                </c:pt>
                <c:pt idx="11">
                  <c:v>12.000000</c:v>
                </c:pt>
                <c:pt idx="12">
                  <c:v>13.000000</c:v>
                </c:pt>
                <c:pt idx="13">
                  <c:v>14.000000</c:v>
                </c:pt>
                <c:pt idx="14">
                  <c:v>15.000000</c:v>
                </c:pt>
                <c:pt idx="15">
                  <c:v>16.000000</c:v>
                </c:pt>
                <c:pt idx="16">
                  <c:v>17.000000</c:v>
                </c:pt>
                <c:pt idx="17">
                  <c:v>18.000000</c:v>
                </c:pt>
                <c:pt idx="18">
                  <c:v>19.000000</c:v>
                </c:pt>
                <c:pt idx="19">
                  <c:v>20.000000</c:v>
                </c:pt>
                <c:pt idx="20">
                  <c:v>21.000000</c:v>
                </c:pt>
                <c:pt idx="21">
                  <c:v>1.000000</c:v>
                </c:pt>
                <c:pt idx="22">
                  <c:v>2.000000</c:v>
                </c:pt>
                <c:pt idx="23">
                  <c:v>3.000000</c:v>
                </c:pt>
                <c:pt idx="24">
                  <c:v>4.000000</c:v>
                </c:pt>
                <c:pt idx="25">
                  <c:v>5.000000</c:v>
                </c:pt>
                <c:pt idx="26">
                  <c:v>6.000000</c:v>
                </c:pt>
                <c:pt idx="27">
                  <c:v>7.000000</c:v>
                </c:pt>
                <c:pt idx="28">
                  <c:v>8.000000</c:v>
                </c:pt>
                <c:pt idx="29">
                  <c:v>9.000000</c:v>
                </c:pt>
                <c:pt idx="30">
                  <c:v>10.000000</c:v>
                </c:pt>
                <c:pt idx="31">
                  <c:v>11.000000</c:v>
                </c:pt>
                <c:pt idx="32">
                  <c:v>12.000000</c:v>
                </c:pt>
                <c:pt idx="33">
                  <c:v>13.000000</c:v>
                </c:pt>
                <c:pt idx="34">
                  <c:v>14.000000</c:v>
                </c:pt>
                <c:pt idx="35">
                  <c:v>15.000000</c:v>
                </c:pt>
                <c:pt idx="36">
                  <c:v>16.000000</c:v>
                </c:pt>
                <c:pt idx="37">
                  <c:v>17.000000</c:v>
                </c:pt>
                <c:pt idx="38">
                  <c:v>18.000000</c:v>
                </c:pt>
                <c:pt idx="39">
                  <c:v>19.000000</c:v>
                </c:pt>
                <c:pt idx="40">
                  <c:v>20.000000</c:v>
                </c:pt>
                <c:pt idx="41">
                  <c:v>21.000000</c:v>
                </c:pt>
              </c:numCache>
            </c:numRef>
          </c:xVal>
          <c:yVal>
            <c:numRef>
              <c:f>Sheet1!$C$2:$C$43</c:f>
              <c:numCache>
                <c:ptCount val="42"/>
                <c:pt idx="0">
                  <c:v>7.000000</c:v>
                </c:pt>
                <c:pt idx="1">
                  <c:v>7.000000</c:v>
                </c:pt>
                <c:pt idx="2">
                  <c:v>7.000000</c:v>
                </c:pt>
                <c:pt idx="3">
                  <c:v>7.000000</c:v>
                </c:pt>
                <c:pt idx="4">
                  <c:v>7.000000</c:v>
                </c:pt>
                <c:pt idx="5">
                  <c:v>7.000000</c:v>
                </c:pt>
                <c:pt idx="6">
                  <c:v>7.000000</c:v>
                </c:pt>
                <c:pt idx="7">
                  <c:v>7.000000</c:v>
                </c:pt>
                <c:pt idx="8">
                  <c:v>7.000000</c:v>
                </c:pt>
                <c:pt idx="9">
                  <c:v>7.000000</c:v>
                </c:pt>
                <c:pt idx="10">
                  <c:v>7.000000</c:v>
                </c:pt>
                <c:pt idx="11">
                  <c:v>7.000000</c:v>
                </c:pt>
                <c:pt idx="12">
                  <c:v>7.000000</c:v>
                </c:pt>
                <c:pt idx="13">
                  <c:v>7.000000</c:v>
                </c:pt>
                <c:pt idx="14">
                  <c:v>7.000000</c:v>
                </c:pt>
                <c:pt idx="15">
                  <c:v>7.000000</c:v>
                </c:pt>
                <c:pt idx="16">
                  <c:v>7.000000</c:v>
                </c:pt>
                <c:pt idx="17">
                  <c:v>7.000000</c:v>
                </c:pt>
                <c:pt idx="18">
                  <c:v>7.000000</c:v>
                </c:pt>
                <c:pt idx="19">
                  <c:v>7.000000</c:v>
                </c:pt>
                <c:pt idx="20">
                  <c:v>7.000000</c:v>
                </c:pt>
                <c:pt idx="21">
                  <c:v>6.000000</c:v>
                </c:pt>
                <c:pt idx="22">
                  <c:v>6.000000</c:v>
                </c:pt>
                <c:pt idx="23">
                  <c:v>6.000000</c:v>
                </c:pt>
                <c:pt idx="24">
                  <c:v>6.000000</c:v>
                </c:pt>
                <c:pt idx="25">
                  <c:v>6.000000</c:v>
                </c:pt>
                <c:pt idx="26">
                  <c:v>6.000000</c:v>
                </c:pt>
                <c:pt idx="27">
                  <c:v>6.000000</c:v>
                </c:pt>
                <c:pt idx="28">
                  <c:v>6.000000</c:v>
                </c:pt>
                <c:pt idx="29">
                  <c:v>6.000000</c:v>
                </c:pt>
                <c:pt idx="30">
                  <c:v>6.000000</c:v>
                </c:pt>
                <c:pt idx="31">
                  <c:v>6.000000</c:v>
                </c:pt>
                <c:pt idx="32">
                  <c:v>6.000000</c:v>
                </c:pt>
                <c:pt idx="33">
                  <c:v>6.000000</c:v>
                </c:pt>
                <c:pt idx="34">
                  <c:v>6.000000</c:v>
                </c:pt>
                <c:pt idx="35">
                  <c:v>6.000000</c:v>
                </c:pt>
                <c:pt idx="36">
                  <c:v>6.000000</c:v>
                </c:pt>
                <c:pt idx="37">
                  <c:v>6.000000</c:v>
                </c:pt>
                <c:pt idx="38">
                  <c:v>6.000000</c:v>
                </c:pt>
                <c:pt idx="39">
                  <c:v>6.000000</c:v>
                </c:pt>
                <c:pt idx="40">
                  <c:v>6.000000</c:v>
                </c:pt>
                <c:pt idx="41">
                  <c:v>6.000000</c:v>
                </c:pt>
              </c:numCache>
            </c:numRef>
          </c:yVal>
          <c:smooth val="0"/>
        </c:ser>
        <c:axId val="2094734552"/>
        <c:axId val="2094734553"/>
      </c:scatterChart>
      <c:valAx>
        <c:axId val="2094734552"/>
        <c:scaling>
          <c:orientation val="minMax"/>
          <c:max val="22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crossBetween val="between"/>
        <c:majorUnit val="5.5"/>
        <c:minorUnit val="2.75"/>
      </c:valAx>
      <c:valAx>
        <c:axId val="2094734553"/>
        <c:scaling>
          <c:orientation val="minMax"/>
          <c:max val="8"/>
          <c:min val="0"/>
        </c:scaling>
        <c:delete val="0"/>
        <c:axPos val="l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2"/>
        <c:minorUnit val="1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174998"/>
          <c:y val="0.0321497"/>
          <c:w val="0.9775"/>
          <c:h val="0.94485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benchmark bugs</c:v>
                </c:pt>
              </c:strCache>
            </c:strRef>
          </c:tx>
          <c:spPr>
            <a:solidFill>
              <a:srgbClr val="F4F1E9"/>
            </a:solidFill>
            <a:ln w="12700" cap="flat">
              <a:noFill/>
              <a:miter lim="400000"/>
            </a:ln>
            <a:effectLst/>
          </c:spPr>
          <c:marker>
            <c:symbol val="circle"/>
            <c:size val="18"/>
            <c:spPr>
              <a:solidFill>
                <a:srgbClr val="F4F1E9"/>
              </a:solidFill>
              <a:ln w="12700" cap="flat">
                <a:noFill/>
                <a:miter lim="400000"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Sheet1!$B$2:$B$106</c:f>
              <c:numCache>
                <c:ptCount val="42"/>
                <c:pt idx="0">
                  <c:v>1.000000</c:v>
                </c:pt>
                <c:pt idx="1">
                  <c:v>2.000000</c:v>
                </c:pt>
                <c:pt idx="2">
                  <c:v>3.000000</c:v>
                </c:pt>
                <c:pt idx="3">
                  <c:v>4.000000</c:v>
                </c:pt>
                <c:pt idx="4">
                  <c:v>5.000000</c:v>
                </c:pt>
                <c:pt idx="5">
                  <c:v>6.000000</c:v>
                </c:pt>
                <c:pt idx="6">
                  <c:v>7.000000</c:v>
                </c:pt>
                <c:pt idx="7">
                  <c:v>8.000000</c:v>
                </c:pt>
                <c:pt idx="8">
                  <c:v>9.000000</c:v>
                </c:pt>
                <c:pt idx="9">
                  <c:v>10.000000</c:v>
                </c:pt>
                <c:pt idx="10">
                  <c:v>11.000000</c:v>
                </c:pt>
                <c:pt idx="11">
                  <c:v>12.000000</c:v>
                </c:pt>
                <c:pt idx="12">
                  <c:v>13.000000</c:v>
                </c:pt>
                <c:pt idx="13">
                  <c:v>14.000000</c:v>
                </c:pt>
                <c:pt idx="14">
                  <c:v>15.000000</c:v>
                </c:pt>
                <c:pt idx="15">
                  <c:v>16.000000</c:v>
                </c:pt>
                <c:pt idx="16">
                  <c:v>17.000000</c:v>
                </c:pt>
                <c:pt idx="17">
                  <c:v>18.000000</c:v>
                </c:pt>
                <c:pt idx="18">
                  <c:v>19.000000</c:v>
                </c:pt>
                <c:pt idx="19">
                  <c:v>20.000000</c:v>
                </c:pt>
                <c:pt idx="20">
                  <c:v>21.000000</c:v>
                </c:pt>
                <c:pt idx="21">
                  <c:v>1.000000</c:v>
                </c:pt>
                <c:pt idx="22">
                  <c:v>2.000000</c:v>
                </c:pt>
                <c:pt idx="23">
                  <c:v>3.000000</c:v>
                </c:pt>
                <c:pt idx="24">
                  <c:v>4.000000</c:v>
                </c:pt>
                <c:pt idx="25">
                  <c:v>5.000000</c:v>
                </c:pt>
                <c:pt idx="26">
                  <c:v>6.000000</c:v>
                </c:pt>
                <c:pt idx="27">
                  <c:v>7.000000</c:v>
                </c:pt>
                <c:pt idx="28">
                  <c:v>8.000000</c:v>
                </c:pt>
                <c:pt idx="29">
                  <c:v>9.000000</c:v>
                </c:pt>
                <c:pt idx="30">
                  <c:v>10.000000</c:v>
                </c:pt>
                <c:pt idx="31">
                  <c:v>11.000000</c:v>
                </c:pt>
                <c:pt idx="32">
                  <c:v>12.000000</c:v>
                </c:pt>
                <c:pt idx="33">
                  <c:v>13.000000</c:v>
                </c:pt>
                <c:pt idx="34">
                  <c:v>14.000000</c:v>
                </c:pt>
                <c:pt idx="35">
                  <c:v>15.000000</c:v>
                </c:pt>
                <c:pt idx="36">
                  <c:v>16.000000</c:v>
                </c:pt>
                <c:pt idx="37">
                  <c:v>17.000000</c:v>
                </c:pt>
                <c:pt idx="38">
                  <c:v>18.000000</c:v>
                </c:pt>
                <c:pt idx="39">
                  <c:v>19.000000</c:v>
                </c:pt>
                <c:pt idx="40">
                  <c:v>20.000000</c:v>
                </c:pt>
                <c:pt idx="41">
                  <c:v>21.000000</c:v>
                </c:pt>
              </c:numCache>
            </c:numRef>
          </c:xVal>
          <c:yVal>
            <c:numRef>
              <c:f>Sheet1!$C$2:$C$106</c:f>
              <c:numCache>
                <c:ptCount val="42"/>
                <c:pt idx="0">
                  <c:v>7.000000</c:v>
                </c:pt>
                <c:pt idx="1">
                  <c:v>7.000000</c:v>
                </c:pt>
                <c:pt idx="2">
                  <c:v>7.000000</c:v>
                </c:pt>
                <c:pt idx="3">
                  <c:v>7.000000</c:v>
                </c:pt>
                <c:pt idx="4">
                  <c:v>7.000000</c:v>
                </c:pt>
                <c:pt idx="5">
                  <c:v>7.000000</c:v>
                </c:pt>
                <c:pt idx="6">
                  <c:v>7.000000</c:v>
                </c:pt>
                <c:pt idx="7">
                  <c:v>7.000000</c:v>
                </c:pt>
                <c:pt idx="8">
                  <c:v>7.000000</c:v>
                </c:pt>
                <c:pt idx="9">
                  <c:v>7.000000</c:v>
                </c:pt>
                <c:pt idx="10">
                  <c:v>7.000000</c:v>
                </c:pt>
                <c:pt idx="11">
                  <c:v>7.000000</c:v>
                </c:pt>
                <c:pt idx="12">
                  <c:v>7.000000</c:v>
                </c:pt>
                <c:pt idx="13">
                  <c:v>7.000000</c:v>
                </c:pt>
                <c:pt idx="14">
                  <c:v>7.000000</c:v>
                </c:pt>
                <c:pt idx="15">
                  <c:v>7.000000</c:v>
                </c:pt>
                <c:pt idx="16">
                  <c:v>7.000000</c:v>
                </c:pt>
                <c:pt idx="17">
                  <c:v>7.000000</c:v>
                </c:pt>
                <c:pt idx="18">
                  <c:v>7.000000</c:v>
                </c:pt>
                <c:pt idx="19">
                  <c:v>7.000000</c:v>
                </c:pt>
                <c:pt idx="20">
                  <c:v>7.000000</c:v>
                </c:pt>
                <c:pt idx="21">
                  <c:v>6.000000</c:v>
                </c:pt>
                <c:pt idx="22">
                  <c:v>6.000000</c:v>
                </c:pt>
                <c:pt idx="23">
                  <c:v>6.000000</c:v>
                </c:pt>
                <c:pt idx="24">
                  <c:v>6.000000</c:v>
                </c:pt>
                <c:pt idx="25">
                  <c:v>6.000000</c:v>
                </c:pt>
                <c:pt idx="26">
                  <c:v>6.000000</c:v>
                </c:pt>
                <c:pt idx="27">
                  <c:v>6.000000</c:v>
                </c:pt>
                <c:pt idx="28">
                  <c:v>6.000000</c:v>
                </c:pt>
                <c:pt idx="29">
                  <c:v>6.000000</c:v>
                </c:pt>
                <c:pt idx="30">
                  <c:v>6.000000</c:v>
                </c:pt>
                <c:pt idx="31">
                  <c:v>6.000000</c:v>
                </c:pt>
                <c:pt idx="32">
                  <c:v>6.000000</c:v>
                </c:pt>
                <c:pt idx="33">
                  <c:v>6.000000</c:v>
                </c:pt>
                <c:pt idx="34">
                  <c:v>6.000000</c:v>
                </c:pt>
                <c:pt idx="35">
                  <c:v>6.000000</c:v>
                </c:pt>
                <c:pt idx="36">
                  <c:v>6.000000</c:v>
                </c:pt>
                <c:pt idx="37">
                  <c:v>6.000000</c:v>
                </c:pt>
                <c:pt idx="38">
                  <c:v>6.000000</c:v>
                </c:pt>
                <c:pt idx="39">
                  <c:v>6.000000</c:v>
                </c:pt>
                <c:pt idx="40">
                  <c:v>6.000000</c:v>
                </c:pt>
                <c:pt idx="41">
                  <c:v>6.000000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Additional verified defects</c:v>
                </c:pt>
              </c:strCache>
            </c:strRef>
          </c:tx>
          <c:spPr>
            <a:solidFill>
              <a:srgbClr val="F17A43"/>
            </a:solidFill>
            <a:ln w="12700" cap="flat">
              <a:noFill/>
              <a:miter lim="400000"/>
            </a:ln>
            <a:effectLst/>
          </c:spPr>
          <c:marker>
            <c:symbol val="circle"/>
            <c:size val="18"/>
            <c:spPr>
              <a:solidFill>
                <a:srgbClr val="F17A43"/>
              </a:solidFill>
              <a:ln w="12700" cap="flat">
                <a:noFill/>
                <a:miter lim="400000"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Sheet1!$D$2:$D$106</c:f>
              <c:numCache>
                <c:ptCount val="105"/>
                <c:pt idx="0">
                  <c:v>1.000000</c:v>
                </c:pt>
                <c:pt idx="1">
                  <c:v>2.000000</c:v>
                </c:pt>
                <c:pt idx="2">
                  <c:v>3.000000</c:v>
                </c:pt>
                <c:pt idx="3">
                  <c:v>4.000000</c:v>
                </c:pt>
                <c:pt idx="4">
                  <c:v>5.000000</c:v>
                </c:pt>
                <c:pt idx="5">
                  <c:v>6.000000</c:v>
                </c:pt>
                <c:pt idx="6">
                  <c:v>7.000000</c:v>
                </c:pt>
                <c:pt idx="7">
                  <c:v>8.000000</c:v>
                </c:pt>
                <c:pt idx="8">
                  <c:v>9.000000</c:v>
                </c:pt>
                <c:pt idx="9">
                  <c:v>10.000000</c:v>
                </c:pt>
                <c:pt idx="10">
                  <c:v>11.000000</c:v>
                </c:pt>
                <c:pt idx="11">
                  <c:v>12.000000</c:v>
                </c:pt>
                <c:pt idx="12">
                  <c:v>13.000000</c:v>
                </c:pt>
                <c:pt idx="13">
                  <c:v>14.000000</c:v>
                </c:pt>
                <c:pt idx="14">
                  <c:v>15.000000</c:v>
                </c:pt>
                <c:pt idx="15">
                  <c:v>16.000000</c:v>
                </c:pt>
                <c:pt idx="16">
                  <c:v>17.000000</c:v>
                </c:pt>
                <c:pt idx="17">
                  <c:v>18.000000</c:v>
                </c:pt>
                <c:pt idx="18">
                  <c:v>19.000000</c:v>
                </c:pt>
                <c:pt idx="19">
                  <c:v>20.000000</c:v>
                </c:pt>
                <c:pt idx="20">
                  <c:v>21.000000</c:v>
                </c:pt>
                <c:pt idx="21">
                  <c:v>1.000000</c:v>
                </c:pt>
                <c:pt idx="22">
                  <c:v>2.000000</c:v>
                </c:pt>
                <c:pt idx="23">
                  <c:v>3.000000</c:v>
                </c:pt>
                <c:pt idx="24">
                  <c:v>4.000000</c:v>
                </c:pt>
                <c:pt idx="25">
                  <c:v>5.000000</c:v>
                </c:pt>
                <c:pt idx="26">
                  <c:v>6.000000</c:v>
                </c:pt>
                <c:pt idx="27">
                  <c:v>7.000000</c:v>
                </c:pt>
                <c:pt idx="28">
                  <c:v>8.000000</c:v>
                </c:pt>
                <c:pt idx="29">
                  <c:v>9.000000</c:v>
                </c:pt>
                <c:pt idx="30">
                  <c:v>10.000000</c:v>
                </c:pt>
                <c:pt idx="31">
                  <c:v>11.000000</c:v>
                </c:pt>
                <c:pt idx="32">
                  <c:v>12.000000</c:v>
                </c:pt>
                <c:pt idx="33">
                  <c:v>13.000000</c:v>
                </c:pt>
                <c:pt idx="34">
                  <c:v>14.000000</c:v>
                </c:pt>
                <c:pt idx="35">
                  <c:v>15.000000</c:v>
                </c:pt>
                <c:pt idx="36">
                  <c:v>16.000000</c:v>
                </c:pt>
                <c:pt idx="37">
                  <c:v>17.000000</c:v>
                </c:pt>
                <c:pt idx="38">
                  <c:v>18.000000</c:v>
                </c:pt>
                <c:pt idx="39">
                  <c:v>19.000000</c:v>
                </c:pt>
                <c:pt idx="40">
                  <c:v>20.000000</c:v>
                </c:pt>
                <c:pt idx="41">
                  <c:v>21.000000</c:v>
                </c:pt>
                <c:pt idx="42">
                  <c:v>1.000000</c:v>
                </c:pt>
                <c:pt idx="43">
                  <c:v>2.000000</c:v>
                </c:pt>
                <c:pt idx="44">
                  <c:v>3.000000</c:v>
                </c:pt>
                <c:pt idx="45">
                  <c:v>4.000000</c:v>
                </c:pt>
                <c:pt idx="46">
                  <c:v>5.000000</c:v>
                </c:pt>
                <c:pt idx="47">
                  <c:v>6.000000</c:v>
                </c:pt>
                <c:pt idx="48">
                  <c:v>7.000000</c:v>
                </c:pt>
                <c:pt idx="49">
                  <c:v>8.000000</c:v>
                </c:pt>
                <c:pt idx="50">
                  <c:v>9.000000</c:v>
                </c:pt>
                <c:pt idx="51">
                  <c:v>10.000000</c:v>
                </c:pt>
                <c:pt idx="52">
                  <c:v>11.000000</c:v>
                </c:pt>
                <c:pt idx="53">
                  <c:v>12.000000</c:v>
                </c:pt>
                <c:pt idx="54">
                  <c:v>13.000000</c:v>
                </c:pt>
                <c:pt idx="55">
                  <c:v>14.000000</c:v>
                </c:pt>
                <c:pt idx="56">
                  <c:v>15.000000</c:v>
                </c:pt>
                <c:pt idx="57">
                  <c:v>16.000000</c:v>
                </c:pt>
                <c:pt idx="58">
                  <c:v>17.000000</c:v>
                </c:pt>
                <c:pt idx="59">
                  <c:v>18.000000</c:v>
                </c:pt>
                <c:pt idx="60">
                  <c:v>19.000000</c:v>
                </c:pt>
                <c:pt idx="61">
                  <c:v>20.000000</c:v>
                </c:pt>
                <c:pt idx="62">
                  <c:v>21.000000</c:v>
                </c:pt>
                <c:pt idx="63">
                  <c:v>1.000000</c:v>
                </c:pt>
                <c:pt idx="64">
                  <c:v>2.000000</c:v>
                </c:pt>
                <c:pt idx="65">
                  <c:v>3.000000</c:v>
                </c:pt>
                <c:pt idx="66">
                  <c:v>4.000000</c:v>
                </c:pt>
                <c:pt idx="67">
                  <c:v>5.000000</c:v>
                </c:pt>
                <c:pt idx="68">
                  <c:v>6.000000</c:v>
                </c:pt>
                <c:pt idx="69">
                  <c:v>7.000000</c:v>
                </c:pt>
                <c:pt idx="70">
                  <c:v>8.000000</c:v>
                </c:pt>
                <c:pt idx="71">
                  <c:v>9.000000</c:v>
                </c:pt>
                <c:pt idx="72">
                  <c:v>10.000000</c:v>
                </c:pt>
                <c:pt idx="73">
                  <c:v>11.000000</c:v>
                </c:pt>
                <c:pt idx="74">
                  <c:v>12.000000</c:v>
                </c:pt>
                <c:pt idx="75">
                  <c:v>13.000000</c:v>
                </c:pt>
                <c:pt idx="76">
                  <c:v>14.000000</c:v>
                </c:pt>
                <c:pt idx="77">
                  <c:v>15.000000</c:v>
                </c:pt>
                <c:pt idx="78">
                  <c:v>16.000000</c:v>
                </c:pt>
                <c:pt idx="79">
                  <c:v>17.000000</c:v>
                </c:pt>
                <c:pt idx="80">
                  <c:v>18.000000</c:v>
                </c:pt>
                <c:pt idx="81">
                  <c:v>19.000000</c:v>
                </c:pt>
                <c:pt idx="82">
                  <c:v>20.000000</c:v>
                </c:pt>
                <c:pt idx="83">
                  <c:v>21.000000</c:v>
                </c:pt>
                <c:pt idx="84">
                  <c:v>1.000000</c:v>
                </c:pt>
                <c:pt idx="85">
                  <c:v>2.000000</c:v>
                </c:pt>
                <c:pt idx="86">
                  <c:v>3.000000</c:v>
                </c:pt>
                <c:pt idx="87">
                  <c:v>4.000000</c:v>
                </c:pt>
                <c:pt idx="88">
                  <c:v>5.000000</c:v>
                </c:pt>
                <c:pt idx="89">
                  <c:v>6.000000</c:v>
                </c:pt>
                <c:pt idx="90">
                  <c:v>7.000000</c:v>
                </c:pt>
                <c:pt idx="91">
                  <c:v>8.000000</c:v>
                </c:pt>
                <c:pt idx="92">
                  <c:v>9.000000</c:v>
                </c:pt>
                <c:pt idx="93">
                  <c:v>10.000000</c:v>
                </c:pt>
                <c:pt idx="94">
                  <c:v>11.000000</c:v>
                </c:pt>
                <c:pt idx="95">
                  <c:v>12.000000</c:v>
                </c:pt>
                <c:pt idx="96">
                  <c:v>13.000000</c:v>
                </c:pt>
                <c:pt idx="97">
                  <c:v>14.000000</c:v>
                </c:pt>
                <c:pt idx="98">
                  <c:v>15.000000</c:v>
                </c:pt>
                <c:pt idx="99">
                  <c:v>16.000000</c:v>
                </c:pt>
                <c:pt idx="100">
                  <c:v>17.000000</c:v>
                </c:pt>
                <c:pt idx="101">
                  <c:v>18.000000</c:v>
                </c:pt>
                <c:pt idx="102">
                  <c:v>19.000000</c:v>
                </c:pt>
                <c:pt idx="103">
                  <c:v>20.000000</c:v>
                </c:pt>
                <c:pt idx="104">
                  <c:v>21.000000</c:v>
                </c:pt>
              </c:numCache>
            </c:numRef>
          </c:xVal>
          <c:yVal>
            <c:numRef>
              <c:f>Sheet1!$E$2:$E$106</c:f>
              <c:numCache>
                <c:ptCount val="105"/>
                <c:pt idx="0">
                  <c:v>5.000000</c:v>
                </c:pt>
                <c:pt idx="1">
                  <c:v>5.000000</c:v>
                </c:pt>
                <c:pt idx="2">
                  <c:v>5.000000</c:v>
                </c:pt>
                <c:pt idx="3">
                  <c:v>5.000000</c:v>
                </c:pt>
                <c:pt idx="4">
                  <c:v>5.000000</c:v>
                </c:pt>
                <c:pt idx="5">
                  <c:v>5.000000</c:v>
                </c:pt>
                <c:pt idx="6">
                  <c:v>5.000000</c:v>
                </c:pt>
                <c:pt idx="7">
                  <c:v>5.000000</c:v>
                </c:pt>
                <c:pt idx="8">
                  <c:v>5.000000</c:v>
                </c:pt>
                <c:pt idx="9">
                  <c:v>5.000000</c:v>
                </c:pt>
                <c:pt idx="10">
                  <c:v>5.000000</c:v>
                </c:pt>
                <c:pt idx="11">
                  <c:v>5.000000</c:v>
                </c:pt>
                <c:pt idx="12">
                  <c:v>5.000000</c:v>
                </c:pt>
                <c:pt idx="13">
                  <c:v>5.000000</c:v>
                </c:pt>
                <c:pt idx="14">
                  <c:v>5.000000</c:v>
                </c:pt>
                <c:pt idx="15">
                  <c:v>5.000000</c:v>
                </c:pt>
                <c:pt idx="16">
                  <c:v>5.000000</c:v>
                </c:pt>
                <c:pt idx="17">
                  <c:v>5.000000</c:v>
                </c:pt>
                <c:pt idx="18">
                  <c:v>5.000000</c:v>
                </c:pt>
                <c:pt idx="19">
                  <c:v>5.000000</c:v>
                </c:pt>
                <c:pt idx="20">
                  <c:v>5.000000</c:v>
                </c:pt>
                <c:pt idx="21">
                  <c:v>4.000000</c:v>
                </c:pt>
                <c:pt idx="22">
                  <c:v>4.000000</c:v>
                </c:pt>
                <c:pt idx="23">
                  <c:v>4.000000</c:v>
                </c:pt>
                <c:pt idx="24">
                  <c:v>4.000000</c:v>
                </c:pt>
                <c:pt idx="25">
                  <c:v>4.000000</c:v>
                </c:pt>
                <c:pt idx="26">
                  <c:v>4.000000</c:v>
                </c:pt>
                <c:pt idx="27">
                  <c:v>4.000000</c:v>
                </c:pt>
                <c:pt idx="28">
                  <c:v>4.000000</c:v>
                </c:pt>
                <c:pt idx="29">
                  <c:v>4.000000</c:v>
                </c:pt>
                <c:pt idx="30">
                  <c:v>4.000000</c:v>
                </c:pt>
                <c:pt idx="31">
                  <c:v>4.000000</c:v>
                </c:pt>
                <c:pt idx="32">
                  <c:v>4.000000</c:v>
                </c:pt>
                <c:pt idx="33">
                  <c:v>4.000000</c:v>
                </c:pt>
                <c:pt idx="34">
                  <c:v>4.000000</c:v>
                </c:pt>
                <c:pt idx="35">
                  <c:v>4.000000</c:v>
                </c:pt>
                <c:pt idx="36">
                  <c:v>4.000000</c:v>
                </c:pt>
                <c:pt idx="37">
                  <c:v>4.000000</c:v>
                </c:pt>
                <c:pt idx="38">
                  <c:v>4.000000</c:v>
                </c:pt>
                <c:pt idx="39">
                  <c:v>4.000000</c:v>
                </c:pt>
                <c:pt idx="40">
                  <c:v>4.000000</c:v>
                </c:pt>
                <c:pt idx="41">
                  <c:v>4.000000</c:v>
                </c:pt>
                <c:pt idx="42">
                  <c:v>3.000000</c:v>
                </c:pt>
                <c:pt idx="43">
                  <c:v>3.000000</c:v>
                </c:pt>
                <c:pt idx="44">
                  <c:v>3.000000</c:v>
                </c:pt>
                <c:pt idx="45">
                  <c:v>3.000000</c:v>
                </c:pt>
                <c:pt idx="46">
                  <c:v>3.000000</c:v>
                </c:pt>
                <c:pt idx="47">
                  <c:v>3.000000</c:v>
                </c:pt>
                <c:pt idx="48">
                  <c:v>3.000000</c:v>
                </c:pt>
                <c:pt idx="49">
                  <c:v>3.000000</c:v>
                </c:pt>
                <c:pt idx="50">
                  <c:v>3.000000</c:v>
                </c:pt>
                <c:pt idx="51">
                  <c:v>3.000000</c:v>
                </c:pt>
                <c:pt idx="52">
                  <c:v>3.000000</c:v>
                </c:pt>
                <c:pt idx="53">
                  <c:v>3.000000</c:v>
                </c:pt>
                <c:pt idx="54">
                  <c:v>3.000000</c:v>
                </c:pt>
                <c:pt idx="55">
                  <c:v>3.000000</c:v>
                </c:pt>
                <c:pt idx="56">
                  <c:v>3.000000</c:v>
                </c:pt>
                <c:pt idx="57">
                  <c:v>3.000000</c:v>
                </c:pt>
                <c:pt idx="58">
                  <c:v>3.000000</c:v>
                </c:pt>
                <c:pt idx="59">
                  <c:v>3.000000</c:v>
                </c:pt>
                <c:pt idx="60">
                  <c:v>3.000000</c:v>
                </c:pt>
                <c:pt idx="61">
                  <c:v>3.000000</c:v>
                </c:pt>
                <c:pt idx="62">
                  <c:v>3.000000</c:v>
                </c:pt>
                <c:pt idx="63">
                  <c:v>2.000000</c:v>
                </c:pt>
                <c:pt idx="64">
                  <c:v>2.000000</c:v>
                </c:pt>
                <c:pt idx="65">
                  <c:v>2.000000</c:v>
                </c:pt>
                <c:pt idx="66">
                  <c:v>2.000000</c:v>
                </c:pt>
                <c:pt idx="67">
                  <c:v>2.000000</c:v>
                </c:pt>
                <c:pt idx="68">
                  <c:v>2.000000</c:v>
                </c:pt>
                <c:pt idx="69">
                  <c:v>2.000000</c:v>
                </c:pt>
                <c:pt idx="70">
                  <c:v>2.000000</c:v>
                </c:pt>
                <c:pt idx="71">
                  <c:v>2.000000</c:v>
                </c:pt>
                <c:pt idx="72">
                  <c:v>2.000000</c:v>
                </c:pt>
                <c:pt idx="73">
                  <c:v>2.000000</c:v>
                </c:pt>
                <c:pt idx="74">
                  <c:v>2.000000</c:v>
                </c:pt>
                <c:pt idx="75">
                  <c:v>2.000000</c:v>
                </c:pt>
                <c:pt idx="76">
                  <c:v>2.000000</c:v>
                </c:pt>
                <c:pt idx="77">
                  <c:v>2.000000</c:v>
                </c:pt>
                <c:pt idx="78">
                  <c:v>2.000000</c:v>
                </c:pt>
                <c:pt idx="79">
                  <c:v>2.000000</c:v>
                </c:pt>
                <c:pt idx="80">
                  <c:v>2.000000</c:v>
                </c:pt>
                <c:pt idx="81">
                  <c:v>2.000000</c:v>
                </c:pt>
                <c:pt idx="82">
                  <c:v>2.000000</c:v>
                </c:pt>
                <c:pt idx="83">
                  <c:v>2.000000</c:v>
                </c:pt>
                <c:pt idx="84">
                  <c:v>1.000000</c:v>
                </c:pt>
                <c:pt idx="85">
                  <c:v>1.000000</c:v>
                </c:pt>
                <c:pt idx="86">
                  <c:v>1.000000</c:v>
                </c:pt>
                <c:pt idx="87">
                  <c:v>1.000000</c:v>
                </c:pt>
                <c:pt idx="88">
                  <c:v>1.000000</c:v>
                </c:pt>
                <c:pt idx="89">
                  <c:v>1.000000</c:v>
                </c:pt>
                <c:pt idx="90">
                  <c:v>1.000000</c:v>
                </c:pt>
                <c:pt idx="91">
                  <c:v>1.000000</c:v>
                </c:pt>
                <c:pt idx="92">
                  <c:v>1.000000</c:v>
                </c:pt>
                <c:pt idx="93">
                  <c:v>1.000000</c:v>
                </c:pt>
                <c:pt idx="94">
                  <c:v>1.000000</c:v>
                </c:pt>
                <c:pt idx="95">
                  <c:v>1.000000</c:v>
                </c:pt>
                <c:pt idx="96">
                  <c:v>1.000000</c:v>
                </c:pt>
                <c:pt idx="97">
                  <c:v>1.000000</c:v>
                </c:pt>
                <c:pt idx="98">
                  <c:v>1.000000</c:v>
                </c:pt>
                <c:pt idx="99">
                  <c:v>1.000000</c:v>
                </c:pt>
                <c:pt idx="100">
                  <c:v>1.000000</c:v>
                </c:pt>
                <c:pt idx="101">
                  <c:v>1.000000</c:v>
                </c:pt>
                <c:pt idx="102">
                  <c:v>1.000000</c:v>
                </c:pt>
                <c:pt idx="103">
                  <c:v>1.000000</c:v>
                </c:pt>
                <c:pt idx="104">
                  <c:v>1.000000</c:v>
                </c:pt>
              </c:numCache>
            </c:numRef>
          </c:yVal>
          <c:smooth val="0"/>
        </c:ser>
        <c:axId val="2094734552"/>
        <c:axId val="2094734553"/>
      </c:scatterChart>
      <c:valAx>
        <c:axId val="2094734552"/>
        <c:scaling>
          <c:orientation val="minMax"/>
          <c:max val="22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crossBetween val="between"/>
        <c:majorUnit val="5.5"/>
        <c:minorUnit val="2.75"/>
      </c:valAx>
      <c:valAx>
        <c:axId val="2094734553"/>
        <c:scaling>
          <c:orientation val="minMax"/>
          <c:max val="8"/>
          <c:min val="0"/>
        </c:scaling>
        <c:delete val="0"/>
        <c:axPos val="l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2"/>
        <c:minorUnit val="1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12327"/>
          <c:y val="0.0336738"/>
          <c:w val="0.973767"/>
          <c:h val="0.94283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Harness found more</c:v>
                </c:pt>
              </c:strCache>
            </c:strRef>
          </c:tx>
          <c:spPr>
            <a:solidFill>
              <a:srgbClr val="F17A43"/>
            </a:solidFill>
            <a:ln w="12700" cap="flat">
              <a:noFill/>
              <a:miter lim="400000"/>
            </a:ln>
            <a:effectLst/>
          </c:spPr>
          <c:marker>
            <c:symbol val="square"/>
            <c:size val="26"/>
            <c:spPr>
              <a:solidFill>
                <a:srgbClr val="F17A43"/>
              </a:solidFill>
              <a:ln w="12700" cap="flat">
                <a:noFill/>
                <a:miter lim="400000"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Sheet1!$B$2:$B$40</c:f>
              <c:numCache>
                <c:ptCount val="39"/>
                <c:pt idx="0">
                  <c:v>1.000000</c:v>
                </c:pt>
                <c:pt idx="1">
                  <c:v>2.000000</c:v>
                </c:pt>
                <c:pt idx="2">
                  <c:v>3.000000</c:v>
                </c:pt>
                <c:pt idx="3">
                  <c:v>4.000000</c:v>
                </c:pt>
                <c:pt idx="4">
                  <c:v>5.000000</c:v>
                </c:pt>
                <c:pt idx="5">
                  <c:v>6.000000</c:v>
                </c:pt>
                <c:pt idx="6">
                  <c:v>1.000000</c:v>
                </c:pt>
                <c:pt idx="7">
                  <c:v>2.000000</c:v>
                </c:pt>
                <c:pt idx="8">
                  <c:v>3.000000</c:v>
                </c:pt>
                <c:pt idx="9">
                  <c:v>4.000000</c:v>
                </c:pt>
                <c:pt idx="10">
                  <c:v>5.000000</c:v>
                </c:pt>
                <c:pt idx="11">
                  <c:v>6.000000</c:v>
                </c:pt>
                <c:pt idx="12">
                  <c:v>1.000000</c:v>
                </c:pt>
                <c:pt idx="13">
                  <c:v>2.000000</c:v>
                </c:pt>
                <c:pt idx="14">
                  <c:v>3.000000</c:v>
                </c:pt>
                <c:pt idx="15">
                  <c:v>4.000000</c:v>
                </c:pt>
                <c:pt idx="16">
                  <c:v>5.000000</c:v>
                </c:pt>
                <c:pt idx="17">
                  <c:v>6.000000</c:v>
                </c:pt>
                <c:pt idx="18">
                  <c:v>1.000000</c:v>
                </c:pt>
                <c:pt idx="19">
                  <c:v>2.000000</c:v>
                </c:pt>
                <c:pt idx="20">
                  <c:v>3.000000</c:v>
                </c:pt>
                <c:pt idx="21">
                  <c:v>4.000000</c:v>
                </c:pt>
                <c:pt idx="22">
                  <c:v>5.000000</c:v>
                </c:pt>
                <c:pt idx="23">
                  <c:v>6.000000</c:v>
                </c:pt>
                <c:pt idx="24">
                  <c:v>1.000000</c:v>
                </c:pt>
                <c:pt idx="25">
                  <c:v>2.000000</c:v>
                </c:pt>
                <c:pt idx="26">
                  <c:v>3.000000</c:v>
                </c:pt>
                <c:pt idx="27">
                  <c:v>4.000000</c:v>
                </c:pt>
                <c:pt idx="28">
                  <c:v>5.000000</c:v>
                </c:pt>
                <c:pt idx="29">
                  <c:v>6.000000</c:v>
                </c:pt>
                <c:pt idx="30">
                  <c:v>1.000000</c:v>
                </c:pt>
                <c:pt idx="31">
                  <c:v>2.000000</c:v>
                </c:pt>
                <c:pt idx="32">
                  <c:v>3.000000</c:v>
                </c:pt>
                <c:pt idx="33">
                  <c:v>4.000000</c:v>
                </c:pt>
                <c:pt idx="34">
                  <c:v>5.000000</c:v>
                </c:pt>
                <c:pt idx="35">
                  <c:v>6.000000</c:v>
                </c:pt>
                <c:pt idx="36">
                  <c:v>1.000000</c:v>
                </c:pt>
                <c:pt idx="37">
                  <c:v>2.000000</c:v>
                </c:pt>
                <c:pt idx="38">
                  <c:v>3.000000</c:v>
                </c:pt>
              </c:numCache>
            </c:numRef>
          </c:xVal>
          <c:yVal>
            <c:numRef>
              <c:f>Sheet1!$C$2:$C$40</c:f>
              <c:numCache>
                <c:ptCount val="39"/>
                <c:pt idx="0">
                  <c:v>7.000000</c:v>
                </c:pt>
                <c:pt idx="1">
                  <c:v>7.000000</c:v>
                </c:pt>
                <c:pt idx="2">
                  <c:v>7.000000</c:v>
                </c:pt>
                <c:pt idx="3">
                  <c:v>7.000000</c:v>
                </c:pt>
                <c:pt idx="4">
                  <c:v>7.000000</c:v>
                </c:pt>
                <c:pt idx="5">
                  <c:v>7.000000</c:v>
                </c:pt>
                <c:pt idx="6">
                  <c:v>6.000000</c:v>
                </c:pt>
                <c:pt idx="7">
                  <c:v>6.000000</c:v>
                </c:pt>
                <c:pt idx="8">
                  <c:v>6.000000</c:v>
                </c:pt>
                <c:pt idx="9">
                  <c:v>6.000000</c:v>
                </c:pt>
                <c:pt idx="10">
                  <c:v>6.000000</c:v>
                </c:pt>
                <c:pt idx="11">
                  <c:v>6.000000</c:v>
                </c:pt>
                <c:pt idx="12">
                  <c:v>5.000000</c:v>
                </c:pt>
                <c:pt idx="13">
                  <c:v>5.000000</c:v>
                </c:pt>
                <c:pt idx="14">
                  <c:v>5.000000</c:v>
                </c:pt>
                <c:pt idx="15">
                  <c:v>5.000000</c:v>
                </c:pt>
                <c:pt idx="16">
                  <c:v>5.000000</c:v>
                </c:pt>
                <c:pt idx="17">
                  <c:v>5.000000</c:v>
                </c:pt>
                <c:pt idx="18">
                  <c:v>4.000000</c:v>
                </c:pt>
                <c:pt idx="19">
                  <c:v>4.000000</c:v>
                </c:pt>
                <c:pt idx="20">
                  <c:v>4.000000</c:v>
                </c:pt>
                <c:pt idx="21">
                  <c:v>4.000000</c:v>
                </c:pt>
                <c:pt idx="22">
                  <c:v>4.000000</c:v>
                </c:pt>
                <c:pt idx="23">
                  <c:v>4.000000</c:v>
                </c:pt>
                <c:pt idx="24">
                  <c:v>3.000000</c:v>
                </c:pt>
                <c:pt idx="25">
                  <c:v>3.000000</c:v>
                </c:pt>
                <c:pt idx="26">
                  <c:v>3.000000</c:v>
                </c:pt>
                <c:pt idx="27">
                  <c:v>3.000000</c:v>
                </c:pt>
                <c:pt idx="28">
                  <c:v>3.000000</c:v>
                </c:pt>
                <c:pt idx="29">
                  <c:v>3.000000</c:v>
                </c:pt>
                <c:pt idx="30">
                  <c:v>2.000000</c:v>
                </c:pt>
                <c:pt idx="31">
                  <c:v>2.000000</c:v>
                </c:pt>
                <c:pt idx="32">
                  <c:v>2.000000</c:v>
                </c:pt>
                <c:pt idx="33">
                  <c:v>2.000000</c:v>
                </c:pt>
                <c:pt idx="34">
                  <c:v>2.000000</c:v>
                </c:pt>
                <c:pt idx="35">
                  <c:v>2.000000</c:v>
                </c:pt>
                <c:pt idx="36">
                  <c:v>1.000000</c:v>
                </c:pt>
                <c:pt idx="37">
                  <c:v>1.000000</c:v>
                </c:pt>
                <c:pt idx="38">
                  <c:v>1.000000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increase</c:v>
                </c:pt>
              </c:strCache>
            </c:strRef>
          </c:tx>
          <c:spPr>
            <a:solidFill>
              <a:srgbClr val="92938F"/>
            </a:solidFill>
            <a:ln w="12700" cap="flat">
              <a:noFill/>
              <a:miter lim="400000"/>
            </a:ln>
            <a:effectLst/>
          </c:spPr>
          <c:marker>
            <c:symbol val="square"/>
            <c:size val="26"/>
            <c:spPr>
              <a:solidFill>
                <a:srgbClr val="92938F"/>
              </a:solidFill>
              <a:ln w="12700" cap="flat">
                <a:noFill/>
                <a:miter lim="400000"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Sheet1!$D$2:$D$40</c:f>
              <c:numCache>
                <c:ptCount val="3"/>
                <c:pt idx="0">
                  <c:v>4.000000</c:v>
                </c:pt>
                <c:pt idx="1">
                  <c:v>5.000000</c:v>
                </c:pt>
                <c:pt idx="2">
                  <c:v>6.000000</c:v>
                </c:pt>
              </c:numCache>
            </c:numRef>
          </c:xVal>
          <c:yVal>
            <c:numRef>
              <c:f>Sheet1!$E$2:$E$40</c:f>
              <c:numCache>
                <c:ptCount val="3"/>
                <c:pt idx="0">
                  <c:v>1.000000</c:v>
                </c:pt>
                <c:pt idx="1">
                  <c:v>1.000000</c:v>
                </c:pt>
                <c:pt idx="2">
                  <c:v>1.000000</c:v>
                </c:pt>
              </c:numCache>
            </c:numRef>
          </c:yVal>
          <c:smooth val="0"/>
        </c:ser>
        <c:axId val="2094734552"/>
        <c:axId val="2094734553"/>
      </c:scatterChart>
      <c:valAx>
        <c:axId val="2094734552"/>
        <c:scaling>
          <c:orientation val="minMax"/>
          <c:max val="7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crossBetween val="between"/>
        <c:majorUnit val="1.75"/>
        <c:minorUnit val="0.875"/>
      </c:valAx>
      <c:valAx>
        <c:axId val="2094734553"/>
        <c:scaling>
          <c:orientation val="minMax"/>
          <c:max val="8"/>
          <c:min val="0"/>
        </c:scaling>
        <c:delete val="0"/>
        <c:axPos val="l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2"/>
        <c:minorUnit val="1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F17A43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Unresolved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17.000000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22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5.5"/>
        <c:minorUnit val="2.7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92938F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High better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4.000000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22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5.5"/>
        <c:minorUnit val="2.7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92938F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Medium better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1.000000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22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5.5"/>
        <c:minorUnit val="2.7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92938F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Fable 5.1 / Single prompt / High reasoning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51.000000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90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22.5"/>
        <c:minorUnit val="11.2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F17A43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GLM 5.3 Flash / Harness / Low reasoning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71.000000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90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22.5"/>
        <c:minorUnit val="11.2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92938F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##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Fable 5.1 / Single prompt / High reasoning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1.295940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1.5"/>
          <c:min val="0"/>
        </c:scaling>
        <c:delete val="0"/>
        <c:axPos val="b"/>
        <c:numFmt formatCode="0.####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0.375"/>
        <c:minorUnit val="0.187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F17A43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##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GLM 5.3 Flash / Harness / Low reasoning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0.023540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1.5"/>
          <c:min val="0"/>
        </c:scaling>
        <c:delete val="0"/>
        <c:axPos val="b"/>
        <c:numFmt formatCode="0.####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0.375"/>
        <c:minorUnit val="0.187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92938F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##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Fable 5.1 / Single prompt / High reasoning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147.696310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180"/>
          <c:min val="0"/>
        </c:scaling>
        <c:delete val="0"/>
        <c:axPos val="b"/>
        <c:numFmt formatCode="0.####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45"/>
        <c:minorUnit val="22.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F17A43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##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GLM 5.3 Flash / Harness / Low reasoning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78.541690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180"/>
          <c:min val="0"/>
        </c:scaling>
        <c:delete val="0"/>
        <c:axPos val="b"/>
        <c:numFmt formatCode="0.####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45"/>
        <c:minorUnit val="22.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174998"/>
          <c:y val="0.0321497"/>
          <c:w val="0.9775"/>
          <c:h val="0.94485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Found by highest recall configuration</c:v>
                </c:pt>
              </c:strCache>
            </c:strRef>
          </c:tx>
          <c:spPr>
            <a:solidFill>
              <a:srgbClr val="F4F1E9"/>
            </a:solidFill>
            <a:ln w="12700" cap="flat">
              <a:noFill/>
              <a:miter lim="400000"/>
            </a:ln>
            <a:effectLst/>
          </c:spPr>
          <c:marker>
            <c:symbol val="circle"/>
            <c:size val="18"/>
            <c:spPr>
              <a:solidFill>
                <a:srgbClr val="F4F1E9"/>
              </a:solidFill>
              <a:ln w="12700" cap="flat">
                <a:noFill/>
                <a:miter lim="400000"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Sheet1!$B$2:$B$89</c:f>
              <c:numCache>
                <c:ptCount val="88"/>
                <c:pt idx="0">
                  <c:v>1.000000</c:v>
                </c:pt>
                <c:pt idx="1">
                  <c:v>2.000000</c:v>
                </c:pt>
                <c:pt idx="2">
                  <c:v>3.000000</c:v>
                </c:pt>
                <c:pt idx="3">
                  <c:v>4.000000</c:v>
                </c:pt>
                <c:pt idx="4">
                  <c:v>5.000000</c:v>
                </c:pt>
                <c:pt idx="5">
                  <c:v>6.000000</c:v>
                </c:pt>
                <c:pt idx="6">
                  <c:v>7.000000</c:v>
                </c:pt>
                <c:pt idx="7">
                  <c:v>8.000000</c:v>
                </c:pt>
                <c:pt idx="8">
                  <c:v>9.000000</c:v>
                </c:pt>
                <c:pt idx="9">
                  <c:v>10.000000</c:v>
                </c:pt>
                <c:pt idx="10">
                  <c:v>11.000000</c:v>
                </c:pt>
                <c:pt idx="11">
                  <c:v>12.000000</c:v>
                </c:pt>
                <c:pt idx="12">
                  <c:v>13.000000</c:v>
                </c:pt>
                <c:pt idx="13">
                  <c:v>14.000000</c:v>
                </c:pt>
                <c:pt idx="14">
                  <c:v>15.000000</c:v>
                </c:pt>
                <c:pt idx="15">
                  <c:v>16.000000</c:v>
                </c:pt>
                <c:pt idx="16">
                  <c:v>17.000000</c:v>
                </c:pt>
                <c:pt idx="17">
                  <c:v>18.000000</c:v>
                </c:pt>
                <c:pt idx="18">
                  <c:v>19.000000</c:v>
                </c:pt>
                <c:pt idx="19">
                  <c:v>20.000000</c:v>
                </c:pt>
                <c:pt idx="20">
                  <c:v>21.000000</c:v>
                </c:pt>
                <c:pt idx="21">
                  <c:v>1.000000</c:v>
                </c:pt>
                <c:pt idx="22">
                  <c:v>2.000000</c:v>
                </c:pt>
                <c:pt idx="23">
                  <c:v>3.000000</c:v>
                </c:pt>
                <c:pt idx="24">
                  <c:v>4.000000</c:v>
                </c:pt>
                <c:pt idx="25">
                  <c:v>5.000000</c:v>
                </c:pt>
                <c:pt idx="26">
                  <c:v>6.000000</c:v>
                </c:pt>
                <c:pt idx="27">
                  <c:v>7.000000</c:v>
                </c:pt>
                <c:pt idx="28">
                  <c:v>8.000000</c:v>
                </c:pt>
                <c:pt idx="29">
                  <c:v>9.000000</c:v>
                </c:pt>
                <c:pt idx="30">
                  <c:v>10.000000</c:v>
                </c:pt>
                <c:pt idx="31">
                  <c:v>11.000000</c:v>
                </c:pt>
                <c:pt idx="32">
                  <c:v>12.000000</c:v>
                </c:pt>
                <c:pt idx="33">
                  <c:v>13.000000</c:v>
                </c:pt>
                <c:pt idx="34">
                  <c:v>14.000000</c:v>
                </c:pt>
                <c:pt idx="35">
                  <c:v>15.000000</c:v>
                </c:pt>
                <c:pt idx="36">
                  <c:v>16.000000</c:v>
                </c:pt>
                <c:pt idx="37">
                  <c:v>17.000000</c:v>
                </c:pt>
                <c:pt idx="38">
                  <c:v>18.000000</c:v>
                </c:pt>
                <c:pt idx="39">
                  <c:v>19.000000</c:v>
                </c:pt>
                <c:pt idx="40">
                  <c:v>20.000000</c:v>
                </c:pt>
                <c:pt idx="41">
                  <c:v>21.000000</c:v>
                </c:pt>
                <c:pt idx="42">
                  <c:v>1.000000</c:v>
                </c:pt>
                <c:pt idx="43">
                  <c:v>2.000000</c:v>
                </c:pt>
                <c:pt idx="44">
                  <c:v>3.000000</c:v>
                </c:pt>
                <c:pt idx="45">
                  <c:v>4.000000</c:v>
                </c:pt>
                <c:pt idx="46">
                  <c:v>5.000000</c:v>
                </c:pt>
                <c:pt idx="47">
                  <c:v>6.000000</c:v>
                </c:pt>
                <c:pt idx="48">
                  <c:v>7.000000</c:v>
                </c:pt>
                <c:pt idx="49">
                  <c:v>8.000000</c:v>
                </c:pt>
                <c:pt idx="50">
                  <c:v>9.000000</c:v>
                </c:pt>
                <c:pt idx="51">
                  <c:v>10.000000</c:v>
                </c:pt>
                <c:pt idx="52">
                  <c:v>11.000000</c:v>
                </c:pt>
                <c:pt idx="53">
                  <c:v>12.000000</c:v>
                </c:pt>
                <c:pt idx="54">
                  <c:v>13.000000</c:v>
                </c:pt>
                <c:pt idx="55">
                  <c:v>14.000000</c:v>
                </c:pt>
                <c:pt idx="56">
                  <c:v>15.000000</c:v>
                </c:pt>
                <c:pt idx="57">
                  <c:v>16.000000</c:v>
                </c:pt>
                <c:pt idx="58">
                  <c:v>17.000000</c:v>
                </c:pt>
                <c:pt idx="59">
                  <c:v>18.000000</c:v>
                </c:pt>
                <c:pt idx="60">
                  <c:v>19.000000</c:v>
                </c:pt>
                <c:pt idx="61">
                  <c:v>20.000000</c:v>
                </c:pt>
                <c:pt idx="62">
                  <c:v>21.000000</c:v>
                </c:pt>
                <c:pt idx="63">
                  <c:v>1.000000</c:v>
                </c:pt>
                <c:pt idx="64">
                  <c:v>2.000000</c:v>
                </c:pt>
                <c:pt idx="65">
                  <c:v>3.000000</c:v>
                </c:pt>
                <c:pt idx="66">
                  <c:v>4.000000</c:v>
                </c:pt>
                <c:pt idx="67">
                  <c:v>5.000000</c:v>
                </c:pt>
                <c:pt idx="68">
                  <c:v>6.000000</c:v>
                </c:pt>
                <c:pt idx="69">
                  <c:v>7.000000</c:v>
                </c:pt>
                <c:pt idx="70">
                  <c:v>8.000000</c:v>
                </c:pt>
                <c:pt idx="71">
                  <c:v>9.000000</c:v>
                </c:pt>
                <c:pt idx="72">
                  <c:v>10.000000</c:v>
                </c:pt>
                <c:pt idx="73">
                  <c:v>11.000000</c:v>
                </c:pt>
                <c:pt idx="74">
                  <c:v>12.000000</c:v>
                </c:pt>
                <c:pt idx="75">
                  <c:v>13.000000</c:v>
                </c:pt>
                <c:pt idx="76">
                  <c:v>14.000000</c:v>
                </c:pt>
                <c:pt idx="77">
                  <c:v>15.000000</c:v>
                </c:pt>
                <c:pt idx="78">
                  <c:v>16.000000</c:v>
                </c:pt>
                <c:pt idx="79">
                  <c:v>17.000000</c:v>
                </c:pt>
                <c:pt idx="80">
                  <c:v>18.000000</c:v>
                </c:pt>
                <c:pt idx="81">
                  <c:v>19.000000</c:v>
                </c:pt>
                <c:pt idx="82">
                  <c:v>20.000000</c:v>
                </c:pt>
                <c:pt idx="83">
                  <c:v>21.000000</c:v>
                </c:pt>
                <c:pt idx="84">
                  <c:v>1.000000</c:v>
                </c:pt>
                <c:pt idx="85">
                  <c:v>2.000000</c:v>
                </c:pt>
                <c:pt idx="86">
                  <c:v>3.000000</c:v>
                </c:pt>
                <c:pt idx="87">
                  <c:v>4.000000</c:v>
                </c:pt>
              </c:numCache>
            </c:numRef>
          </c:xVal>
          <c:yVal>
            <c:numRef>
              <c:f>Sheet1!$C$2:$C$89</c:f>
              <c:numCache>
                <c:ptCount val="88"/>
                <c:pt idx="0">
                  <c:v>7.000000</c:v>
                </c:pt>
                <c:pt idx="1">
                  <c:v>7.000000</c:v>
                </c:pt>
                <c:pt idx="2">
                  <c:v>7.000000</c:v>
                </c:pt>
                <c:pt idx="3">
                  <c:v>7.000000</c:v>
                </c:pt>
                <c:pt idx="4">
                  <c:v>7.000000</c:v>
                </c:pt>
                <c:pt idx="5">
                  <c:v>7.000000</c:v>
                </c:pt>
                <c:pt idx="6">
                  <c:v>7.000000</c:v>
                </c:pt>
                <c:pt idx="7">
                  <c:v>7.000000</c:v>
                </c:pt>
                <c:pt idx="8">
                  <c:v>7.000000</c:v>
                </c:pt>
                <c:pt idx="9">
                  <c:v>7.000000</c:v>
                </c:pt>
                <c:pt idx="10">
                  <c:v>7.000000</c:v>
                </c:pt>
                <c:pt idx="11">
                  <c:v>7.000000</c:v>
                </c:pt>
                <c:pt idx="12">
                  <c:v>7.000000</c:v>
                </c:pt>
                <c:pt idx="13">
                  <c:v>7.000000</c:v>
                </c:pt>
                <c:pt idx="14">
                  <c:v>7.000000</c:v>
                </c:pt>
                <c:pt idx="15">
                  <c:v>7.000000</c:v>
                </c:pt>
                <c:pt idx="16">
                  <c:v>7.000000</c:v>
                </c:pt>
                <c:pt idx="17">
                  <c:v>7.000000</c:v>
                </c:pt>
                <c:pt idx="18">
                  <c:v>7.000000</c:v>
                </c:pt>
                <c:pt idx="19">
                  <c:v>7.000000</c:v>
                </c:pt>
                <c:pt idx="20">
                  <c:v>7.000000</c:v>
                </c:pt>
                <c:pt idx="21">
                  <c:v>6.000000</c:v>
                </c:pt>
                <c:pt idx="22">
                  <c:v>6.000000</c:v>
                </c:pt>
                <c:pt idx="23">
                  <c:v>6.000000</c:v>
                </c:pt>
                <c:pt idx="24">
                  <c:v>6.000000</c:v>
                </c:pt>
                <c:pt idx="25">
                  <c:v>6.000000</c:v>
                </c:pt>
                <c:pt idx="26">
                  <c:v>6.000000</c:v>
                </c:pt>
                <c:pt idx="27">
                  <c:v>6.000000</c:v>
                </c:pt>
                <c:pt idx="28">
                  <c:v>6.000000</c:v>
                </c:pt>
                <c:pt idx="29">
                  <c:v>6.000000</c:v>
                </c:pt>
                <c:pt idx="30">
                  <c:v>6.000000</c:v>
                </c:pt>
                <c:pt idx="31">
                  <c:v>6.000000</c:v>
                </c:pt>
                <c:pt idx="32">
                  <c:v>6.000000</c:v>
                </c:pt>
                <c:pt idx="33">
                  <c:v>6.000000</c:v>
                </c:pt>
                <c:pt idx="34">
                  <c:v>6.000000</c:v>
                </c:pt>
                <c:pt idx="35">
                  <c:v>6.000000</c:v>
                </c:pt>
                <c:pt idx="36">
                  <c:v>6.000000</c:v>
                </c:pt>
                <c:pt idx="37">
                  <c:v>6.000000</c:v>
                </c:pt>
                <c:pt idx="38">
                  <c:v>6.000000</c:v>
                </c:pt>
                <c:pt idx="39">
                  <c:v>6.000000</c:v>
                </c:pt>
                <c:pt idx="40">
                  <c:v>6.000000</c:v>
                </c:pt>
                <c:pt idx="41">
                  <c:v>6.000000</c:v>
                </c:pt>
                <c:pt idx="42">
                  <c:v>5.000000</c:v>
                </c:pt>
                <c:pt idx="43">
                  <c:v>5.000000</c:v>
                </c:pt>
                <c:pt idx="44">
                  <c:v>5.000000</c:v>
                </c:pt>
                <c:pt idx="45">
                  <c:v>5.000000</c:v>
                </c:pt>
                <c:pt idx="46">
                  <c:v>5.000000</c:v>
                </c:pt>
                <c:pt idx="47">
                  <c:v>5.000000</c:v>
                </c:pt>
                <c:pt idx="48">
                  <c:v>5.000000</c:v>
                </c:pt>
                <c:pt idx="49">
                  <c:v>5.000000</c:v>
                </c:pt>
                <c:pt idx="50">
                  <c:v>5.000000</c:v>
                </c:pt>
                <c:pt idx="51">
                  <c:v>5.000000</c:v>
                </c:pt>
                <c:pt idx="52">
                  <c:v>5.000000</c:v>
                </c:pt>
                <c:pt idx="53">
                  <c:v>5.000000</c:v>
                </c:pt>
                <c:pt idx="54">
                  <c:v>5.000000</c:v>
                </c:pt>
                <c:pt idx="55">
                  <c:v>5.000000</c:v>
                </c:pt>
                <c:pt idx="56">
                  <c:v>5.000000</c:v>
                </c:pt>
                <c:pt idx="57">
                  <c:v>5.000000</c:v>
                </c:pt>
                <c:pt idx="58">
                  <c:v>5.000000</c:v>
                </c:pt>
                <c:pt idx="59">
                  <c:v>5.000000</c:v>
                </c:pt>
                <c:pt idx="60">
                  <c:v>5.000000</c:v>
                </c:pt>
                <c:pt idx="61">
                  <c:v>5.000000</c:v>
                </c:pt>
                <c:pt idx="62">
                  <c:v>5.000000</c:v>
                </c:pt>
                <c:pt idx="63">
                  <c:v>4.000000</c:v>
                </c:pt>
                <c:pt idx="64">
                  <c:v>4.000000</c:v>
                </c:pt>
                <c:pt idx="65">
                  <c:v>4.000000</c:v>
                </c:pt>
                <c:pt idx="66">
                  <c:v>4.000000</c:v>
                </c:pt>
                <c:pt idx="67">
                  <c:v>4.000000</c:v>
                </c:pt>
                <c:pt idx="68">
                  <c:v>4.000000</c:v>
                </c:pt>
                <c:pt idx="69">
                  <c:v>4.000000</c:v>
                </c:pt>
                <c:pt idx="70">
                  <c:v>4.000000</c:v>
                </c:pt>
                <c:pt idx="71">
                  <c:v>4.000000</c:v>
                </c:pt>
                <c:pt idx="72">
                  <c:v>4.000000</c:v>
                </c:pt>
                <c:pt idx="73">
                  <c:v>4.000000</c:v>
                </c:pt>
                <c:pt idx="74">
                  <c:v>4.000000</c:v>
                </c:pt>
                <c:pt idx="75">
                  <c:v>4.000000</c:v>
                </c:pt>
                <c:pt idx="76">
                  <c:v>4.000000</c:v>
                </c:pt>
                <c:pt idx="77">
                  <c:v>4.000000</c:v>
                </c:pt>
                <c:pt idx="78">
                  <c:v>4.000000</c:v>
                </c:pt>
                <c:pt idx="79">
                  <c:v>4.000000</c:v>
                </c:pt>
                <c:pt idx="80">
                  <c:v>4.000000</c:v>
                </c:pt>
                <c:pt idx="81">
                  <c:v>4.000000</c:v>
                </c:pt>
                <c:pt idx="82">
                  <c:v>4.000000</c:v>
                </c:pt>
                <c:pt idx="83">
                  <c:v>4.000000</c:v>
                </c:pt>
                <c:pt idx="84">
                  <c:v>3.000000</c:v>
                </c:pt>
                <c:pt idx="85">
                  <c:v>3.000000</c:v>
                </c:pt>
                <c:pt idx="86">
                  <c:v>3.000000</c:v>
                </c:pt>
                <c:pt idx="87">
                  <c:v>3.000000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Missed by highest recall configuration</c:v>
                </c:pt>
              </c:strCache>
            </c:strRef>
          </c:tx>
          <c:spPr>
            <a:solidFill>
              <a:srgbClr val="101110"/>
            </a:solidFill>
            <a:ln w="12700" cap="flat">
              <a:noFill/>
              <a:miter lim="400000"/>
            </a:ln>
            <a:effectLst/>
          </c:spPr>
          <c:marker>
            <c:symbol val="circle"/>
            <c:size val="16"/>
            <c:spPr>
              <a:solidFill>
                <a:srgbClr val="101110"/>
              </a:solidFill>
              <a:ln w="28575" cap="flat">
                <a:solidFill>
                  <a:srgbClr val="F17A43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Sheet1!$D$2:$D$89</c:f>
              <c:numCache>
                <c:ptCount val="59"/>
                <c:pt idx="0">
                  <c:v>5.000000</c:v>
                </c:pt>
                <c:pt idx="1">
                  <c:v>6.000000</c:v>
                </c:pt>
                <c:pt idx="2">
                  <c:v>7.000000</c:v>
                </c:pt>
                <c:pt idx="3">
                  <c:v>8.000000</c:v>
                </c:pt>
                <c:pt idx="4">
                  <c:v>9.000000</c:v>
                </c:pt>
                <c:pt idx="5">
                  <c:v>10.000000</c:v>
                </c:pt>
                <c:pt idx="6">
                  <c:v>11.000000</c:v>
                </c:pt>
                <c:pt idx="7">
                  <c:v>12.000000</c:v>
                </c:pt>
                <c:pt idx="8">
                  <c:v>13.000000</c:v>
                </c:pt>
                <c:pt idx="9">
                  <c:v>14.000000</c:v>
                </c:pt>
                <c:pt idx="10">
                  <c:v>15.000000</c:v>
                </c:pt>
                <c:pt idx="11">
                  <c:v>16.000000</c:v>
                </c:pt>
                <c:pt idx="12">
                  <c:v>17.000000</c:v>
                </c:pt>
                <c:pt idx="13">
                  <c:v>18.000000</c:v>
                </c:pt>
                <c:pt idx="14">
                  <c:v>19.000000</c:v>
                </c:pt>
                <c:pt idx="15">
                  <c:v>20.000000</c:v>
                </c:pt>
                <c:pt idx="16">
                  <c:v>21.000000</c:v>
                </c:pt>
                <c:pt idx="17">
                  <c:v>1.000000</c:v>
                </c:pt>
                <c:pt idx="18">
                  <c:v>2.000000</c:v>
                </c:pt>
                <c:pt idx="19">
                  <c:v>3.000000</c:v>
                </c:pt>
                <c:pt idx="20">
                  <c:v>4.000000</c:v>
                </c:pt>
                <c:pt idx="21">
                  <c:v>5.000000</c:v>
                </c:pt>
                <c:pt idx="22">
                  <c:v>6.000000</c:v>
                </c:pt>
                <c:pt idx="23">
                  <c:v>7.000000</c:v>
                </c:pt>
                <c:pt idx="24">
                  <c:v>8.000000</c:v>
                </c:pt>
                <c:pt idx="25">
                  <c:v>9.000000</c:v>
                </c:pt>
                <c:pt idx="26">
                  <c:v>10.000000</c:v>
                </c:pt>
                <c:pt idx="27">
                  <c:v>11.000000</c:v>
                </c:pt>
                <c:pt idx="28">
                  <c:v>12.000000</c:v>
                </c:pt>
                <c:pt idx="29">
                  <c:v>13.000000</c:v>
                </c:pt>
                <c:pt idx="30">
                  <c:v>14.000000</c:v>
                </c:pt>
                <c:pt idx="31">
                  <c:v>15.000000</c:v>
                </c:pt>
                <c:pt idx="32">
                  <c:v>16.000000</c:v>
                </c:pt>
                <c:pt idx="33">
                  <c:v>17.000000</c:v>
                </c:pt>
                <c:pt idx="34">
                  <c:v>18.000000</c:v>
                </c:pt>
                <c:pt idx="35">
                  <c:v>19.000000</c:v>
                </c:pt>
                <c:pt idx="36">
                  <c:v>20.000000</c:v>
                </c:pt>
                <c:pt idx="37">
                  <c:v>21.000000</c:v>
                </c:pt>
                <c:pt idx="38">
                  <c:v>1.000000</c:v>
                </c:pt>
                <c:pt idx="39">
                  <c:v>2.000000</c:v>
                </c:pt>
                <c:pt idx="40">
                  <c:v>3.000000</c:v>
                </c:pt>
                <c:pt idx="41">
                  <c:v>4.000000</c:v>
                </c:pt>
                <c:pt idx="42">
                  <c:v>5.000000</c:v>
                </c:pt>
                <c:pt idx="43">
                  <c:v>6.000000</c:v>
                </c:pt>
                <c:pt idx="44">
                  <c:v>7.000000</c:v>
                </c:pt>
                <c:pt idx="45">
                  <c:v>8.000000</c:v>
                </c:pt>
                <c:pt idx="46">
                  <c:v>9.000000</c:v>
                </c:pt>
                <c:pt idx="47">
                  <c:v>10.000000</c:v>
                </c:pt>
                <c:pt idx="48">
                  <c:v>11.000000</c:v>
                </c:pt>
                <c:pt idx="49">
                  <c:v>12.000000</c:v>
                </c:pt>
                <c:pt idx="50">
                  <c:v>13.000000</c:v>
                </c:pt>
                <c:pt idx="51">
                  <c:v>14.000000</c:v>
                </c:pt>
                <c:pt idx="52">
                  <c:v>15.000000</c:v>
                </c:pt>
                <c:pt idx="53">
                  <c:v>16.000000</c:v>
                </c:pt>
                <c:pt idx="54">
                  <c:v>17.000000</c:v>
                </c:pt>
                <c:pt idx="55">
                  <c:v>18.000000</c:v>
                </c:pt>
                <c:pt idx="56">
                  <c:v>19.000000</c:v>
                </c:pt>
                <c:pt idx="57">
                  <c:v>20.000000</c:v>
                </c:pt>
                <c:pt idx="58">
                  <c:v>21.000000</c:v>
                </c:pt>
              </c:numCache>
            </c:numRef>
          </c:xVal>
          <c:yVal>
            <c:numRef>
              <c:f>Sheet1!$E$2:$E$89</c:f>
              <c:numCache>
                <c:ptCount val="59"/>
                <c:pt idx="0">
                  <c:v>3.000000</c:v>
                </c:pt>
                <c:pt idx="1">
                  <c:v>3.000000</c:v>
                </c:pt>
                <c:pt idx="2">
                  <c:v>3.000000</c:v>
                </c:pt>
                <c:pt idx="3">
                  <c:v>3.000000</c:v>
                </c:pt>
                <c:pt idx="4">
                  <c:v>3.000000</c:v>
                </c:pt>
                <c:pt idx="5">
                  <c:v>3.000000</c:v>
                </c:pt>
                <c:pt idx="6">
                  <c:v>3.000000</c:v>
                </c:pt>
                <c:pt idx="7">
                  <c:v>3.000000</c:v>
                </c:pt>
                <c:pt idx="8">
                  <c:v>3.000000</c:v>
                </c:pt>
                <c:pt idx="9">
                  <c:v>3.000000</c:v>
                </c:pt>
                <c:pt idx="10">
                  <c:v>3.000000</c:v>
                </c:pt>
                <c:pt idx="11">
                  <c:v>3.000000</c:v>
                </c:pt>
                <c:pt idx="12">
                  <c:v>3.000000</c:v>
                </c:pt>
                <c:pt idx="13">
                  <c:v>3.000000</c:v>
                </c:pt>
                <c:pt idx="14">
                  <c:v>3.000000</c:v>
                </c:pt>
                <c:pt idx="15">
                  <c:v>3.000000</c:v>
                </c:pt>
                <c:pt idx="16">
                  <c:v>3.000000</c:v>
                </c:pt>
                <c:pt idx="17">
                  <c:v>2.000000</c:v>
                </c:pt>
                <c:pt idx="18">
                  <c:v>2.000000</c:v>
                </c:pt>
                <c:pt idx="19">
                  <c:v>2.000000</c:v>
                </c:pt>
                <c:pt idx="20">
                  <c:v>2.000000</c:v>
                </c:pt>
                <c:pt idx="21">
                  <c:v>2.000000</c:v>
                </c:pt>
                <c:pt idx="22">
                  <c:v>2.000000</c:v>
                </c:pt>
                <c:pt idx="23">
                  <c:v>2.000000</c:v>
                </c:pt>
                <c:pt idx="24">
                  <c:v>2.000000</c:v>
                </c:pt>
                <c:pt idx="25">
                  <c:v>2.000000</c:v>
                </c:pt>
                <c:pt idx="26">
                  <c:v>2.000000</c:v>
                </c:pt>
                <c:pt idx="27">
                  <c:v>2.000000</c:v>
                </c:pt>
                <c:pt idx="28">
                  <c:v>2.000000</c:v>
                </c:pt>
                <c:pt idx="29">
                  <c:v>2.000000</c:v>
                </c:pt>
                <c:pt idx="30">
                  <c:v>2.000000</c:v>
                </c:pt>
                <c:pt idx="31">
                  <c:v>2.000000</c:v>
                </c:pt>
                <c:pt idx="32">
                  <c:v>2.000000</c:v>
                </c:pt>
                <c:pt idx="33">
                  <c:v>2.000000</c:v>
                </c:pt>
                <c:pt idx="34">
                  <c:v>2.000000</c:v>
                </c:pt>
                <c:pt idx="35">
                  <c:v>2.000000</c:v>
                </c:pt>
                <c:pt idx="36">
                  <c:v>2.000000</c:v>
                </c:pt>
                <c:pt idx="37">
                  <c:v>2.000000</c:v>
                </c:pt>
                <c:pt idx="38">
                  <c:v>1.000000</c:v>
                </c:pt>
                <c:pt idx="39">
                  <c:v>1.000000</c:v>
                </c:pt>
                <c:pt idx="40">
                  <c:v>1.000000</c:v>
                </c:pt>
                <c:pt idx="41">
                  <c:v>1.000000</c:v>
                </c:pt>
                <c:pt idx="42">
                  <c:v>1.000000</c:v>
                </c:pt>
                <c:pt idx="43">
                  <c:v>1.000000</c:v>
                </c:pt>
                <c:pt idx="44">
                  <c:v>1.000000</c:v>
                </c:pt>
                <c:pt idx="45">
                  <c:v>1.000000</c:v>
                </c:pt>
                <c:pt idx="46">
                  <c:v>1.000000</c:v>
                </c:pt>
                <c:pt idx="47">
                  <c:v>1.000000</c:v>
                </c:pt>
                <c:pt idx="48">
                  <c:v>1.000000</c:v>
                </c:pt>
                <c:pt idx="49">
                  <c:v>1.000000</c:v>
                </c:pt>
                <c:pt idx="50">
                  <c:v>1.000000</c:v>
                </c:pt>
                <c:pt idx="51">
                  <c:v>1.000000</c:v>
                </c:pt>
                <c:pt idx="52">
                  <c:v>1.000000</c:v>
                </c:pt>
                <c:pt idx="53">
                  <c:v>1.000000</c:v>
                </c:pt>
                <c:pt idx="54">
                  <c:v>1.000000</c:v>
                </c:pt>
                <c:pt idx="55">
                  <c:v>1.000000</c:v>
                </c:pt>
                <c:pt idx="56">
                  <c:v>1.000000</c:v>
                </c:pt>
                <c:pt idx="57">
                  <c:v>1.000000</c:v>
                </c:pt>
                <c:pt idx="58">
                  <c:v>1.000000</c:v>
                </c:pt>
              </c:numCache>
            </c:numRef>
          </c:yVal>
          <c:smooth val="0"/>
        </c:ser>
        <c:axId val="2094734552"/>
        <c:axId val="2094734553"/>
      </c:scatterChart>
      <c:valAx>
        <c:axId val="2094734552"/>
        <c:scaling>
          <c:orientation val="minMax"/>
          <c:max val="22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crossBetween val="between"/>
        <c:majorUnit val="5.5"/>
        <c:minorUnit val="2.75"/>
      </c:valAx>
      <c:valAx>
        <c:axId val="2094734553"/>
        <c:scaling>
          <c:orientation val="minMax"/>
          <c:max val="8"/>
          <c:min val="0"/>
        </c:scaling>
        <c:delete val="0"/>
        <c:axPos val="l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2"/>
        <c:minorUnit val="1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" name="Shape 2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Their confidence, my doubt</a:t>
            </a:r>
          </a:p>
          <a:p>
            <a:pPr/>
          </a:p>
          <a:p>
            <a:pPr>
              <a:defRPr sz="2400"/>
            </a:pPr>
            <a:r>
              <a:t>Everyone seemed to know the perfect way to use AI. Better prompts. Better tools. Better systems. The more confident the advice got, the less confident I felt.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Proposed first-person wording based on Dave's account of his motivation, supplied in this conversation. Typographic opening; no staged portrait or claim about a photographed event.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" name="Shape 3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Ask what actually works</a:t>
            </a:r>
          </a:p>
          <a:p>
            <a:pPr/>
          </a:p>
          <a:p>
            <a:pPr>
              <a:defRPr sz="2400"/>
            </a:pPr>
            <a:r>
              <a:t>Buy the course. Comment ‘AI agents.’ Get the perfect system. I was comparing myself to everybody else’s claims. So I changed the question: what actually works?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Dave's account. The wording is a general illustration of the pattern he described, not an attributed quotation from an identified person.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" name="Shape 3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Introduce myself, then experiment</a:t>
            </a:r>
          </a:p>
          <a:p>
            <a:pPr/>
          </a:p>
          <a:p>
            <a:pPr>
              <a:defRPr sz="2400"/>
            </a:pPr>
            <a:r>
              <a:t>I’m Dave Sifry. I founded Technorati and co-founded Linuxcare. I got pissed with all those vibes. So I ran the tests. two thousand four hundred sixteen AI code reviews, across fifty pull requests and five mature open source codebases.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Biographical facts supplied by Dave in the organizer’s accepted speaker description: founder of Technorati and co-founder of Linuxcare.</a:t>
            </a:r>
          </a:p>
          <a:p>
            <a:pPr/>
            <a:r>
              <a:t>REPORT.md, campaign overview and §2.2. 2,416 healthy runs across the campaign, not 2,416 independent pull requests. The planned matrix has 72 configurations; 66 have complete coverage of the six primary PRs. Primary analysis selects one run per configuration per PR; it does not measure repeat-run variance. The original benchmark and executed hidden-defect validation supply distinct parts of the answer key.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5" name="Shape 4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Six PRs, 42 known bugs</a:t>
            </a:r>
          </a:p>
          <a:p>
            <a:pPr/>
          </a:p>
          <a:p>
            <a:pPr>
              <a:defRPr sz="2400"/>
            </a:pPr>
            <a:r>
              <a:t>For the detailed comparison: I whittled it down to the six most knotty pull requests, Forty-two bugs humans had found. That gave me part of the answer. But humans are pretty bad at finding bugs!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§§2.2 and 3.1. Six severity-selected PRs. Forty-two original benchmark goldens.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2" name="Shape 5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Verify the additional defects</a:t>
            </a:r>
          </a:p>
          <a:p>
            <a:pPr/>
          </a:p>
          <a:p>
            <a:pPr>
              <a:defRPr sz="2400"/>
            </a:pPr>
            <a:r>
              <a:t>After the audit: a hundred and five more verified defects. Each test failed before the fix and passed after. One hundred forty-seven bugs in the answer key.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corrected hidden-defect audit. 105 retained hidden defects plus 42 benchmark goldens. Audit removed unsupported claims and duplicates. The universe is campaign-discovered and not exhaustive. Attribution correction: REPORT.md lines 797–801 identifies 10967-D05 as audit-discovered and never reported by a run; the 105 total must not all be attributed to AI review findings.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5" name="Shape 8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Same model, focused jobs</a:t>
            </a:r>
          </a:p>
          <a:p>
            <a:pPr/>
          </a:p>
          <a:p>
            <a:pPr>
              <a:defRPr sz="2400"/>
            </a:pPr>
            <a:r>
              <a:t>A harness runs checks, assigns focused reviews in parallel, then combines findings. Same model, different jobs. I maintain metareview, one of the harnesses tested.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Illustrative architecture based on REPORT.md §2.2 and the pinned metareview_realistic.py adapter. Security, Architecture and Testing-quality are examples of actual reviewer lenses, not the full roster. The adapter runs its deterministic command and context scaffold before dispatching reviewers, then combines per-lens outputs. The report says eight lenses and synthesis; the pinned CLI prompt says nine and explicitly concatenates the findings. This diagram deliberately does not assert an exact lens count or a separate judgment step. No automatic fixing is depicted. The evaluator and its ground-truth adjudication are separate from the review harness.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3" name="Shape 9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39 of 42 matched comparisons</a:t>
            </a:r>
          </a:p>
          <a:p>
            <a:pPr/>
          </a:p>
          <a:p>
            <a:pPr>
              <a:defRPr sz="2400"/>
            </a:pPr>
            <a:r>
              <a:t>In matched comparisons, the harness found more verified bugs thirty-nine times out of forty-two. Same model. Same reasoning setting. The review process mattered.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matched true-gold recall comparison. Seven models, three efforts, two harness versus vanilla pairs. Observed direction, not 39 individually statistically significant effects.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9" name="Shape 9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More review uses more tokens</a:t>
            </a:r>
          </a:p>
          <a:p>
            <a:pPr/>
          </a:p>
          <a:p>
            <a:pPr>
              <a:defRPr sz="2400"/>
            </a:pPr>
            <a:r>
              <a:t>Those extra passes used about ten times the tokens, at the median. More review has a price. Did that work also need an expensive model at high reasoning?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median token multiple 10.1 across 42 matched comparisons. Token consumption is distinct from dollar cost.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4" name="Shape 10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Test the reasoning dial</a:t>
            </a:r>
          </a:p>
          <a:p>
            <a:pPr/>
          </a:p>
          <a:p>
            <a:pPr>
              <a:defRPr sz="2400"/>
            </a:pPr>
            <a:r>
              <a:t>The reasoning dial is tempting. Turn it up, get a better review. But that’s an assumption. I tested low, medium and high to see what the extra thinking bought.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effort sweep. Only low, medium, high were tested. Generated rotary-control illustration is a metaphor, not a real product control.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8" name="Shape 11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Inconclusive doesn’t mean equal</a:t>
            </a:r>
          </a:p>
          <a:p>
            <a:pPr/>
          </a:p>
          <a:p>
            <a:pPr>
              <a:defRPr sz="2400"/>
            </a:pPr>
            <a:r>
              <a:t>Of twenty-two high-versus-medium comparisons, seventeen were inconclusive on the original benchmark score. Four favored high; one favored medium. Inconclusive doesn’t mean equal.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effort comparison on the 42-golden benchmark F1, not the 147-bug composite score. 17 unresolved, 4 favor high, 1 favor medium. Unresolved does not establish equivalence.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3" name="Shape 13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One pair, 20 more bugs</a:t>
            </a:r>
          </a:p>
          <a:p>
            <a:pPr/>
          </a:p>
          <a:p>
            <a:pPr>
              <a:defRPr sz="2400"/>
            </a:pPr>
            <a:r>
              <a:t>One tested pair. Fable, high reasoning, one prompt: fifty-one bugs. Open-weight G L M Flash, low reasoning, a harness: seventy-one. Twenty more.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147-bug primary results: Fable 5.1 vanilla high 51/147, GLM-5.3-Flash metareview low 71/147. Selected configuration comparison, not an isolated model or effort causal effect. GLM ran through hosted inference.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8" name="Shape 14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Same pair, lower API cost</a:t>
            </a:r>
          </a:p>
          <a:p>
            <a:pPr/>
          </a:p>
          <a:p>
            <a:pPr>
              <a:defRPr sz="2400"/>
            </a:pPr>
            <a:r>
              <a:t>About a dollar thirty versus two point four cents per review. API costs, at study prices. Checking the findings still takes your time.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exact means: Fable vanilla high $1.29594/PR; GLM Flash metareview low $0.02354/PR. Ratio 55.05. Published September 16 list prices applied to metered usage, not actual gateway invoice. Excludes human time and failed-call overhead.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3" name="Shape 16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Same pair, less waiting</a:t>
            </a:r>
          </a:p>
          <a:p>
            <a:pPr/>
          </a:p>
          <a:p>
            <a:pPr>
              <a:defRPr sz="2400"/>
            </a:pPr>
            <a:r>
              <a:t>Same pair: about two and a half minutes versus eighty seconds, on average. Less waiting. More bugs found. A combination worth testing in your development loop.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exact means: 78.54169 seconds versus 147.69631 seconds per review. Selected configuration comparison includes different model, harness, effort, and provider paths. Not universal speed superiority.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0" name="Shape 17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59 bugs still missed</a:t>
            </a:r>
          </a:p>
          <a:p>
            <a:pPr/>
          </a:p>
          <a:p>
            <a:pPr>
              <a:defRPr sz="2400"/>
            </a:pPr>
            <a:r>
              <a:t>Even the highest-recall setup missed fifty-nine verified bugs. A clean review doesn’t prove the code is correct. Useful help. We still have to check.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Opus 5 + Compound Engineering medium: 88/147, the highest recall among complete single configurations. Mean API cost $6.12246. Misses 147-88=59. Union of configurations is a different procedure.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2" name="Shape 18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Reproduce, fix, test again</a:t>
            </a:r>
          </a:p>
          <a:p>
            <a:pPr/>
          </a:p>
          <a:p>
            <a:pPr>
              <a:defRPr sz="2400"/>
            </a:pPr>
            <a:r>
              <a:t>Here’s one verified defect: re-importing a deleted post crashed. An isolated test reproduced it. Add the missing guard, and the test passes. Evidence you can check.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Verified defect 4-D14. Original isolated reproduction log: RESULT: FAIL: NoMethodError: undefined method `raw' for nil:NilClass. Fixed log: RESULT: PASS. The minimal patch adds return if post.nil? after post = embed.post in the real app/models/topic_embed.rb. The isolated Ruby test stubs surrounding dependencies, so this is not a full Rails integration run or proof of a new PR regression. The audit explicitly retained it. Primary artifacts at https://github.com/dsifry/harnesseval/tree/8f634b68664751527a9ad0123d1a082dd70a0931/analysis/verified_gold/4/B08-topicembed-re-import-crashes-when-the-embedded-post-was-/defects/4-D14 . See also analysis/verified_gold/WITHDRAWALS_AND_DEDUP_2026-09-18.md, line 47. The benchmarked harness did not perform this evaluator verification automatically.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7" name="Shape 1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Review before you commit</a:t>
            </a:r>
          </a:p>
          <a:p>
            <a:pPr/>
          </a:p>
          <a:p>
            <a:pPr>
              <a:defRPr sz="2400"/>
            </a:pPr>
            <a:r>
              <a:t>Run the review before you commit, while the changes are fresh. Put it in your normal development workflow. The goal: find defects before your users do.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Practical recommendation informed by measured review cost and latency. The headline is an imperative goal, not a claimed production outcome. Local development describes where review enters the workflow; GLM inference was hosted. The study did not measure production defect reduction.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4" name="Shape 20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Review the fix too</a:t>
            </a:r>
          </a:p>
          <a:p>
            <a:pPr/>
          </a:p>
          <a:p>
            <a:pPr>
              <a:defRPr sz="2400"/>
            </a:pPr>
            <a:r>
              <a:t>Review the change. Reproduce the failure. Fix it. Run the test. Then review the fix, too. You’re responsible for checking the findings. The harness makes review repeatable.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Recommended developer workflow, not a measured autonomous fixing loop. The developer uses the harness for review, reproduces and verifies findings, fixes and tests the code, then re-reviews the changed code. FURTHER-RESEARCH.md treats iterative development-loop outcomes as further work.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9" name="Shape 20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Give reviewers focused jobs</a:t>
            </a:r>
          </a:p>
          <a:p>
            <a:pPr/>
          </a:p>
          <a:p>
            <a:pPr>
              <a:defRPr sz="2400"/>
            </a:pPr>
            <a:r>
              <a:t>Use a harness. Give the model focused review jobs and a repeatable process. In this study, that usually found more verified bugs than asking the same model once.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Recommendation supported by 39/42 positive matched recall differences. It does not establish that every harness implementation helps every task.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4" name="Shape 21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Start low, try open weights</a:t>
            </a:r>
          </a:p>
          <a:p>
            <a:pPr/>
          </a:p>
          <a:p>
            <a:pPr>
              <a:defRPr sz="2400"/>
            </a:pPr>
            <a:r>
              <a:t>Start with low reasoning. Try open-weight models. Compare what they catch, what they miss, the cost and the wait. Then choose based on evidence from your code.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Recommendation from the selected GLM Flash metareview low configuration. 71 bugs is total across six PRs; cost and latency are per-review means. Other configurations can have higher recall. Open weights does not imply local inference.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9" name="Shape 21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Follow the evidence</a:t>
            </a:r>
          </a:p>
          <a:p>
            <a:pPr/>
          </a:p>
          <a:p>
            <a:pPr>
              <a:defRPr sz="2400"/>
            </a:pPr>
            <a:r>
              <a:t>I started with doubt. Now I have evidence I can check. Demand that from AI advice, including mine. You don’t have to trust the vibes. Follow the evidence.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Dave's requested conclusion. Typographic close. End on the idea, with no contact, biography, or promotional slide.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143000" y="2305843"/>
            <a:ext cx="12954000" cy="2551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2286000" y="4857750"/>
            <a:ext cx="10668000" cy="3714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7366000" y="7716837"/>
            <a:ext cx="3556000" cy="4572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3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Relationship Id="rId5" Type="http://schemas.openxmlformats.org/officeDocument/2006/relationships/chart" Target="../charts/chart6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9.xml"/><Relationship Id="rId4" Type="http://schemas.openxmlformats.org/officeDocument/2006/relationships/chart" Target="../charts/chart10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13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y secret fear:"/>
          <p:cNvSpPr txBox="1"/>
          <p:nvPr/>
        </p:nvSpPr>
        <p:spPr>
          <a:xfrm>
            <a:off x="922019" y="1647825"/>
            <a:ext cx="13338812" cy="1876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8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My secret fear:</a:t>
            </a:r>
          </a:p>
        </p:txBody>
      </p:sp>
      <p:sp>
        <p:nvSpPr>
          <p:cNvPr id="21" name="Is it me?"/>
          <p:cNvSpPr txBox="1"/>
          <p:nvPr/>
        </p:nvSpPr>
        <p:spPr>
          <a:xfrm>
            <a:off x="902969" y="3714750"/>
            <a:ext cx="13434062" cy="2062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Is it me?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−"/>
          <p:cNvSpPr txBox="1"/>
          <p:nvPr/>
        </p:nvSpPr>
        <p:spPr>
          <a:xfrm>
            <a:off x="1074419" y="2609850"/>
            <a:ext cx="1146812" cy="1505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600">
                <a:solidFill>
                  <a:srgbClr val="DD89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−</a:t>
            </a:r>
          </a:p>
        </p:txBody>
      </p:sp>
      <p:sp>
        <p:nvSpPr>
          <p:cNvPr id="26" name="Is it me?"/>
          <p:cNvSpPr txBox="1"/>
          <p:nvPr/>
        </p:nvSpPr>
        <p:spPr>
          <a:xfrm>
            <a:off x="2550795" y="2609850"/>
            <a:ext cx="11243310" cy="1505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600">
                <a:solidFill>
                  <a:srgbClr val="A9ACA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Is it me?</a:t>
            </a:r>
          </a:p>
        </p:txBody>
      </p:sp>
      <p:sp>
        <p:nvSpPr>
          <p:cNvPr id="27" name="+"/>
          <p:cNvSpPr txBox="1"/>
          <p:nvPr/>
        </p:nvSpPr>
        <p:spPr>
          <a:xfrm>
            <a:off x="1074419" y="4705350"/>
            <a:ext cx="1146812" cy="1505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600">
                <a:solidFill>
                  <a:srgbClr val="9FC9B2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28" name="What works?"/>
          <p:cNvSpPr txBox="1"/>
          <p:nvPr/>
        </p:nvSpPr>
        <p:spPr>
          <a:xfrm>
            <a:off x="2550795" y="4705350"/>
            <a:ext cx="11719560" cy="1554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What works?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2,416"/>
          <p:cNvSpPr txBox="1"/>
          <p:nvPr/>
        </p:nvSpPr>
        <p:spPr>
          <a:xfrm>
            <a:off x="864869" y="1371600"/>
            <a:ext cx="13719812" cy="3501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5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2,416</a:t>
            </a:r>
          </a:p>
        </p:txBody>
      </p:sp>
      <p:sp>
        <p:nvSpPr>
          <p:cNvPr id="33" name="AI code reviews"/>
          <p:cNvSpPr txBox="1"/>
          <p:nvPr/>
        </p:nvSpPr>
        <p:spPr>
          <a:xfrm>
            <a:off x="1045844" y="4524375"/>
            <a:ext cx="13053062" cy="1145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70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AI code reviews</a:t>
            </a:r>
          </a:p>
        </p:txBody>
      </p:sp>
      <p:sp>
        <p:nvSpPr>
          <p:cNvPr id="34" name="50 pull requests"/>
          <p:cNvSpPr txBox="1"/>
          <p:nvPr/>
        </p:nvSpPr>
        <p:spPr>
          <a:xfrm>
            <a:off x="1083944" y="6610350"/>
            <a:ext cx="6861811" cy="798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8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50 pull requests</a:t>
            </a:r>
          </a:p>
        </p:txBody>
      </p:sp>
      <p:sp>
        <p:nvSpPr>
          <p:cNvPr id="35" name="5 codebases"/>
          <p:cNvSpPr txBox="1"/>
          <p:nvPr/>
        </p:nvSpPr>
        <p:spPr>
          <a:xfrm>
            <a:off x="9265919" y="6610350"/>
            <a:ext cx="5528311" cy="798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8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5 codebases</a:t>
            </a:r>
          </a:p>
        </p:txBody>
      </p:sp>
      <p:sp>
        <p:nvSpPr>
          <p:cNvPr id="36" name="Dave Sifry"/>
          <p:cNvSpPr txBox="1"/>
          <p:nvPr/>
        </p:nvSpPr>
        <p:spPr>
          <a:xfrm>
            <a:off x="1079500" y="508000"/>
            <a:ext cx="6861810" cy="798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8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Dave Sifry</a:t>
            </a:r>
          </a:p>
        </p:txBody>
      </p:sp>
      <p:pic>
        <p:nvPicPr>
          <p:cNvPr id="37" name="Dave_Sifry_Waving.png" descr="Dave_Sifry_Wavin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176000" y="635000"/>
            <a:ext cx="3048000" cy="2540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0" advTm="1500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42"/>
          <p:cNvSpPr txBox="1"/>
          <p:nvPr/>
        </p:nvSpPr>
        <p:spPr>
          <a:xfrm>
            <a:off x="807719" y="1666875"/>
            <a:ext cx="5004436" cy="3277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0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42</a:t>
            </a:r>
          </a:p>
        </p:txBody>
      </p:sp>
      <p:sp>
        <p:nvSpPr>
          <p:cNvPr id="42" name="known bugs"/>
          <p:cNvSpPr txBox="1"/>
          <p:nvPr/>
        </p:nvSpPr>
        <p:spPr>
          <a:xfrm>
            <a:off x="998219" y="5048250"/>
            <a:ext cx="4909186" cy="78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known bugs</a:t>
            </a:r>
          </a:p>
        </p:txBody>
      </p:sp>
      <p:graphicFrame>
        <p:nvGraphicFramePr>
          <p:cNvPr id="43" name="Chart"/>
          <p:cNvGraphicFramePr/>
          <p:nvPr/>
        </p:nvGraphicFramePr>
        <p:xfrm>
          <a:off x="6123622" y="2588005"/>
          <a:ext cx="7855903" cy="462972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xmlns:p14="http://schemas.microsoft.com/office/powerpoint/2010/main" spd="med" advClick="0" advTm="1500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+105"/>
          <p:cNvSpPr txBox="1"/>
          <p:nvPr/>
        </p:nvSpPr>
        <p:spPr>
          <a:xfrm>
            <a:off x="807719" y="1714500"/>
            <a:ext cx="5671186" cy="2658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9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+105</a:t>
            </a:r>
          </a:p>
        </p:txBody>
      </p:sp>
      <p:sp>
        <p:nvSpPr>
          <p:cNvPr id="48" name="verified defects"/>
          <p:cNvSpPr txBox="1"/>
          <p:nvPr/>
        </p:nvSpPr>
        <p:spPr>
          <a:xfrm>
            <a:off x="998219" y="4953000"/>
            <a:ext cx="5337811" cy="723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2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verified defects</a:t>
            </a:r>
          </a:p>
        </p:txBody>
      </p:sp>
      <p:sp>
        <p:nvSpPr>
          <p:cNvPr id="49" name="147 in total"/>
          <p:cNvSpPr txBox="1"/>
          <p:nvPr/>
        </p:nvSpPr>
        <p:spPr>
          <a:xfrm>
            <a:off x="1045844" y="6334125"/>
            <a:ext cx="5147311" cy="6739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9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147 in total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="6123622" y="2588005"/>
          <a:ext cx="7855903" cy="462972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xmlns:p14="http://schemas.microsoft.com/office/powerpoint/2010/main" spd="med" advClick="0" advTm="1500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Inside a review harness"/>
          <p:cNvSpPr txBox="1"/>
          <p:nvPr/>
        </p:nvSpPr>
        <p:spPr>
          <a:xfrm>
            <a:off x="960119" y="685800"/>
            <a:ext cx="13319762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Inside a review harness</a:t>
            </a:r>
          </a:p>
        </p:txBody>
      </p:sp>
      <p:sp>
        <p:nvSpPr>
          <p:cNvPr id="55" name="One prompt"/>
          <p:cNvSpPr txBox="1"/>
          <p:nvPr/>
        </p:nvSpPr>
        <p:spPr>
          <a:xfrm>
            <a:off x="998219" y="2095500"/>
            <a:ext cx="5623561" cy="550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92938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One prompt</a:t>
            </a:r>
          </a:p>
        </p:txBody>
      </p:sp>
      <p:sp>
        <p:nvSpPr>
          <p:cNvPr id="56" name="Change"/>
          <p:cNvSpPr txBox="1"/>
          <p:nvPr/>
        </p:nvSpPr>
        <p:spPr>
          <a:xfrm>
            <a:off x="998219" y="2943225"/>
            <a:ext cx="2099312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Change</a:t>
            </a:r>
          </a:p>
        </p:txBody>
      </p:sp>
      <p:sp>
        <p:nvSpPr>
          <p:cNvPr id="57" name="Review"/>
          <p:cNvSpPr txBox="1"/>
          <p:nvPr/>
        </p:nvSpPr>
        <p:spPr>
          <a:xfrm>
            <a:off x="6998969" y="2943225"/>
            <a:ext cx="2289811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Review</a:t>
            </a:r>
          </a:p>
        </p:txBody>
      </p:sp>
      <p:sp>
        <p:nvSpPr>
          <p:cNvPr id="58" name="Findings"/>
          <p:cNvSpPr txBox="1"/>
          <p:nvPr/>
        </p:nvSpPr>
        <p:spPr>
          <a:xfrm>
            <a:off x="12475844" y="2943225"/>
            <a:ext cx="2289811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Findings</a:t>
            </a:r>
          </a:p>
        </p:txBody>
      </p:sp>
      <p:sp>
        <p:nvSpPr>
          <p:cNvPr id="59" name="Line"/>
          <p:cNvSpPr/>
          <p:nvPr/>
        </p:nvSpPr>
        <p:spPr>
          <a:xfrm>
            <a:off x="3162300" y="3286125"/>
            <a:ext cx="3390900" cy="0"/>
          </a:xfrm>
          <a:prstGeom prst="line">
            <a:avLst/>
          </a:prstGeom>
          <a:ln w="38100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0" name="Triangle"/>
          <p:cNvSpPr/>
          <p:nvPr/>
        </p:nvSpPr>
        <p:spPr>
          <a:xfrm>
            <a:off x="6400800" y="3209925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1" name="Line"/>
          <p:cNvSpPr/>
          <p:nvPr/>
        </p:nvSpPr>
        <p:spPr>
          <a:xfrm>
            <a:off x="9124950" y="3286125"/>
            <a:ext cx="2857500" cy="0"/>
          </a:xfrm>
          <a:prstGeom prst="line">
            <a:avLst/>
          </a:prstGeom>
          <a:ln w="38100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2" name="Triangle"/>
          <p:cNvSpPr/>
          <p:nvPr/>
        </p:nvSpPr>
        <p:spPr>
          <a:xfrm>
            <a:off x="11830050" y="3209925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3" name="A harness"/>
          <p:cNvSpPr txBox="1"/>
          <p:nvPr/>
        </p:nvSpPr>
        <p:spPr>
          <a:xfrm>
            <a:off x="998219" y="4495800"/>
            <a:ext cx="4194811" cy="550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 harness</a:t>
            </a:r>
          </a:p>
        </p:txBody>
      </p:sp>
      <p:sp>
        <p:nvSpPr>
          <p:cNvPr id="64" name="Focused reviews"/>
          <p:cNvSpPr txBox="1"/>
          <p:nvPr/>
        </p:nvSpPr>
        <p:spPr>
          <a:xfrm>
            <a:off x="5617845" y="4495800"/>
            <a:ext cx="6004560" cy="550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Focused reviews</a:t>
            </a:r>
          </a:p>
        </p:txBody>
      </p:sp>
      <p:sp>
        <p:nvSpPr>
          <p:cNvPr id="65" name="Change"/>
          <p:cNvSpPr txBox="1"/>
          <p:nvPr/>
        </p:nvSpPr>
        <p:spPr>
          <a:xfrm>
            <a:off x="998219" y="6076950"/>
            <a:ext cx="2099312" cy="599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4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Change</a:t>
            </a:r>
          </a:p>
        </p:txBody>
      </p:sp>
      <p:sp>
        <p:nvSpPr>
          <p:cNvPr id="66" name="Checks"/>
          <p:cNvSpPr txBox="1"/>
          <p:nvPr/>
        </p:nvSpPr>
        <p:spPr>
          <a:xfrm>
            <a:off x="3379470" y="6076950"/>
            <a:ext cx="1908811" cy="599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4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Checks</a:t>
            </a:r>
          </a:p>
        </p:txBody>
      </p:sp>
      <p:sp>
        <p:nvSpPr>
          <p:cNvPr id="67" name="Combine"/>
          <p:cNvSpPr txBox="1"/>
          <p:nvPr/>
        </p:nvSpPr>
        <p:spPr>
          <a:xfrm>
            <a:off x="9761219" y="6076950"/>
            <a:ext cx="2289811" cy="599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4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Combine</a:t>
            </a:r>
          </a:p>
        </p:txBody>
      </p:sp>
      <p:sp>
        <p:nvSpPr>
          <p:cNvPr id="68" name="Findings"/>
          <p:cNvSpPr txBox="1"/>
          <p:nvPr/>
        </p:nvSpPr>
        <p:spPr>
          <a:xfrm>
            <a:off x="12475844" y="6076950"/>
            <a:ext cx="2289811" cy="599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4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Findings</a:t>
            </a:r>
          </a:p>
        </p:txBody>
      </p:sp>
      <p:sp>
        <p:nvSpPr>
          <p:cNvPr id="69" name="Line"/>
          <p:cNvSpPr/>
          <p:nvPr/>
        </p:nvSpPr>
        <p:spPr>
          <a:xfrm>
            <a:off x="2762250" y="6419850"/>
            <a:ext cx="342900" cy="0"/>
          </a:xfrm>
          <a:prstGeom prst="line">
            <a:avLst/>
          </a:prstGeom>
          <a:ln w="38100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0" name="Triangle"/>
          <p:cNvSpPr/>
          <p:nvPr/>
        </p:nvSpPr>
        <p:spPr>
          <a:xfrm>
            <a:off x="2952750" y="6343650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1" name="Line"/>
          <p:cNvSpPr/>
          <p:nvPr/>
        </p:nvSpPr>
        <p:spPr>
          <a:xfrm>
            <a:off x="5162550" y="6419850"/>
            <a:ext cx="266700" cy="0"/>
          </a:xfrm>
          <a:prstGeom prst="line">
            <a:avLst/>
          </a:prstGeom>
          <a:ln w="3810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2" name="Line"/>
          <p:cNvSpPr/>
          <p:nvPr/>
        </p:nvSpPr>
        <p:spPr>
          <a:xfrm>
            <a:off x="5429250" y="5638800"/>
            <a:ext cx="209550" cy="15621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ln w="3810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3" name="Line"/>
          <p:cNvSpPr/>
          <p:nvPr/>
        </p:nvSpPr>
        <p:spPr>
          <a:xfrm>
            <a:off x="5429250" y="6419850"/>
            <a:ext cx="209550" cy="0"/>
          </a:xfrm>
          <a:prstGeom prst="line">
            <a:avLst/>
          </a:prstGeom>
          <a:ln w="3810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4" name="Security"/>
          <p:cNvSpPr txBox="1"/>
          <p:nvPr/>
        </p:nvSpPr>
        <p:spPr>
          <a:xfrm>
            <a:off x="5855970" y="5324475"/>
            <a:ext cx="3147061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Security</a:t>
            </a:r>
          </a:p>
        </p:txBody>
      </p:sp>
      <p:sp>
        <p:nvSpPr>
          <p:cNvPr id="75" name="Architecture"/>
          <p:cNvSpPr txBox="1"/>
          <p:nvPr/>
        </p:nvSpPr>
        <p:spPr>
          <a:xfrm>
            <a:off x="5855970" y="6105525"/>
            <a:ext cx="3147061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Architecture</a:t>
            </a:r>
          </a:p>
        </p:txBody>
      </p:sp>
      <p:sp>
        <p:nvSpPr>
          <p:cNvPr id="76" name="Tests"/>
          <p:cNvSpPr txBox="1"/>
          <p:nvPr/>
        </p:nvSpPr>
        <p:spPr>
          <a:xfrm>
            <a:off x="5855970" y="6886575"/>
            <a:ext cx="3147061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Tests</a:t>
            </a:r>
          </a:p>
        </p:txBody>
      </p:sp>
      <p:sp>
        <p:nvSpPr>
          <p:cNvPr id="77" name="Line"/>
          <p:cNvSpPr/>
          <p:nvPr/>
        </p:nvSpPr>
        <p:spPr>
          <a:xfrm>
            <a:off x="8915400" y="5638800"/>
            <a:ext cx="323850" cy="15621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ln w="3810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8" name="Line"/>
          <p:cNvSpPr/>
          <p:nvPr/>
        </p:nvSpPr>
        <p:spPr>
          <a:xfrm>
            <a:off x="8915400" y="6419850"/>
            <a:ext cx="323850" cy="0"/>
          </a:xfrm>
          <a:prstGeom prst="line">
            <a:avLst/>
          </a:prstGeom>
          <a:ln w="3810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9" name="Line"/>
          <p:cNvSpPr/>
          <p:nvPr/>
        </p:nvSpPr>
        <p:spPr>
          <a:xfrm>
            <a:off x="9239250" y="6419850"/>
            <a:ext cx="285750" cy="0"/>
          </a:xfrm>
          <a:prstGeom prst="line">
            <a:avLst/>
          </a:prstGeom>
          <a:ln w="3810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0" name="Triangle"/>
          <p:cNvSpPr/>
          <p:nvPr/>
        </p:nvSpPr>
        <p:spPr>
          <a:xfrm>
            <a:off x="9372600" y="6343650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F17A43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1" name="Line"/>
          <p:cNvSpPr/>
          <p:nvPr/>
        </p:nvSpPr>
        <p:spPr>
          <a:xfrm>
            <a:off x="11830050" y="6419850"/>
            <a:ext cx="342900" cy="0"/>
          </a:xfrm>
          <a:prstGeom prst="line">
            <a:avLst/>
          </a:prstGeom>
          <a:ln w="38100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2" name="Triangle"/>
          <p:cNvSpPr/>
          <p:nvPr/>
        </p:nvSpPr>
        <p:spPr>
          <a:xfrm>
            <a:off x="12020550" y="6343650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3" name="…"/>
          <p:cNvSpPr txBox="1"/>
          <p:nvPr/>
        </p:nvSpPr>
        <p:spPr>
          <a:xfrm>
            <a:off x="7027544" y="7600950"/>
            <a:ext cx="1242061" cy="575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300">
                <a:solidFill>
                  <a:srgbClr val="92938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…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he harness found more"/>
          <p:cNvSpPr txBox="1"/>
          <p:nvPr/>
        </p:nvSpPr>
        <p:spPr>
          <a:xfrm>
            <a:off x="960119" y="685800"/>
            <a:ext cx="13319762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The harness found more</a:t>
            </a:r>
          </a:p>
        </p:txBody>
      </p:sp>
      <p:sp>
        <p:nvSpPr>
          <p:cNvPr id="88" name="39"/>
          <p:cNvSpPr txBox="1"/>
          <p:nvPr/>
        </p:nvSpPr>
        <p:spPr>
          <a:xfrm>
            <a:off x="826769" y="2266950"/>
            <a:ext cx="6147436" cy="3091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98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39</a:t>
            </a:r>
          </a:p>
        </p:txBody>
      </p:sp>
      <p:sp>
        <p:nvSpPr>
          <p:cNvPr id="89" name="of 42"/>
          <p:cNvSpPr txBox="1"/>
          <p:nvPr/>
        </p:nvSpPr>
        <p:spPr>
          <a:xfrm>
            <a:off x="1026794" y="5305425"/>
            <a:ext cx="5242561" cy="1231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7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of 42</a:t>
            </a:r>
          </a:p>
        </p:txBody>
      </p:sp>
      <p:sp>
        <p:nvSpPr>
          <p:cNvPr id="90" name="matched comparisons"/>
          <p:cNvSpPr txBox="1"/>
          <p:nvPr/>
        </p:nvSpPr>
        <p:spPr>
          <a:xfrm>
            <a:off x="1045844" y="7010400"/>
            <a:ext cx="7147561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matched comparisons</a:t>
            </a:r>
          </a:p>
        </p:txBody>
      </p:sp>
      <p:graphicFrame>
        <p:nvGraphicFramePr>
          <p:cNvPr id="91" name="Chart"/>
          <p:cNvGraphicFramePr/>
          <p:nvPr/>
        </p:nvGraphicFramePr>
        <p:xfrm>
          <a:off x="7742872" y="2578480"/>
          <a:ext cx="6474778" cy="4420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xmlns:p14="http://schemas.microsoft.com/office/powerpoint/2010/main" spd="med" advClick="0" advTm="1500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≈10×"/>
          <p:cNvSpPr txBox="1"/>
          <p:nvPr/>
        </p:nvSpPr>
        <p:spPr>
          <a:xfrm>
            <a:off x="826769" y="1190625"/>
            <a:ext cx="13719812" cy="3314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3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≈10×</a:t>
            </a:r>
          </a:p>
        </p:txBody>
      </p:sp>
      <p:sp>
        <p:nvSpPr>
          <p:cNvPr id="96" name="the tokens"/>
          <p:cNvSpPr txBox="1"/>
          <p:nvPr/>
        </p:nvSpPr>
        <p:spPr>
          <a:xfrm>
            <a:off x="1036319" y="5238750"/>
            <a:ext cx="13053062" cy="1293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the tokens</a:t>
            </a:r>
          </a:p>
        </p:txBody>
      </p:sp>
      <p:sp>
        <p:nvSpPr>
          <p:cNvPr id="97" name="Median matched comparison"/>
          <p:cNvSpPr txBox="1"/>
          <p:nvPr/>
        </p:nvSpPr>
        <p:spPr>
          <a:xfrm>
            <a:off x="1093469" y="7181850"/>
            <a:ext cx="11814811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Median matched comparison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image.png" descr="image.png"/>
          <p:cNvPicPr>
            <a:picLocks noChangeAspect="1"/>
          </p:cNvPicPr>
          <p:nvPr/>
        </p:nvPicPr>
        <p:blipFill>
          <a:blip r:embed="rId3">
            <a:extLst/>
          </a:blip>
          <a:srcRect l="0" t="26" r="0" b="26"/>
          <a:stretch>
            <a:fillRect/>
          </a:stretch>
        </p:blipFill>
        <p:spPr>
          <a:xfrm>
            <a:off x="0" y="0"/>
            <a:ext cx="15240000" cy="8572501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More…"/>
          <p:cNvSpPr txBox="1"/>
          <p:nvPr/>
        </p:nvSpPr>
        <p:spPr>
          <a:xfrm>
            <a:off x="960119" y="2571750"/>
            <a:ext cx="6718936" cy="2877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90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More</a:t>
            </a:r>
          </a:p>
          <a:p>
            <a:pPr>
              <a:defRPr b="1" sz="90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thinking?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Often, no clear difference"/>
          <p:cNvSpPr txBox="1"/>
          <p:nvPr/>
        </p:nvSpPr>
        <p:spPr>
          <a:xfrm>
            <a:off x="960119" y="685800"/>
            <a:ext cx="13319762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Often, no clear difference</a:t>
            </a:r>
          </a:p>
        </p:txBody>
      </p:sp>
      <p:sp>
        <p:nvSpPr>
          <p:cNvPr id="107" name="High vs. medium reasoning, original benchmark F1"/>
          <p:cNvSpPr txBox="1"/>
          <p:nvPr/>
        </p:nvSpPr>
        <p:spPr>
          <a:xfrm>
            <a:off x="1017269" y="1952625"/>
            <a:ext cx="13243562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High vs. medium reasoning, original benchmark F1</a:t>
            </a:r>
          </a:p>
        </p:txBody>
      </p:sp>
      <p:sp>
        <p:nvSpPr>
          <p:cNvPr id="108" name="Unresolved"/>
          <p:cNvSpPr txBox="1"/>
          <p:nvPr/>
        </p:nvSpPr>
        <p:spPr>
          <a:xfrm>
            <a:off x="1017269" y="3324225"/>
            <a:ext cx="4432936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Unresolved</a:t>
            </a:r>
          </a:p>
        </p:txBody>
      </p:sp>
      <p:graphicFrame>
        <p:nvGraphicFramePr>
          <p:cNvPr id="109" name="Chart"/>
          <p:cNvGraphicFramePr/>
          <p:nvPr/>
        </p:nvGraphicFramePr>
        <p:xfrm>
          <a:off x="5647372" y="3111880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0" name="17"/>
          <p:cNvSpPr txBox="1"/>
          <p:nvPr/>
        </p:nvSpPr>
        <p:spPr>
          <a:xfrm>
            <a:off x="12332969" y="3209925"/>
            <a:ext cx="2099311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111" name="High better"/>
          <p:cNvSpPr txBox="1"/>
          <p:nvPr/>
        </p:nvSpPr>
        <p:spPr>
          <a:xfrm>
            <a:off x="1017269" y="4819650"/>
            <a:ext cx="4432936" cy="624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High better</a:t>
            </a:r>
          </a:p>
        </p:txBody>
      </p:sp>
      <p:graphicFrame>
        <p:nvGraphicFramePr>
          <p:cNvPr id="112" name="Chart"/>
          <p:cNvGraphicFramePr/>
          <p:nvPr/>
        </p:nvGraphicFramePr>
        <p:xfrm>
          <a:off x="5647372" y="4607305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3" name="4"/>
          <p:cNvSpPr txBox="1"/>
          <p:nvPr/>
        </p:nvSpPr>
        <p:spPr>
          <a:xfrm>
            <a:off x="12332969" y="4705350"/>
            <a:ext cx="2099311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14" name="Medium better"/>
          <p:cNvSpPr txBox="1"/>
          <p:nvPr/>
        </p:nvSpPr>
        <p:spPr>
          <a:xfrm>
            <a:off x="1017269" y="6315075"/>
            <a:ext cx="4432936" cy="624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Medium better</a:t>
            </a:r>
          </a:p>
        </p:txBody>
      </p:sp>
      <p:graphicFrame>
        <p:nvGraphicFramePr>
          <p:cNvPr id="115" name="Chart"/>
          <p:cNvGraphicFramePr/>
          <p:nvPr/>
        </p:nvGraphicFramePr>
        <p:xfrm>
          <a:off x="5647372" y="6102730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6" name="1"/>
          <p:cNvSpPr txBox="1"/>
          <p:nvPr/>
        </p:nvSpPr>
        <p:spPr>
          <a:xfrm>
            <a:off x="12332969" y="6200775"/>
            <a:ext cx="2099311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20 more bugs"/>
          <p:cNvSpPr txBox="1"/>
          <p:nvPr/>
        </p:nvSpPr>
        <p:spPr>
          <a:xfrm>
            <a:off x="960119" y="685800"/>
            <a:ext cx="13319762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20 more bugs</a:t>
            </a:r>
          </a:p>
        </p:txBody>
      </p:sp>
      <p:sp>
        <p:nvSpPr>
          <p:cNvPr id="121" name="Verified bugs across the same six PRs, out of 147"/>
          <p:cNvSpPr txBox="1"/>
          <p:nvPr/>
        </p:nvSpPr>
        <p:spPr>
          <a:xfrm>
            <a:off x="1017269" y="1952625"/>
            <a:ext cx="13224512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Verified bugs across the same six PRs, out of 147</a:t>
            </a:r>
          </a:p>
        </p:txBody>
      </p:sp>
      <p:sp>
        <p:nvSpPr>
          <p:cNvPr id="122" name="Fable 5.1"/>
          <p:cNvSpPr txBox="1"/>
          <p:nvPr/>
        </p:nvSpPr>
        <p:spPr>
          <a:xfrm>
            <a:off x="1007744" y="3067050"/>
            <a:ext cx="4432936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Fable 5.1</a:t>
            </a:r>
          </a:p>
        </p:txBody>
      </p:sp>
      <p:sp>
        <p:nvSpPr>
          <p:cNvPr id="123" name="Single prompt"/>
          <p:cNvSpPr txBox="1"/>
          <p:nvPr/>
        </p:nvSpPr>
        <p:spPr>
          <a:xfrm>
            <a:off x="1045844" y="37147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Single prompt</a:t>
            </a:r>
          </a:p>
        </p:txBody>
      </p:sp>
      <p:sp>
        <p:nvSpPr>
          <p:cNvPr id="124" name="High reasoning"/>
          <p:cNvSpPr txBox="1"/>
          <p:nvPr/>
        </p:nvSpPr>
        <p:spPr>
          <a:xfrm>
            <a:off x="1045844" y="41719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High reasoning</a:t>
            </a:r>
          </a:p>
        </p:txBody>
      </p:sp>
      <p:graphicFrame>
        <p:nvGraphicFramePr>
          <p:cNvPr id="125" name="Chart"/>
          <p:cNvGraphicFramePr/>
          <p:nvPr/>
        </p:nvGraphicFramePr>
        <p:xfrm>
          <a:off x="5647372" y="3350005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6" name="51"/>
          <p:cNvSpPr txBox="1"/>
          <p:nvPr/>
        </p:nvSpPr>
        <p:spPr>
          <a:xfrm>
            <a:off x="11799569" y="3362325"/>
            <a:ext cx="2651761" cy="104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3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51</a:t>
            </a:r>
          </a:p>
        </p:txBody>
      </p:sp>
      <p:sp>
        <p:nvSpPr>
          <p:cNvPr id="127" name="GLM 5.3 Flash"/>
          <p:cNvSpPr txBox="1"/>
          <p:nvPr/>
        </p:nvSpPr>
        <p:spPr>
          <a:xfrm>
            <a:off x="1007744" y="5619750"/>
            <a:ext cx="4432936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GLM 5.3 Flash</a:t>
            </a:r>
          </a:p>
        </p:txBody>
      </p:sp>
      <p:sp>
        <p:nvSpPr>
          <p:cNvPr id="128" name="Harness"/>
          <p:cNvSpPr txBox="1"/>
          <p:nvPr/>
        </p:nvSpPr>
        <p:spPr>
          <a:xfrm>
            <a:off x="1045844" y="62674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Harness</a:t>
            </a:r>
          </a:p>
        </p:txBody>
      </p:sp>
      <p:sp>
        <p:nvSpPr>
          <p:cNvPr id="129" name="Low reasoning"/>
          <p:cNvSpPr txBox="1"/>
          <p:nvPr/>
        </p:nvSpPr>
        <p:spPr>
          <a:xfrm>
            <a:off x="1045844" y="67246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Low reasoning</a:t>
            </a:r>
          </a:p>
        </p:txBody>
      </p:sp>
      <p:graphicFrame>
        <p:nvGraphicFramePr>
          <p:cNvPr id="130" name="Chart"/>
          <p:cNvGraphicFramePr/>
          <p:nvPr/>
        </p:nvGraphicFramePr>
        <p:xfrm>
          <a:off x="5647372" y="5902705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1" name="71"/>
          <p:cNvSpPr txBox="1"/>
          <p:nvPr/>
        </p:nvSpPr>
        <p:spPr>
          <a:xfrm>
            <a:off x="11799569" y="5915025"/>
            <a:ext cx="2651761" cy="104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3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71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1/55 the API cost"/>
          <p:cNvSpPr txBox="1"/>
          <p:nvPr/>
        </p:nvSpPr>
        <p:spPr>
          <a:xfrm>
            <a:off x="960119" y="685800"/>
            <a:ext cx="13319762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1/55 the API cost</a:t>
            </a:r>
          </a:p>
        </p:txBody>
      </p:sp>
      <p:sp>
        <p:nvSpPr>
          <p:cNvPr id="136" name="Mean API cost per review, at study list prices"/>
          <p:cNvSpPr txBox="1"/>
          <p:nvPr/>
        </p:nvSpPr>
        <p:spPr>
          <a:xfrm>
            <a:off x="1017269" y="1952625"/>
            <a:ext cx="13224512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Mean API cost per review, at study list prices</a:t>
            </a:r>
          </a:p>
        </p:txBody>
      </p:sp>
      <p:sp>
        <p:nvSpPr>
          <p:cNvPr id="137" name="Fable 5.1"/>
          <p:cNvSpPr txBox="1"/>
          <p:nvPr/>
        </p:nvSpPr>
        <p:spPr>
          <a:xfrm>
            <a:off x="1007744" y="3067050"/>
            <a:ext cx="4432936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Fable 5.1</a:t>
            </a:r>
          </a:p>
        </p:txBody>
      </p:sp>
      <p:sp>
        <p:nvSpPr>
          <p:cNvPr id="138" name="Single prompt"/>
          <p:cNvSpPr txBox="1"/>
          <p:nvPr/>
        </p:nvSpPr>
        <p:spPr>
          <a:xfrm>
            <a:off x="1045844" y="37147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Single prompt</a:t>
            </a:r>
          </a:p>
        </p:txBody>
      </p:sp>
      <p:sp>
        <p:nvSpPr>
          <p:cNvPr id="139" name="High reasoning"/>
          <p:cNvSpPr txBox="1"/>
          <p:nvPr/>
        </p:nvSpPr>
        <p:spPr>
          <a:xfrm>
            <a:off x="1045844" y="41719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High reasoning</a:t>
            </a:r>
          </a:p>
        </p:txBody>
      </p:sp>
      <p:graphicFrame>
        <p:nvGraphicFramePr>
          <p:cNvPr id="140" name="Chart"/>
          <p:cNvGraphicFramePr/>
          <p:nvPr/>
        </p:nvGraphicFramePr>
        <p:xfrm>
          <a:off x="5647372" y="3350005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1" name="$1.30"/>
          <p:cNvSpPr txBox="1"/>
          <p:nvPr/>
        </p:nvSpPr>
        <p:spPr>
          <a:xfrm>
            <a:off x="11799569" y="3362325"/>
            <a:ext cx="2651761" cy="104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3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$1.30</a:t>
            </a:r>
          </a:p>
        </p:txBody>
      </p:sp>
      <p:sp>
        <p:nvSpPr>
          <p:cNvPr id="142" name="GLM 5.3 Flash"/>
          <p:cNvSpPr txBox="1"/>
          <p:nvPr/>
        </p:nvSpPr>
        <p:spPr>
          <a:xfrm>
            <a:off x="1007744" y="5619750"/>
            <a:ext cx="4432936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GLM 5.3 Flash</a:t>
            </a:r>
          </a:p>
        </p:txBody>
      </p:sp>
      <p:sp>
        <p:nvSpPr>
          <p:cNvPr id="143" name="Harness"/>
          <p:cNvSpPr txBox="1"/>
          <p:nvPr/>
        </p:nvSpPr>
        <p:spPr>
          <a:xfrm>
            <a:off x="1045844" y="62674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Harness</a:t>
            </a:r>
          </a:p>
        </p:txBody>
      </p:sp>
      <p:sp>
        <p:nvSpPr>
          <p:cNvPr id="144" name="Low reasoning"/>
          <p:cNvSpPr txBox="1"/>
          <p:nvPr/>
        </p:nvSpPr>
        <p:spPr>
          <a:xfrm>
            <a:off x="1045844" y="67246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Low reasoning</a:t>
            </a:r>
          </a:p>
        </p:txBody>
      </p:sp>
      <p:graphicFrame>
        <p:nvGraphicFramePr>
          <p:cNvPr id="145" name="Chart"/>
          <p:cNvGraphicFramePr/>
          <p:nvPr/>
        </p:nvGraphicFramePr>
        <p:xfrm>
          <a:off x="5647372" y="5902705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6" name="$0.024"/>
          <p:cNvSpPr txBox="1"/>
          <p:nvPr/>
        </p:nvSpPr>
        <p:spPr>
          <a:xfrm>
            <a:off x="11799569" y="5915025"/>
            <a:ext cx="2651761" cy="104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3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$0.024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Nearly twice as fast"/>
          <p:cNvSpPr txBox="1"/>
          <p:nvPr/>
        </p:nvSpPr>
        <p:spPr>
          <a:xfrm>
            <a:off x="960119" y="685800"/>
            <a:ext cx="13319762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Nearly twice as fast</a:t>
            </a:r>
          </a:p>
        </p:txBody>
      </p:sp>
      <p:sp>
        <p:nvSpPr>
          <p:cNvPr id="151" name="Mean elapsed time per review"/>
          <p:cNvSpPr txBox="1"/>
          <p:nvPr/>
        </p:nvSpPr>
        <p:spPr>
          <a:xfrm>
            <a:off x="1017269" y="1952625"/>
            <a:ext cx="13224512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Mean elapsed time per review</a:t>
            </a:r>
          </a:p>
        </p:txBody>
      </p:sp>
      <p:sp>
        <p:nvSpPr>
          <p:cNvPr id="152" name="Fable 5.1"/>
          <p:cNvSpPr txBox="1"/>
          <p:nvPr/>
        </p:nvSpPr>
        <p:spPr>
          <a:xfrm>
            <a:off x="1007744" y="3067050"/>
            <a:ext cx="4432936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Fable 5.1</a:t>
            </a:r>
          </a:p>
        </p:txBody>
      </p:sp>
      <p:sp>
        <p:nvSpPr>
          <p:cNvPr id="153" name="Single prompt"/>
          <p:cNvSpPr txBox="1"/>
          <p:nvPr/>
        </p:nvSpPr>
        <p:spPr>
          <a:xfrm>
            <a:off x="1045844" y="37147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Single prompt</a:t>
            </a:r>
          </a:p>
        </p:txBody>
      </p:sp>
      <p:sp>
        <p:nvSpPr>
          <p:cNvPr id="154" name="High reasoning"/>
          <p:cNvSpPr txBox="1"/>
          <p:nvPr/>
        </p:nvSpPr>
        <p:spPr>
          <a:xfrm>
            <a:off x="1045844" y="41719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High reasoning</a:t>
            </a:r>
          </a:p>
        </p:txBody>
      </p:sp>
      <p:graphicFrame>
        <p:nvGraphicFramePr>
          <p:cNvPr id="155" name="Chart"/>
          <p:cNvGraphicFramePr/>
          <p:nvPr/>
        </p:nvGraphicFramePr>
        <p:xfrm>
          <a:off x="5647372" y="3350005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6" name="148s"/>
          <p:cNvSpPr txBox="1"/>
          <p:nvPr/>
        </p:nvSpPr>
        <p:spPr>
          <a:xfrm>
            <a:off x="11799569" y="3362325"/>
            <a:ext cx="2651761" cy="104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3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148s</a:t>
            </a:r>
          </a:p>
        </p:txBody>
      </p:sp>
      <p:sp>
        <p:nvSpPr>
          <p:cNvPr id="157" name="GLM 5.3 Flash"/>
          <p:cNvSpPr txBox="1"/>
          <p:nvPr/>
        </p:nvSpPr>
        <p:spPr>
          <a:xfrm>
            <a:off x="1007744" y="5619750"/>
            <a:ext cx="4432936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GLM 5.3 Flash</a:t>
            </a:r>
          </a:p>
        </p:txBody>
      </p:sp>
      <p:sp>
        <p:nvSpPr>
          <p:cNvPr id="158" name="Harness"/>
          <p:cNvSpPr txBox="1"/>
          <p:nvPr/>
        </p:nvSpPr>
        <p:spPr>
          <a:xfrm>
            <a:off x="1045844" y="62674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Harness</a:t>
            </a:r>
          </a:p>
        </p:txBody>
      </p:sp>
      <p:sp>
        <p:nvSpPr>
          <p:cNvPr id="159" name="Low reasoning"/>
          <p:cNvSpPr txBox="1"/>
          <p:nvPr/>
        </p:nvSpPr>
        <p:spPr>
          <a:xfrm>
            <a:off x="1045844" y="67246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Low reasoning</a:t>
            </a:r>
          </a:p>
        </p:txBody>
      </p:sp>
      <p:graphicFrame>
        <p:nvGraphicFramePr>
          <p:cNvPr id="160" name="Chart"/>
          <p:cNvGraphicFramePr/>
          <p:nvPr/>
        </p:nvGraphicFramePr>
        <p:xfrm>
          <a:off x="5647372" y="5902705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1" name="79s"/>
          <p:cNvSpPr txBox="1"/>
          <p:nvPr/>
        </p:nvSpPr>
        <p:spPr>
          <a:xfrm>
            <a:off x="11799569" y="5915025"/>
            <a:ext cx="2651761" cy="104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3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79s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59"/>
          <p:cNvSpPr txBox="1"/>
          <p:nvPr/>
        </p:nvSpPr>
        <p:spPr>
          <a:xfrm>
            <a:off x="807719" y="1476375"/>
            <a:ext cx="5337811" cy="3314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3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59</a:t>
            </a:r>
          </a:p>
        </p:txBody>
      </p:sp>
      <p:sp>
        <p:nvSpPr>
          <p:cNvPr id="166" name="bugs still missed"/>
          <p:cNvSpPr txBox="1"/>
          <p:nvPr/>
        </p:nvSpPr>
        <p:spPr>
          <a:xfrm>
            <a:off x="998219" y="5067300"/>
            <a:ext cx="5718811" cy="73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3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bugs still missed</a:t>
            </a:r>
          </a:p>
        </p:txBody>
      </p:sp>
      <p:sp>
        <p:nvSpPr>
          <p:cNvPr id="167" name="Highest recall: 88 of 147 found"/>
          <p:cNvSpPr txBox="1"/>
          <p:nvPr/>
        </p:nvSpPr>
        <p:spPr>
          <a:xfrm>
            <a:off x="1036319" y="7477125"/>
            <a:ext cx="13053062" cy="562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Highest recall: 88 of 147 found</a:t>
            </a:r>
          </a:p>
        </p:txBody>
      </p:sp>
      <p:graphicFrame>
        <p:nvGraphicFramePr>
          <p:cNvPr id="168" name="Chart"/>
          <p:cNvGraphicFramePr/>
          <p:nvPr/>
        </p:nvGraphicFramePr>
        <p:xfrm>
          <a:off x="6123622" y="2588005"/>
          <a:ext cx="7855903" cy="462972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xmlns:p14="http://schemas.microsoft.com/office/powerpoint/2010/main" spd="med" advClick="0" advTm="1500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Evidence you can rerun"/>
          <p:cNvSpPr txBox="1"/>
          <p:nvPr/>
        </p:nvSpPr>
        <p:spPr>
          <a:xfrm>
            <a:off x="960119" y="685800"/>
            <a:ext cx="13319762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Evidence you can rerun</a:t>
            </a:r>
          </a:p>
        </p:txBody>
      </p:sp>
      <p:sp>
        <p:nvSpPr>
          <p:cNvPr id="173" name="Discourse: re-importing a deleted post"/>
          <p:cNvSpPr txBox="1"/>
          <p:nvPr/>
        </p:nvSpPr>
        <p:spPr>
          <a:xfrm>
            <a:off x="1017269" y="2047875"/>
            <a:ext cx="13243562" cy="624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Discourse: re-importing a deleted post</a:t>
            </a:r>
          </a:p>
        </p:txBody>
      </p:sp>
      <p:sp>
        <p:nvSpPr>
          <p:cNvPr id="174" name="Before fix"/>
          <p:cNvSpPr txBox="1"/>
          <p:nvPr/>
        </p:nvSpPr>
        <p:spPr>
          <a:xfrm>
            <a:off x="1474469" y="3743325"/>
            <a:ext cx="5337811" cy="649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8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Before fix</a:t>
            </a:r>
          </a:p>
        </p:txBody>
      </p:sp>
      <p:sp>
        <p:nvSpPr>
          <p:cNvPr id="175" name="After fix"/>
          <p:cNvSpPr txBox="1"/>
          <p:nvPr/>
        </p:nvSpPr>
        <p:spPr>
          <a:xfrm>
            <a:off x="8980169" y="3743325"/>
            <a:ext cx="5242561" cy="649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8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After fix</a:t>
            </a:r>
          </a:p>
        </p:txBody>
      </p:sp>
      <p:sp>
        <p:nvSpPr>
          <p:cNvPr id="176" name="FAIL"/>
          <p:cNvSpPr txBox="1"/>
          <p:nvPr/>
        </p:nvSpPr>
        <p:spPr>
          <a:xfrm>
            <a:off x="1322069" y="4657725"/>
            <a:ext cx="6004561" cy="1938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200">
                <a:solidFill>
                  <a:srgbClr val="DD89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FAIL</a:t>
            </a:r>
          </a:p>
        </p:txBody>
      </p:sp>
      <p:sp>
        <p:nvSpPr>
          <p:cNvPr id="177" name="PASS"/>
          <p:cNvSpPr txBox="1"/>
          <p:nvPr/>
        </p:nvSpPr>
        <p:spPr>
          <a:xfrm>
            <a:off x="8799194" y="4657725"/>
            <a:ext cx="6099811" cy="1938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200">
                <a:solidFill>
                  <a:srgbClr val="9FC9B2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PASS</a:t>
            </a:r>
          </a:p>
        </p:txBody>
      </p:sp>
      <p:sp>
        <p:nvSpPr>
          <p:cNvPr id="178" name="Line"/>
          <p:cNvSpPr/>
          <p:nvPr/>
        </p:nvSpPr>
        <p:spPr>
          <a:xfrm>
            <a:off x="6000750" y="5591175"/>
            <a:ext cx="2000250" cy="0"/>
          </a:xfrm>
          <a:prstGeom prst="line">
            <a:avLst/>
          </a:prstGeom>
          <a:ln w="47625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79" name="Triangle"/>
          <p:cNvSpPr/>
          <p:nvPr/>
        </p:nvSpPr>
        <p:spPr>
          <a:xfrm>
            <a:off x="7848600" y="5514975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0" name="Isolated reproduction, verified defect 4-D14"/>
          <p:cNvSpPr txBox="1"/>
          <p:nvPr/>
        </p:nvSpPr>
        <p:spPr>
          <a:xfrm>
            <a:off x="1055369" y="7410450"/>
            <a:ext cx="12957811" cy="488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6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Isolated reproduction, verified defect 4-D14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Find bugs."/>
          <p:cNvSpPr txBox="1"/>
          <p:nvPr/>
        </p:nvSpPr>
        <p:spPr>
          <a:xfrm>
            <a:off x="960119" y="1752600"/>
            <a:ext cx="13243562" cy="1876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8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Find bugs.</a:t>
            </a:r>
          </a:p>
        </p:txBody>
      </p:sp>
      <p:sp>
        <p:nvSpPr>
          <p:cNvPr id="185" name="Before users do."/>
          <p:cNvSpPr txBox="1"/>
          <p:nvPr/>
        </p:nvSpPr>
        <p:spPr>
          <a:xfrm>
            <a:off x="941069" y="4067175"/>
            <a:ext cx="13434062" cy="1628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2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Before users do.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view"/>
          <p:cNvSpPr txBox="1"/>
          <p:nvPr/>
        </p:nvSpPr>
        <p:spPr>
          <a:xfrm>
            <a:off x="998219" y="2905125"/>
            <a:ext cx="2670812" cy="922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54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Review</a:t>
            </a:r>
          </a:p>
        </p:txBody>
      </p:sp>
      <p:sp>
        <p:nvSpPr>
          <p:cNvPr id="190" name="Reproduce"/>
          <p:cNvSpPr txBox="1"/>
          <p:nvPr/>
        </p:nvSpPr>
        <p:spPr>
          <a:xfrm>
            <a:off x="4331970" y="2905125"/>
            <a:ext cx="4575810" cy="922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54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Reproduce</a:t>
            </a:r>
          </a:p>
        </p:txBody>
      </p:sp>
      <p:sp>
        <p:nvSpPr>
          <p:cNvPr id="191" name="Fix"/>
          <p:cNvSpPr txBox="1"/>
          <p:nvPr/>
        </p:nvSpPr>
        <p:spPr>
          <a:xfrm>
            <a:off x="9618344" y="2905125"/>
            <a:ext cx="1527811" cy="922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54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Fix</a:t>
            </a:r>
          </a:p>
        </p:txBody>
      </p:sp>
      <p:sp>
        <p:nvSpPr>
          <p:cNvPr id="192" name="Test"/>
          <p:cNvSpPr txBox="1"/>
          <p:nvPr/>
        </p:nvSpPr>
        <p:spPr>
          <a:xfrm>
            <a:off x="12237719" y="2905125"/>
            <a:ext cx="2099311" cy="922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54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Test</a:t>
            </a:r>
          </a:p>
        </p:txBody>
      </p:sp>
      <p:sp>
        <p:nvSpPr>
          <p:cNvPr id="193" name="Line"/>
          <p:cNvSpPr/>
          <p:nvPr/>
        </p:nvSpPr>
        <p:spPr>
          <a:xfrm>
            <a:off x="3667125" y="3467100"/>
            <a:ext cx="409575" cy="0"/>
          </a:xfrm>
          <a:prstGeom prst="line">
            <a:avLst/>
          </a:prstGeom>
          <a:ln w="47625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94" name="Triangle"/>
          <p:cNvSpPr/>
          <p:nvPr/>
        </p:nvSpPr>
        <p:spPr>
          <a:xfrm>
            <a:off x="3924300" y="3390900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95" name="Line"/>
          <p:cNvSpPr/>
          <p:nvPr/>
        </p:nvSpPr>
        <p:spPr>
          <a:xfrm>
            <a:off x="8543925" y="3467100"/>
            <a:ext cx="771525" cy="0"/>
          </a:xfrm>
          <a:prstGeom prst="line">
            <a:avLst/>
          </a:prstGeom>
          <a:ln w="47625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96" name="Triangle"/>
          <p:cNvSpPr/>
          <p:nvPr/>
        </p:nvSpPr>
        <p:spPr>
          <a:xfrm>
            <a:off x="9163050" y="3390900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97" name="Line"/>
          <p:cNvSpPr/>
          <p:nvPr/>
        </p:nvSpPr>
        <p:spPr>
          <a:xfrm>
            <a:off x="10982325" y="3467100"/>
            <a:ext cx="952500" cy="0"/>
          </a:xfrm>
          <a:prstGeom prst="line">
            <a:avLst/>
          </a:prstGeom>
          <a:ln w="47625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98" name="Triangle"/>
          <p:cNvSpPr/>
          <p:nvPr/>
        </p:nvSpPr>
        <p:spPr>
          <a:xfrm>
            <a:off x="11782425" y="3390900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99" name="Line"/>
          <p:cNvSpPr/>
          <p:nvPr/>
        </p:nvSpPr>
        <p:spPr>
          <a:xfrm>
            <a:off x="2095500" y="4229100"/>
            <a:ext cx="11239500" cy="19716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4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</a:path>
            </a:pathLst>
          </a:custGeom>
          <a:ln w="5715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00" name="Line"/>
          <p:cNvSpPr/>
          <p:nvPr/>
        </p:nvSpPr>
        <p:spPr>
          <a:xfrm flipV="1">
            <a:off x="2095500" y="4229100"/>
            <a:ext cx="0" cy="523875"/>
          </a:xfrm>
          <a:prstGeom prst="line">
            <a:avLst/>
          </a:prstGeom>
          <a:ln w="5715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01" name="Triangle"/>
          <p:cNvSpPr/>
          <p:nvPr/>
        </p:nvSpPr>
        <p:spPr>
          <a:xfrm>
            <a:off x="2019300" y="4229100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800" y="0"/>
                </a:lnTo>
              </a:path>
            </a:pathLst>
          </a:custGeom>
          <a:solidFill>
            <a:srgbClr val="F17A43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02" name="Repeat"/>
          <p:cNvSpPr txBox="1"/>
          <p:nvPr/>
        </p:nvSpPr>
        <p:spPr>
          <a:xfrm>
            <a:off x="5789295" y="6515100"/>
            <a:ext cx="4290060" cy="1182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72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Repeat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Use a harness"/>
          <p:cNvSpPr txBox="1"/>
          <p:nvPr/>
        </p:nvSpPr>
        <p:spPr>
          <a:xfrm>
            <a:off x="950594" y="2619375"/>
            <a:ext cx="13815062" cy="2000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6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Use a harness</a:t>
            </a:r>
          </a:p>
        </p:txBody>
      </p:sp>
      <p:sp>
        <p:nvSpPr>
          <p:cNvPr id="207" name="Give reviewers focused jobs"/>
          <p:cNvSpPr txBox="1"/>
          <p:nvPr/>
        </p:nvSpPr>
        <p:spPr>
          <a:xfrm>
            <a:off x="1093469" y="5505450"/>
            <a:ext cx="12767311" cy="736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4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Give reviewers focused jobs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tart low"/>
          <p:cNvSpPr txBox="1"/>
          <p:nvPr/>
        </p:nvSpPr>
        <p:spPr>
          <a:xfrm>
            <a:off x="941069" y="1581150"/>
            <a:ext cx="13434062" cy="1851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7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Start low</a:t>
            </a:r>
          </a:p>
        </p:txBody>
      </p:sp>
      <p:sp>
        <p:nvSpPr>
          <p:cNvPr id="212" name="Try open weights"/>
          <p:cNvSpPr txBox="1"/>
          <p:nvPr/>
        </p:nvSpPr>
        <p:spPr>
          <a:xfrm>
            <a:off x="941069" y="4019550"/>
            <a:ext cx="13529312" cy="1616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Try open weights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Follow the"/>
          <p:cNvSpPr txBox="1"/>
          <p:nvPr/>
        </p:nvSpPr>
        <p:spPr>
          <a:xfrm>
            <a:off x="960119" y="1781175"/>
            <a:ext cx="13338812" cy="18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3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Follow the</a:t>
            </a:r>
          </a:p>
        </p:txBody>
      </p:sp>
      <p:sp>
        <p:nvSpPr>
          <p:cNvPr id="217" name="evidence."/>
          <p:cNvSpPr txBox="1"/>
          <p:nvPr/>
        </p:nvSpPr>
        <p:spPr>
          <a:xfrm>
            <a:off x="922019" y="3914775"/>
            <a:ext cx="13434062" cy="2273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5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evidence.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