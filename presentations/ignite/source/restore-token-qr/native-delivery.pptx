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4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5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5240000" cy="8572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
</file>

<file path=ppt/charts/_rels/chart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.xlsx"/></Relationships>

</file>

<file path=ppt/charts/_rels/chart2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2.xlsx"/></Relationships>

</file>

<file path=ppt/charts/_rels/chart3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3.xlsx"/></Relationships>

</file>

<file path=ppt/charts/_rels/chart4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4.xlsx"/></Relationships>

</file>

<file path=ppt/charts/_rels/chart5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5.xlsx"/></Relationships>

</file>

<file path=ppt/charts/_rels/chart6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6.xlsx"/></Relationships>

</file>

<file path=ppt/charts/_rels/chart7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7.xlsx"/></Relationships>

</file>

<file path=ppt/charts/_rels/chart8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8.xlsx"/></Relationships>

</file>

<file path=ppt/charts/_rels/chart9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9.xlsx"/></Relationships>

</file>

<file path=ppt/charts/_rels/chart10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0.xlsx"/>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12327"/>
          <c:y val="0.0336738"/>
          <c:w val="0.973767"/>
          <c:h val="0.942836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Harness found more</c:v>
                </c:pt>
              </c:strCache>
            </c:strRef>
          </c:tx>
          <c:spPr>
            <a:solidFill>
              <a:srgbClr val="F17A43"/>
            </a:solidFill>
            <a:ln w="12700" cap="flat">
              <a:noFill/>
              <a:miter lim="400000"/>
            </a:ln>
            <a:effectLst/>
          </c:spPr>
          <c:marker>
            <c:symbol val="square"/>
            <c:size val="26"/>
            <c:spPr>
              <a:solidFill>
                <a:srgbClr val="F17A43"/>
              </a:solidFill>
              <a:ln w="12700" cap="flat">
                <a:noFill/>
                <a:miter lim="400000"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Sheet1!$B$2:$B$40</c:f>
              <c:numCache>
                <c:ptCount val="39"/>
                <c:pt idx="0">
                  <c:v>1.000000</c:v>
                </c:pt>
                <c:pt idx="1">
                  <c:v>2.000000</c:v>
                </c:pt>
                <c:pt idx="2">
                  <c:v>3.000000</c:v>
                </c:pt>
                <c:pt idx="3">
                  <c:v>4.000000</c:v>
                </c:pt>
                <c:pt idx="4">
                  <c:v>5.000000</c:v>
                </c:pt>
                <c:pt idx="5">
                  <c:v>6.000000</c:v>
                </c:pt>
                <c:pt idx="6">
                  <c:v>1.000000</c:v>
                </c:pt>
                <c:pt idx="7">
                  <c:v>2.000000</c:v>
                </c:pt>
                <c:pt idx="8">
                  <c:v>3.000000</c:v>
                </c:pt>
                <c:pt idx="9">
                  <c:v>4.000000</c:v>
                </c:pt>
                <c:pt idx="10">
                  <c:v>5.000000</c:v>
                </c:pt>
                <c:pt idx="11">
                  <c:v>6.000000</c:v>
                </c:pt>
                <c:pt idx="12">
                  <c:v>1.000000</c:v>
                </c:pt>
                <c:pt idx="13">
                  <c:v>2.000000</c:v>
                </c:pt>
                <c:pt idx="14">
                  <c:v>3.000000</c:v>
                </c:pt>
                <c:pt idx="15">
                  <c:v>4.000000</c:v>
                </c:pt>
                <c:pt idx="16">
                  <c:v>5.000000</c:v>
                </c:pt>
                <c:pt idx="17">
                  <c:v>6.000000</c:v>
                </c:pt>
                <c:pt idx="18">
                  <c:v>1.000000</c:v>
                </c:pt>
                <c:pt idx="19">
                  <c:v>2.000000</c:v>
                </c:pt>
                <c:pt idx="20">
                  <c:v>3.000000</c:v>
                </c:pt>
                <c:pt idx="21">
                  <c:v>4.000000</c:v>
                </c:pt>
                <c:pt idx="22">
                  <c:v>5.000000</c:v>
                </c:pt>
                <c:pt idx="23">
                  <c:v>6.000000</c:v>
                </c:pt>
                <c:pt idx="24">
                  <c:v>1.000000</c:v>
                </c:pt>
                <c:pt idx="25">
                  <c:v>2.000000</c:v>
                </c:pt>
                <c:pt idx="26">
                  <c:v>3.000000</c:v>
                </c:pt>
                <c:pt idx="27">
                  <c:v>4.000000</c:v>
                </c:pt>
                <c:pt idx="28">
                  <c:v>5.000000</c:v>
                </c:pt>
                <c:pt idx="29">
                  <c:v>6.000000</c:v>
                </c:pt>
                <c:pt idx="30">
                  <c:v>1.000000</c:v>
                </c:pt>
                <c:pt idx="31">
                  <c:v>2.000000</c:v>
                </c:pt>
                <c:pt idx="32">
                  <c:v>3.000000</c:v>
                </c:pt>
                <c:pt idx="33">
                  <c:v>4.000000</c:v>
                </c:pt>
                <c:pt idx="34">
                  <c:v>5.000000</c:v>
                </c:pt>
                <c:pt idx="35">
                  <c:v>6.000000</c:v>
                </c:pt>
                <c:pt idx="36">
                  <c:v>1.000000</c:v>
                </c:pt>
                <c:pt idx="37">
                  <c:v>2.000000</c:v>
                </c:pt>
                <c:pt idx="38">
                  <c:v>3.000000</c:v>
                </c:pt>
              </c:numCache>
            </c:numRef>
          </c:xVal>
          <c:yVal>
            <c:numRef>
              <c:f>Sheet1!$C$2:$C$40</c:f>
              <c:numCache>
                <c:ptCount val="39"/>
                <c:pt idx="0">
                  <c:v>7.000000</c:v>
                </c:pt>
                <c:pt idx="1">
                  <c:v>7.000000</c:v>
                </c:pt>
                <c:pt idx="2">
                  <c:v>7.000000</c:v>
                </c:pt>
                <c:pt idx="3">
                  <c:v>7.000000</c:v>
                </c:pt>
                <c:pt idx="4">
                  <c:v>7.000000</c:v>
                </c:pt>
                <c:pt idx="5">
                  <c:v>7.000000</c:v>
                </c:pt>
                <c:pt idx="6">
                  <c:v>6.000000</c:v>
                </c:pt>
                <c:pt idx="7">
                  <c:v>6.000000</c:v>
                </c:pt>
                <c:pt idx="8">
                  <c:v>6.000000</c:v>
                </c:pt>
                <c:pt idx="9">
                  <c:v>6.000000</c:v>
                </c:pt>
                <c:pt idx="10">
                  <c:v>6.000000</c:v>
                </c:pt>
                <c:pt idx="11">
                  <c:v>6.000000</c:v>
                </c:pt>
                <c:pt idx="12">
                  <c:v>5.000000</c:v>
                </c:pt>
                <c:pt idx="13">
                  <c:v>5.000000</c:v>
                </c:pt>
                <c:pt idx="14">
                  <c:v>5.000000</c:v>
                </c:pt>
                <c:pt idx="15">
                  <c:v>5.000000</c:v>
                </c:pt>
                <c:pt idx="16">
                  <c:v>5.000000</c:v>
                </c:pt>
                <c:pt idx="17">
                  <c:v>5.000000</c:v>
                </c:pt>
                <c:pt idx="18">
                  <c:v>4.000000</c:v>
                </c:pt>
                <c:pt idx="19">
                  <c:v>4.000000</c:v>
                </c:pt>
                <c:pt idx="20">
                  <c:v>4.000000</c:v>
                </c:pt>
                <c:pt idx="21">
                  <c:v>4.000000</c:v>
                </c:pt>
                <c:pt idx="22">
                  <c:v>4.000000</c:v>
                </c:pt>
                <c:pt idx="23">
                  <c:v>4.000000</c:v>
                </c:pt>
                <c:pt idx="24">
                  <c:v>3.000000</c:v>
                </c:pt>
                <c:pt idx="25">
                  <c:v>3.000000</c:v>
                </c:pt>
                <c:pt idx="26">
                  <c:v>3.000000</c:v>
                </c:pt>
                <c:pt idx="27">
                  <c:v>3.000000</c:v>
                </c:pt>
                <c:pt idx="28">
                  <c:v>3.000000</c:v>
                </c:pt>
                <c:pt idx="29">
                  <c:v>3.000000</c:v>
                </c:pt>
                <c:pt idx="30">
                  <c:v>2.000000</c:v>
                </c:pt>
                <c:pt idx="31">
                  <c:v>2.000000</c:v>
                </c:pt>
                <c:pt idx="32">
                  <c:v>2.000000</c:v>
                </c:pt>
                <c:pt idx="33">
                  <c:v>2.000000</c:v>
                </c:pt>
                <c:pt idx="34">
                  <c:v>2.000000</c:v>
                </c:pt>
                <c:pt idx="35">
                  <c:v>2.000000</c:v>
                </c:pt>
                <c:pt idx="36">
                  <c:v>1.000000</c:v>
                </c:pt>
                <c:pt idx="37">
                  <c:v>1.000000</c:v>
                </c:pt>
                <c:pt idx="38">
                  <c:v>1.000000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 increase</c:v>
                </c:pt>
              </c:strCache>
            </c:strRef>
          </c:tx>
          <c:spPr>
            <a:solidFill>
              <a:srgbClr val="92938F"/>
            </a:solidFill>
            <a:ln w="12700" cap="flat">
              <a:noFill/>
              <a:miter lim="400000"/>
            </a:ln>
            <a:effectLst/>
          </c:spPr>
          <c:marker>
            <c:symbol val="square"/>
            <c:size val="26"/>
            <c:spPr>
              <a:solidFill>
                <a:srgbClr val="92938F"/>
              </a:solidFill>
              <a:ln w="12700" cap="flat">
                <a:noFill/>
                <a:miter lim="400000"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Sheet1!$D$2:$D$40</c:f>
              <c:numCache>
                <c:ptCount val="3"/>
                <c:pt idx="0">
                  <c:v>4.000000</c:v>
                </c:pt>
                <c:pt idx="1">
                  <c:v>5.000000</c:v>
                </c:pt>
                <c:pt idx="2">
                  <c:v>6.000000</c:v>
                </c:pt>
              </c:numCache>
            </c:numRef>
          </c:xVal>
          <c:yVal>
            <c:numRef>
              <c:f>Sheet1!$E$2:$E$40</c:f>
              <c:numCache>
                <c:ptCount val="3"/>
                <c:pt idx="0">
                  <c:v>1.000000</c:v>
                </c:pt>
                <c:pt idx="1">
                  <c:v>1.000000</c:v>
                </c:pt>
                <c:pt idx="2">
                  <c:v>1.000000</c:v>
                </c:pt>
              </c:numCache>
            </c:numRef>
          </c:yVal>
          <c:smooth val="0"/>
        </c:ser>
        <c:axId val="2094734552"/>
        <c:axId val="2094734553"/>
      </c:scatterChart>
      <c:valAx>
        <c:axId val="2094734552"/>
        <c:scaling>
          <c:orientation val="minMax"/>
          <c:max val="7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crossBetween val="between"/>
        <c:majorUnit val="1.75"/>
        <c:minorUnit val="0.875"/>
      </c:valAx>
      <c:valAx>
        <c:axId val="2094734553"/>
        <c:scaling>
          <c:orientation val="minMax"/>
          <c:max val="8"/>
          <c:min val="0"/>
        </c:scaling>
        <c:delete val="0"/>
        <c:axPos val="l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2"/>
        <c:minorUnit val="1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23853"/>
          <c:y val="0.15017"/>
          <c:w val="0.972615"/>
          <c:h val="0.788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F17A43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Unresolved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17.000000</c:v>
                </c:pt>
              </c:numCache>
            </c:numRef>
          </c:val>
        </c:ser>
        <c:gapWidth val="12"/>
        <c:overlap val="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22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5.5"/>
        <c:minorUnit val="2.75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23853"/>
          <c:y val="0.15017"/>
          <c:w val="0.972615"/>
          <c:h val="0.788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92938F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High better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4.000000</c:v>
                </c:pt>
              </c:numCache>
            </c:numRef>
          </c:val>
        </c:ser>
        <c:gapWidth val="12"/>
        <c:overlap val="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22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5.5"/>
        <c:minorUnit val="2.75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23853"/>
          <c:y val="0.15017"/>
          <c:w val="0.972615"/>
          <c:h val="0.788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92938F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Medium better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1.000000</c:v>
                </c:pt>
              </c:numCache>
            </c:numRef>
          </c:val>
        </c:ser>
        <c:gapWidth val="12"/>
        <c:overlap val="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22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5.5"/>
        <c:minorUnit val="2.75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23853"/>
          <c:y val="0.15017"/>
          <c:w val="0.972615"/>
          <c:h val="0.788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92938F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Fable 5.1 / Single prompt / High reasoning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51.000000</c:v>
                </c:pt>
              </c:numCache>
            </c:numRef>
          </c:val>
        </c:ser>
        <c:gapWidth val="12"/>
        <c:overlap val="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90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22.5"/>
        <c:minorUnit val="11.25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23853"/>
          <c:y val="0.15017"/>
          <c:w val="0.972615"/>
          <c:h val="0.788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F17A43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GLM 5.3 Flash / Harness / Low reasoning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71.000000</c:v>
                </c:pt>
              </c:numCache>
            </c:numRef>
          </c:val>
        </c:ser>
        <c:gapWidth val="12"/>
        <c:overlap val="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90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22.5"/>
        <c:minorUnit val="11.25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23853"/>
          <c:y val="0.15017"/>
          <c:w val="0.972615"/>
          <c:h val="0.788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92938F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##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Fable 5.1 / Single prompt / High reasoning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1.295940</c:v>
                </c:pt>
              </c:numCache>
            </c:numRef>
          </c:val>
        </c:ser>
        <c:gapWidth val="12"/>
        <c:overlap val="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1.5"/>
          <c:min val="0"/>
        </c:scaling>
        <c:delete val="0"/>
        <c:axPos val="b"/>
        <c:numFmt formatCode="0.####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0.375"/>
        <c:minorUnit val="0.1875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23853"/>
          <c:y val="0.15017"/>
          <c:w val="0.972615"/>
          <c:h val="0.788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F17A43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##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GLM 5.3 Flash / Harness / Low reasoning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0.023540</c:v>
                </c:pt>
              </c:numCache>
            </c:numRef>
          </c:val>
        </c:ser>
        <c:gapWidth val="12"/>
        <c:overlap val="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1.5"/>
          <c:min val="0"/>
        </c:scaling>
        <c:delete val="0"/>
        <c:axPos val="b"/>
        <c:numFmt formatCode="0.####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0.375"/>
        <c:minorUnit val="0.1875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23853"/>
          <c:y val="0.15017"/>
          <c:w val="0.972615"/>
          <c:h val="0.788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92938F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##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Fable 5.1 / Single prompt / High reasoning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147.696310</c:v>
                </c:pt>
              </c:numCache>
            </c:numRef>
          </c:val>
        </c:ser>
        <c:gapWidth val="12"/>
        <c:overlap val="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180"/>
          <c:min val="0"/>
        </c:scaling>
        <c:delete val="0"/>
        <c:axPos val="b"/>
        <c:numFmt formatCode="0.####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45"/>
        <c:minorUnit val="22.5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23853"/>
          <c:y val="0.15017"/>
          <c:w val="0.972615"/>
          <c:h val="0.788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F17A43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##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GLM 5.3 Flash / Harness / Low reasoning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78.541690</c:v>
                </c:pt>
              </c:numCache>
            </c:numRef>
          </c:val>
        </c:ser>
        <c:gapWidth val="12"/>
        <c:overlap val="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180"/>
          <c:min val="0"/>
        </c:scaling>
        <c:delete val="0"/>
        <c:axPos val="b"/>
        <c:numFmt formatCode="0.####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45"/>
        <c:minorUnit val="22.5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" name="Shape 2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Their confidence, my doubt</a:t>
            </a:r>
          </a:p>
          <a:p>
            <a:pPr/>
          </a:p>
          <a:p>
            <a:pPr>
              <a:defRPr sz="2400"/>
            </a:pPr>
            <a:r>
              <a:t>Everyone seemed to know the perfect way to use AI. Better prompts. Better tools. Better systems. The more confident the advice got, the less confident I felt.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Proposed first-person wording based on Dave's account of his motivation, supplied in this conversation. Typographic opening; no staged portrait or claim about a photographed event.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" name="Shape 3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Ask what actually works</a:t>
            </a:r>
          </a:p>
          <a:p>
            <a:pPr/>
          </a:p>
          <a:p>
            <a:pPr>
              <a:defRPr sz="2400"/>
            </a:pPr>
            <a:r>
              <a:t>Buy the course. Comment ‘AI agents.’ Get the perfect system. I was comparing myself to everybody else’s claims. So I changed the question: what actually works?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Dave's account. The wording is a general illustration of the pattern he described, not an attributed quotation from an identified person.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9" name="Shape 3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Introduce myself, then experiment</a:t>
            </a:r>
          </a:p>
          <a:p>
            <a:pPr/>
          </a:p>
          <a:p>
            <a:pPr>
              <a:defRPr sz="2400"/>
            </a:pPr>
            <a:r>
              <a:t>BTW, I’m Dave Sifry. I founded Technorati and co-founded Linuxcare. I got pissed with all those vibes. So I ran the tests. two thousand four hundred sixteen AI code reviews, across fifty pull requests and five mature open source codebases.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Biographical facts supplied by Dave in the organizer’s accepted speaker description: founder of Technorati and co-founder of Linuxcare.</a:t>
            </a:r>
          </a:p>
          <a:p>
            <a:pPr/>
            <a:r>
              <a:t>REPORT.md, campaign overview and §2.2. 2,416 healthy runs across the campaign, not 2,416 independent pull requests. The planned matrix has 72 configurations; 66 have complete coverage of the six primary PRs. Primary analysis selects one run per configuration per PR; it does not measure repeat-run variance. The original benchmark and executed hidden-defect validation supply distinct parts of the answer key.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9" name="Shape 5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Model, method, reasoning</a:t>
            </a:r>
          </a:p>
          <a:p>
            <a:pPr>
              <a:defRPr sz="2400"/>
            </a:pPr>
          </a:p>
          <a:p>
            <a:pPr>
              <a:defRPr sz="2400"/>
            </a:pPr>
            <a:r>
              <a:t>Which model? One prompt or a harness? How much reasoning? Could China’s open-weight GLM models compete? I tested eight models, three review methods, and low, medium and high reasoning.</a:t>
            </a:r>
          </a:p>
          <a:p>
            <a:pPr/>
            <a:endParaRPr sz="2400"/>
          </a:p>
          <a:p>
            <a:pPr>
              <a:defRPr b="1"/>
            </a:pPr>
            <a:r>
              <a:t>SOURCES AND SCOPE</a:t>
            </a:r>
          </a:p>
          <a:p>
            <a:pPr/>
            <a:r>
              <a:t>REPORT.md §2.2. Eight tested models: Claude Fable 5.1, Opus 5, Sonnet 5; GPT-5.6 Sol, GPT-5.6 Terra, GPT-6 Astra; GLM-5.3 and GLM-5.3-Flash. Three methods: an engineered single prompt, Compound Engineering, and metareview. Three effort levels: low, medium, high. The planned 72-cell matrix has 66 complete cells on the primary six-PR sample; six Fable harness cells have partial coverage. The open-weight comparison covers these two GLM deployments, not every Chinese or emerging model. GLM-5.3 used a hosted 4-bit quantized build; the Flash serving build was not documented. Geographic background for GLM: Z.ai/Zhipu official company page, https://www.zhipuai.cn/en/about 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7" name="Shape 10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Six PRs, 42 known bugs</a:t>
            </a:r>
          </a:p>
          <a:p>
            <a:pPr/>
          </a:p>
          <a:p>
            <a:pPr>
              <a:defRPr sz="2400"/>
            </a:pPr>
            <a:r>
              <a:t>For the detailed comparison: I whittled it down to the six most knotty pull requests, Forty-two bugs humans had found. That gave me part of the answer. But the answer key was incomplete.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REPORT.md §§2.2 and 3.1. Six severity-selected PRs. Forty-two original benchmark goldens.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26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1" name="Shape 26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Verify the additional defects</a:t>
            </a:r>
          </a:p>
          <a:p>
            <a:pPr/>
          </a:p>
          <a:p>
            <a:pPr>
              <a:defRPr sz="2400"/>
            </a:pPr>
            <a:r>
              <a:t>After the audit: a hundred and five more verified defects. Each test failed before the fix and passed after. One hundred forty-seven bugs in the answer key.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REPORT.md corrected hidden-defect audit. 105 retained hidden defects plus 42 benchmark goldens. Audit removed unsupported claims and duplicates. The universe is campaign-discovered and not exhaustive. Attribution correction: REPORT.md lines 797–801 identifies 10967-D05 as audit-discovered and never reported by a run; the 105 total must not all be attributed to AI review findings.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27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3" name="Shape 27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Reproduce, fix, test again</a:t>
            </a:r>
          </a:p>
          <a:p>
            <a:pPr/>
          </a:p>
          <a:p>
            <a:pPr>
              <a:defRPr sz="2400"/>
            </a:pPr>
            <a:r>
              <a:t>Here’s one verified defect: re-importing a deleted post crashed. An isolated test reproduced it. Add the missing guard, and the test passes. Evidence you can check.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Verified defect 4-D14. Original isolated reproduction log: RESULT: FAIL: NoMethodError: undefined method `raw' for nil:NilClass. Fixed log: RESULT: PASS. The minimal patch adds return if post.nil? after post = embed.post in the real app/models/topic_embed.rb. The isolated Ruby test stubs surrounding dependencies, so this is not a full Rails integration run or proof of a new PR regression. The audit explicitly retained it. Primary artifacts at https://github.com/dsifry/harnesseval/tree/8f634b68664751527a9ad0123d1a082dd70a0931/analysis/verified_gold/4/B08-topicembed-re-import-crashes-when-the-embedded-post-was-/defects/4-D14 . See also analysis/verified_gold/WITHDRAWALS_AND_DEDUP_2026-09-18.md, line 47. The benchmarked harness did not perform this evaluator verification automatically.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30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6" name="Shape 30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Same model, focused jobs</a:t>
            </a:r>
          </a:p>
          <a:p>
            <a:pPr/>
          </a:p>
          <a:p>
            <a:pPr>
              <a:defRPr sz="2400"/>
            </a:pPr>
            <a:r>
              <a:t>A harness runs checks, assigns focused reviews in parallel, then combines findings. Same model, different jobs. I maintain metareview, one of the harnesses tested.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Illustrative architecture based on REPORT.md §2.2 and the pinned metareview_realistic.py adapter. Security, Architecture and Testing-quality are examples of actual reviewer lenses, not the full roster. The adapter runs its deterministic command and context scaffold before dispatching reviewers, then combines per-lens outputs. The report says eight lenses and synthesis; the pinned CLI prompt says nine and explicitly concatenates the findings. This diagram deliberately does not assert an exact lens count or a separate judgment step. No automatic fixing is depicted. The evaluator and its ground-truth adjudication are separate from the review harness.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Shape 31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4" name="Shape 31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39 of 42 matched comparisons</a:t>
            </a:r>
          </a:p>
          <a:p>
            <a:pPr/>
          </a:p>
          <a:p>
            <a:pPr>
              <a:defRPr sz="2400"/>
            </a:pPr>
            <a:r>
              <a:t>In matched comparisons, the harness found more verified bugs thirty-nine times out of forty-two. Same model. Same reasoning setting. The review process mattered.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REPORT.md matched true-gold recall comparison. Seven models, three efforts, two harness versus vanilla pairs. Observed direction, not 39 individually statistically significant effects.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0" name="Shape 32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More review uses more tokens</a:t>
            </a:r>
          </a:p>
          <a:p>
            <a:pPr/>
            <a:endParaRPr b="1" sz="3600"/>
          </a:p>
          <a:p>
            <a:pPr>
              <a:defRPr sz="2400"/>
            </a:pPr>
            <a:r>
              <a:t>Those extra passes used about ten times the tokens, at the median. More review has a price. Did that work also need an expensive model at high reasoning?</a:t>
            </a:r>
          </a:p>
          <a:p>
            <a:pPr/>
            <a:endParaRPr sz="2400"/>
          </a:p>
          <a:p>
            <a:pPr/>
            <a:r>
              <a:t>SOURCES AND SCOPE</a:t>
            </a:r>
          </a:p>
          <a:p>
            <a:pPr/>
            <a:r>
              <a:t>REPORT.md median token multiple 10.1 across 42 matched comparisons. Token consumption is distinct from dollar cost.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Shape 32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5" name="Shape 32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Test the reasoning dial</a:t>
            </a:r>
          </a:p>
          <a:p>
            <a:pPr/>
          </a:p>
          <a:p>
            <a:pPr>
              <a:defRPr sz="2400"/>
            </a:pPr>
            <a:r>
              <a:t>The reasoning dial is tempting. Turn it up, get a better review. But that’s an assumption. I tested low, medium and high to see what the extra thinking bought.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REPORT.md effort sweep. Only low, medium, high were tested. Generated rotary-control illustration is a metaphor, not a real product control.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Shape 33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39" name="Shape 33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Inconclusive doesn’t mean equal</a:t>
            </a:r>
          </a:p>
          <a:p>
            <a:pPr/>
          </a:p>
          <a:p>
            <a:pPr>
              <a:defRPr sz="2400"/>
            </a:pPr>
            <a:r>
              <a:t>Of twenty-two high-versus-medium comparisons, seventeen were inconclusive on the original benchmark score. Four favored high; one favored medium. Inconclusive doesn’t mean equal.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REPORT.md effort comparison on the 42-golden benchmark F1, not the 147-bug composite score. 17 unresolved, 4 favor high, 1 favor medium. Unresolved does not establish equivalence.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Shape 35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54" name="Shape 35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One pair, 20 more bugs</a:t>
            </a:r>
          </a:p>
          <a:p>
            <a:pPr/>
          </a:p>
          <a:p>
            <a:pPr>
              <a:defRPr sz="2400"/>
            </a:pPr>
            <a:r>
              <a:t>One tested pair. Fable, high reasoning, one prompt: fifty-one bugs. Open-weight G L M Flash, low reasoning, a harness: seventy-one. Twenty more.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REPORT.md 147-bug primary results: Fable 5.1 vanilla high 51/147, GLM-5.3-Flash metareview low 71/147. Selected configuration comparison, not an isolated model or effort causal effect. GLM ran through hosted inference.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Shape 36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69" name="Shape 36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Same pair, lower API cost</a:t>
            </a:r>
          </a:p>
          <a:p>
            <a:pPr/>
          </a:p>
          <a:p>
            <a:pPr>
              <a:defRPr sz="2400"/>
            </a:pPr>
            <a:r>
              <a:t>About a dollar thirty versus two point four cents per review. API costs, at study prices. Checking the findings still takes your time.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REPORT.md exact means: Fable vanilla high $1.29594/PR; GLM Flash metareview low $0.02354/PR. Ratio 55.05. Published September 16 list prices applied to metered usage, not actual gateway invoice. Excludes human time and failed-call overhead.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Shape 38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84" name="Shape 38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Same pair, less waiting</a:t>
            </a:r>
          </a:p>
          <a:p>
            <a:pPr/>
          </a:p>
          <a:p>
            <a:pPr>
              <a:defRPr sz="2400"/>
            </a:pPr>
            <a:r>
              <a:t>Same pair: about two and a half minutes versus eighty seconds, on average. Less waiting. More bugs found. A combination worth testing in your development loop.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REPORT.md exact means: 78.54169 seconds versus 147.69631 seconds per review. Selected configuration comparison includes different model, harness, effort, and provider paths. Not universal speed superiority.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Shape 53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38" name="Shape 53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59 bugs still missed</a:t>
            </a:r>
          </a:p>
          <a:p>
            <a:pPr/>
          </a:p>
          <a:p>
            <a:pPr>
              <a:defRPr sz="2400"/>
            </a:pPr>
            <a:r>
              <a:t>Even the highest-recall setup missed fifty-nine verified bugs. A clean review doesn’t prove the code is correct. Useful help. We still have to check.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REPORT.md Opus 5 + Compound Engineering medium: 88/147, the highest recall among complete single configurations. Mean API cost $6.12246. Misses 147-88=59. Union of configurations is a different procedure.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Shape 55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56" name="Shape 55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Review before you commit</a:t>
            </a:r>
          </a:p>
          <a:p>
            <a:pPr>
              <a:defRPr sz="2400"/>
            </a:pPr>
          </a:p>
          <a:p>
            <a:pPr>
              <a:defRPr sz="2400"/>
            </a:pPr>
            <a:r>
              <a:t>Review before you commit. Reproduce the failure. Fix it. Run the test. Then review the fix, too. Check the findings yourself. Find bugs before your users do.</a:t>
            </a:r>
          </a:p>
          <a:p>
            <a:pPr/>
            <a:endParaRPr sz="2400"/>
          </a:p>
          <a:p>
            <a:pPr>
              <a:defRPr b="1"/>
            </a:pPr>
            <a:r>
              <a:t>SOURCES AND SCOPE</a:t>
            </a:r>
          </a:p>
          <a:p>
            <a:pPr/>
            <a:r>
              <a:t>Recommended developer workflow, not a measured autonomous fixing loop. The developer uses the harness for review, reproduces and verifies findings, fixes and tests the code, then re-reviews the changed code. FURTHER-RESEARCH.md treats iterative development-loop outcomes as further work. Local development describes the workflow, not local model inference. Finding bugs before users is a goal, not a production outcome measured by this study.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Shape 56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61" name="Shape 56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Give reviewers focused jobs</a:t>
            </a:r>
          </a:p>
          <a:p>
            <a:pPr/>
          </a:p>
          <a:p>
            <a:pPr>
              <a:defRPr sz="2400"/>
            </a:pPr>
            <a:r>
              <a:t>Use a harness. Give the model focused review jobs and a repeatable process. In this study, that usually found more verified bugs than asking the same model once.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Recommendation supported by 39/42 positive matched recall differences. It does not establish that every harness implementation helps every task.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Shape 56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67" name="Shape 56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Start low, try open weights</a:t>
            </a:r>
          </a:p>
          <a:p>
            <a:pPr/>
          </a:p>
          <a:p>
            <a:pPr>
              <a:defRPr sz="2400"/>
            </a:pPr>
            <a:r>
              <a:t>Start with low reasoning. Try open-weight models. Compare what they catch, what they miss, the cost and the wait. Then choose based on evidence from your code.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Recommendation from the selected GLM Flash metareview low configuration. 71 bugs is total across six PRs; cost and latency are per-review means. Other configurations can have higher recall. Open weights does not imply local inference.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Shape 57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74" name="Shape 57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Follow the evidence</a:t>
            </a:r>
          </a:p>
          <a:p>
            <a:pPr/>
          </a:p>
          <a:p>
            <a:pPr>
              <a:defRPr sz="2400"/>
            </a:pPr>
            <a:r>
              <a:t>I started with doubt. Now I have evidence I can check. Demand that from AI advice, including mine. You don’t have to trust the vibes. Follow the evidence. All free, all open source. 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Dave's requested conclusion. Typographic close. End on the idea, with no contact, biography, or promotional slide.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143000" y="2305843"/>
            <a:ext cx="12954000" cy="2551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2286000" y="4857750"/>
            <a:ext cx="10668000" cy="3714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7366000" y="7716837"/>
            <a:ext cx="3556000" cy="4572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chart" Target="../charts/chart9.xml"/><Relationship Id="rId4" Type="http://schemas.openxmlformats.org/officeDocument/2006/relationships/chart" Target="../charts/chart10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y secret fear:"/>
          <p:cNvSpPr txBox="1"/>
          <p:nvPr/>
        </p:nvSpPr>
        <p:spPr>
          <a:xfrm>
            <a:off x="922019" y="1647825"/>
            <a:ext cx="13338812" cy="1876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8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My secret fear:</a:t>
            </a:r>
          </a:p>
        </p:txBody>
      </p:sp>
      <p:sp>
        <p:nvSpPr>
          <p:cNvPr id="21" name="Is it me?"/>
          <p:cNvSpPr txBox="1"/>
          <p:nvPr/>
        </p:nvSpPr>
        <p:spPr>
          <a:xfrm>
            <a:off x="902969" y="3714750"/>
            <a:ext cx="13434062" cy="2062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Is it me?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−"/>
          <p:cNvSpPr txBox="1"/>
          <p:nvPr/>
        </p:nvSpPr>
        <p:spPr>
          <a:xfrm>
            <a:off x="1074419" y="2609850"/>
            <a:ext cx="1146812" cy="15051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600">
                <a:solidFill>
                  <a:srgbClr val="DD89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−</a:t>
            </a:r>
          </a:p>
        </p:txBody>
      </p:sp>
      <p:sp>
        <p:nvSpPr>
          <p:cNvPr id="26" name="Is it me?"/>
          <p:cNvSpPr txBox="1"/>
          <p:nvPr/>
        </p:nvSpPr>
        <p:spPr>
          <a:xfrm>
            <a:off x="2550795" y="2609850"/>
            <a:ext cx="11243310" cy="15051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600">
                <a:solidFill>
                  <a:srgbClr val="A9ACA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Is it me?</a:t>
            </a:r>
          </a:p>
        </p:txBody>
      </p:sp>
      <p:sp>
        <p:nvSpPr>
          <p:cNvPr id="27" name="+"/>
          <p:cNvSpPr txBox="1"/>
          <p:nvPr/>
        </p:nvSpPr>
        <p:spPr>
          <a:xfrm>
            <a:off x="1074419" y="4705350"/>
            <a:ext cx="1146812" cy="15051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600">
                <a:solidFill>
                  <a:srgbClr val="9FC9B2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28" name="What works?"/>
          <p:cNvSpPr txBox="1"/>
          <p:nvPr/>
        </p:nvSpPr>
        <p:spPr>
          <a:xfrm>
            <a:off x="2550795" y="4705350"/>
            <a:ext cx="11719560" cy="1554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What works?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2,416"/>
          <p:cNvSpPr txBox="1"/>
          <p:nvPr/>
        </p:nvSpPr>
        <p:spPr>
          <a:xfrm>
            <a:off x="864869" y="1371600"/>
            <a:ext cx="13719812" cy="3501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25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2,416</a:t>
            </a:r>
          </a:p>
        </p:txBody>
      </p:sp>
      <p:sp>
        <p:nvSpPr>
          <p:cNvPr id="33" name="AI code reviews"/>
          <p:cNvSpPr txBox="1"/>
          <p:nvPr/>
        </p:nvSpPr>
        <p:spPr>
          <a:xfrm>
            <a:off x="1045844" y="4524375"/>
            <a:ext cx="13053062" cy="1145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70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AI code reviews</a:t>
            </a:r>
          </a:p>
        </p:txBody>
      </p:sp>
      <p:sp>
        <p:nvSpPr>
          <p:cNvPr id="34" name="50 pull requests"/>
          <p:cNvSpPr txBox="1"/>
          <p:nvPr/>
        </p:nvSpPr>
        <p:spPr>
          <a:xfrm>
            <a:off x="1083944" y="6610350"/>
            <a:ext cx="6861811" cy="798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8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50 pull requests</a:t>
            </a:r>
          </a:p>
        </p:txBody>
      </p:sp>
      <p:sp>
        <p:nvSpPr>
          <p:cNvPr id="35" name="5 codebases"/>
          <p:cNvSpPr txBox="1"/>
          <p:nvPr/>
        </p:nvSpPr>
        <p:spPr>
          <a:xfrm>
            <a:off x="9265919" y="6610350"/>
            <a:ext cx="5528311" cy="798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8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5 codebases</a:t>
            </a:r>
          </a:p>
        </p:txBody>
      </p:sp>
      <p:sp>
        <p:nvSpPr>
          <p:cNvPr id="36" name="Dave Sifry"/>
          <p:cNvSpPr txBox="1"/>
          <p:nvPr/>
        </p:nvSpPr>
        <p:spPr>
          <a:xfrm>
            <a:off x="1079500" y="508000"/>
            <a:ext cx="6861810" cy="798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8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Dave Sifry</a:t>
            </a:r>
          </a:p>
        </p:txBody>
      </p:sp>
      <p:pic>
        <p:nvPicPr>
          <p:cNvPr id="37" name="Dave_Sifry_Waving.png" descr="Dave_Sifry_Wavin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176000" y="635000"/>
            <a:ext cx="3048000" cy="2540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0" advTm="1500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he comparison manifold"/>
          <p:cNvSpPr txBox="1"/>
          <p:nvPr/>
        </p:nvSpPr>
        <p:spPr>
          <a:xfrm>
            <a:off x="960119" y="552450"/>
            <a:ext cx="13319762" cy="959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57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The comparison manifold</a:t>
            </a:r>
          </a:p>
        </p:txBody>
      </p:sp>
      <p:sp>
        <p:nvSpPr>
          <p:cNvPr id="42" name="8"/>
          <p:cNvSpPr txBox="1"/>
          <p:nvPr/>
        </p:nvSpPr>
        <p:spPr>
          <a:xfrm>
            <a:off x="998219" y="1724025"/>
            <a:ext cx="3718561" cy="2868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84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43" name="models"/>
          <p:cNvSpPr txBox="1"/>
          <p:nvPr/>
        </p:nvSpPr>
        <p:spPr>
          <a:xfrm>
            <a:off x="807719" y="4810125"/>
            <a:ext cx="4099561" cy="649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7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models</a:t>
            </a:r>
          </a:p>
        </p:txBody>
      </p:sp>
      <p:sp>
        <p:nvSpPr>
          <p:cNvPr id="44" name="3"/>
          <p:cNvSpPr txBox="1"/>
          <p:nvPr/>
        </p:nvSpPr>
        <p:spPr>
          <a:xfrm>
            <a:off x="5760720" y="1724025"/>
            <a:ext cx="3718560" cy="2868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84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5" name="review methods"/>
          <p:cNvSpPr txBox="1"/>
          <p:nvPr/>
        </p:nvSpPr>
        <p:spPr>
          <a:xfrm>
            <a:off x="5570220" y="4810125"/>
            <a:ext cx="4099560" cy="649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7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review methods</a:t>
            </a:r>
          </a:p>
        </p:txBody>
      </p:sp>
      <p:sp>
        <p:nvSpPr>
          <p:cNvPr id="46" name="3"/>
          <p:cNvSpPr txBox="1"/>
          <p:nvPr/>
        </p:nvSpPr>
        <p:spPr>
          <a:xfrm>
            <a:off x="10523219" y="1724025"/>
            <a:ext cx="3718561" cy="2868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84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7" name="reasoning levels"/>
          <p:cNvSpPr txBox="1"/>
          <p:nvPr/>
        </p:nvSpPr>
        <p:spPr>
          <a:xfrm>
            <a:off x="10332719" y="4810125"/>
            <a:ext cx="4099561" cy="649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7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reasoning levels</a:t>
            </a:r>
          </a:p>
        </p:txBody>
      </p:sp>
      <p:sp>
        <p:nvSpPr>
          <p:cNvPr id="48" name="×"/>
          <p:cNvSpPr txBox="1"/>
          <p:nvPr/>
        </p:nvSpPr>
        <p:spPr>
          <a:xfrm>
            <a:off x="4712970" y="2619375"/>
            <a:ext cx="1051561" cy="1244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78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49" name="×"/>
          <p:cNvSpPr txBox="1"/>
          <p:nvPr/>
        </p:nvSpPr>
        <p:spPr>
          <a:xfrm>
            <a:off x="9475469" y="2619375"/>
            <a:ext cx="1051561" cy="1244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78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50" name="Claude w/ Fable, Opus…"/>
          <p:cNvSpPr txBox="1"/>
          <p:nvPr/>
        </p:nvSpPr>
        <p:spPr>
          <a:xfrm>
            <a:off x="855344" y="6010275"/>
            <a:ext cx="4310093" cy="513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8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Claude w/ Fable, Opus…</a:t>
            </a:r>
          </a:p>
        </p:txBody>
      </p:sp>
      <p:sp>
        <p:nvSpPr>
          <p:cNvPr id="51" name="Codex w/ Astra, Sol…"/>
          <p:cNvSpPr txBox="1"/>
          <p:nvPr/>
        </p:nvSpPr>
        <p:spPr>
          <a:xfrm>
            <a:off x="855344" y="6553200"/>
            <a:ext cx="4004311" cy="513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8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Codex w/ Astra, Sol…</a:t>
            </a:r>
          </a:p>
        </p:txBody>
      </p:sp>
      <p:sp>
        <p:nvSpPr>
          <p:cNvPr id="52" name="Pi w/ GLM 5.3, -flash"/>
          <p:cNvSpPr txBox="1"/>
          <p:nvPr/>
        </p:nvSpPr>
        <p:spPr>
          <a:xfrm>
            <a:off x="855344" y="7096125"/>
            <a:ext cx="4004311" cy="513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8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Pi w/ GLM 5.3, -flash</a:t>
            </a:r>
          </a:p>
        </p:txBody>
      </p:sp>
      <p:sp>
        <p:nvSpPr>
          <p:cNvPr id="53" name="One Shot Prompt &amp;"/>
          <p:cNvSpPr txBox="1"/>
          <p:nvPr/>
        </p:nvSpPr>
        <p:spPr>
          <a:xfrm>
            <a:off x="5617845" y="6010275"/>
            <a:ext cx="4004310" cy="513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8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One Shot Prompt &amp;</a:t>
            </a:r>
          </a:p>
        </p:txBody>
      </p:sp>
      <p:sp>
        <p:nvSpPr>
          <p:cNvPr id="54" name="Compound Engineering Metareview"/>
          <p:cNvSpPr txBox="1"/>
          <p:nvPr/>
        </p:nvSpPr>
        <p:spPr>
          <a:xfrm>
            <a:off x="5617845" y="6664325"/>
            <a:ext cx="4004310" cy="945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8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Compound Engineering</a:t>
            </a:r>
            <a:br/>
            <a:r>
              <a:t>Metareview</a:t>
            </a:r>
          </a:p>
        </p:txBody>
      </p:sp>
      <p:sp>
        <p:nvSpPr>
          <p:cNvPr id="55" name="Low"/>
          <p:cNvSpPr txBox="1"/>
          <p:nvPr/>
        </p:nvSpPr>
        <p:spPr>
          <a:xfrm>
            <a:off x="10380344" y="6010275"/>
            <a:ext cx="4004311" cy="513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8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Low</a:t>
            </a:r>
          </a:p>
        </p:txBody>
      </p:sp>
      <p:sp>
        <p:nvSpPr>
          <p:cNvPr id="56" name="Medium"/>
          <p:cNvSpPr txBox="1"/>
          <p:nvPr/>
        </p:nvSpPr>
        <p:spPr>
          <a:xfrm>
            <a:off x="10380344" y="6553200"/>
            <a:ext cx="4004311" cy="513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8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Medium</a:t>
            </a:r>
          </a:p>
        </p:txBody>
      </p:sp>
      <p:sp>
        <p:nvSpPr>
          <p:cNvPr id="57" name="High"/>
          <p:cNvSpPr txBox="1"/>
          <p:nvPr/>
        </p:nvSpPr>
        <p:spPr>
          <a:xfrm>
            <a:off x="10380344" y="7096125"/>
            <a:ext cx="4004311" cy="513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8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High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42"/>
          <p:cNvSpPr txBox="1"/>
          <p:nvPr/>
        </p:nvSpPr>
        <p:spPr>
          <a:xfrm>
            <a:off x="807719" y="1666875"/>
            <a:ext cx="5004436" cy="3277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10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42</a:t>
            </a:r>
          </a:p>
        </p:txBody>
      </p:sp>
      <p:sp>
        <p:nvSpPr>
          <p:cNvPr id="62" name="known bugs"/>
          <p:cNvSpPr txBox="1"/>
          <p:nvPr/>
        </p:nvSpPr>
        <p:spPr>
          <a:xfrm>
            <a:off x="998219" y="5048250"/>
            <a:ext cx="4909186" cy="78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known bugs</a:t>
            </a:r>
          </a:p>
        </p:txBody>
      </p:sp>
      <p:grpSp>
        <p:nvGrpSpPr>
          <p:cNvPr id="105" name="Bug grid for slide 4"/>
          <p:cNvGrpSpPr/>
          <p:nvPr/>
        </p:nvGrpSpPr>
        <p:grpSpPr>
          <a:xfrm>
            <a:off x="6484144" y="3156108"/>
            <a:ext cx="7274878" cy="825184"/>
            <a:chOff x="0" y="0"/>
            <a:chExt cx="7274877" cy="825182"/>
          </a:xfrm>
        </p:grpSpPr>
        <p:sp>
          <p:nvSpPr>
            <p:cNvPr id="63" name="Bug 1"/>
            <p:cNvSpPr/>
            <p:nvPr/>
          </p:nvSpPr>
          <p:spPr>
            <a:xfrm>
              <a:off x="0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64" name="Bug 2"/>
            <p:cNvSpPr/>
            <p:nvPr/>
          </p:nvSpPr>
          <p:spPr>
            <a:xfrm>
              <a:off x="351123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65" name="Bug 3"/>
            <p:cNvSpPr/>
            <p:nvPr/>
          </p:nvSpPr>
          <p:spPr>
            <a:xfrm>
              <a:off x="702246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66" name="Bug 4"/>
            <p:cNvSpPr/>
            <p:nvPr/>
          </p:nvSpPr>
          <p:spPr>
            <a:xfrm>
              <a:off x="1053370" y="0"/>
              <a:ext cx="252413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67" name="Bug 5"/>
            <p:cNvSpPr/>
            <p:nvPr/>
          </p:nvSpPr>
          <p:spPr>
            <a:xfrm>
              <a:off x="1404492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68" name="Bug 6"/>
            <p:cNvSpPr/>
            <p:nvPr/>
          </p:nvSpPr>
          <p:spPr>
            <a:xfrm>
              <a:off x="1755615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69" name="Bug 7"/>
            <p:cNvSpPr/>
            <p:nvPr/>
          </p:nvSpPr>
          <p:spPr>
            <a:xfrm>
              <a:off x="2106738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70" name="Bug 8"/>
            <p:cNvSpPr/>
            <p:nvPr/>
          </p:nvSpPr>
          <p:spPr>
            <a:xfrm>
              <a:off x="2457862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71" name="Bug 9"/>
            <p:cNvSpPr/>
            <p:nvPr/>
          </p:nvSpPr>
          <p:spPr>
            <a:xfrm>
              <a:off x="2808985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72" name="Bug 10"/>
            <p:cNvSpPr/>
            <p:nvPr/>
          </p:nvSpPr>
          <p:spPr>
            <a:xfrm>
              <a:off x="3160108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73" name="Bug 11"/>
            <p:cNvSpPr/>
            <p:nvPr/>
          </p:nvSpPr>
          <p:spPr>
            <a:xfrm>
              <a:off x="3511231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74" name="Bug 12"/>
            <p:cNvSpPr/>
            <p:nvPr/>
          </p:nvSpPr>
          <p:spPr>
            <a:xfrm>
              <a:off x="3862355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75" name="Bug 13"/>
            <p:cNvSpPr/>
            <p:nvPr/>
          </p:nvSpPr>
          <p:spPr>
            <a:xfrm>
              <a:off x="4213478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76" name="Bug 14"/>
            <p:cNvSpPr/>
            <p:nvPr/>
          </p:nvSpPr>
          <p:spPr>
            <a:xfrm>
              <a:off x="4564601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77" name="Bug 15"/>
            <p:cNvSpPr/>
            <p:nvPr/>
          </p:nvSpPr>
          <p:spPr>
            <a:xfrm>
              <a:off x="4915724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78" name="Bug 16"/>
            <p:cNvSpPr/>
            <p:nvPr/>
          </p:nvSpPr>
          <p:spPr>
            <a:xfrm>
              <a:off x="5266848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79" name="Bug 17"/>
            <p:cNvSpPr/>
            <p:nvPr/>
          </p:nvSpPr>
          <p:spPr>
            <a:xfrm>
              <a:off x="5617971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80" name="Bug 18"/>
            <p:cNvSpPr/>
            <p:nvPr/>
          </p:nvSpPr>
          <p:spPr>
            <a:xfrm>
              <a:off x="5969094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81" name="Bug 19"/>
            <p:cNvSpPr/>
            <p:nvPr/>
          </p:nvSpPr>
          <p:spPr>
            <a:xfrm>
              <a:off x="6320217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82" name="Bug 20"/>
            <p:cNvSpPr/>
            <p:nvPr/>
          </p:nvSpPr>
          <p:spPr>
            <a:xfrm>
              <a:off x="6671341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83" name="Bug 21"/>
            <p:cNvSpPr/>
            <p:nvPr/>
          </p:nvSpPr>
          <p:spPr>
            <a:xfrm>
              <a:off x="7022464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84" name="Bug 22"/>
            <p:cNvSpPr/>
            <p:nvPr/>
          </p:nvSpPr>
          <p:spPr>
            <a:xfrm>
              <a:off x="0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85" name="Bug 23"/>
            <p:cNvSpPr/>
            <p:nvPr/>
          </p:nvSpPr>
          <p:spPr>
            <a:xfrm>
              <a:off x="351123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86" name="Bug 24"/>
            <p:cNvSpPr/>
            <p:nvPr/>
          </p:nvSpPr>
          <p:spPr>
            <a:xfrm>
              <a:off x="702246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87" name="Bug 25"/>
            <p:cNvSpPr/>
            <p:nvPr/>
          </p:nvSpPr>
          <p:spPr>
            <a:xfrm>
              <a:off x="1053370" y="553719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88" name="Bug 26"/>
            <p:cNvSpPr/>
            <p:nvPr/>
          </p:nvSpPr>
          <p:spPr>
            <a:xfrm>
              <a:off x="1404492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89" name="Bug 27"/>
            <p:cNvSpPr/>
            <p:nvPr/>
          </p:nvSpPr>
          <p:spPr>
            <a:xfrm>
              <a:off x="1755615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90" name="Bug 28"/>
            <p:cNvSpPr/>
            <p:nvPr/>
          </p:nvSpPr>
          <p:spPr>
            <a:xfrm>
              <a:off x="2106738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91" name="Bug 29"/>
            <p:cNvSpPr/>
            <p:nvPr/>
          </p:nvSpPr>
          <p:spPr>
            <a:xfrm>
              <a:off x="2457862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92" name="Bug 30"/>
            <p:cNvSpPr/>
            <p:nvPr/>
          </p:nvSpPr>
          <p:spPr>
            <a:xfrm>
              <a:off x="2808985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93" name="Bug 31"/>
            <p:cNvSpPr/>
            <p:nvPr/>
          </p:nvSpPr>
          <p:spPr>
            <a:xfrm>
              <a:off x="3160108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94" name="Bug 32"/>
            <p:cNvSpPr/>
            <p:nvPr/>
          </p:nvSpPr>
          <p:spPr>
            <a:xfrm>
              <a:off x="3511231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95" name="Bug 33"/>
            <p:cNvSpPr/>
            <p:nvPr/>
          </p:nvSpPr>
          <p:spPr>
            <a:xfrm>
              <a:off x="3862355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96" name="Bug 34"/>
            <p:cNvSpPr/>
            <p:nvPr/>
          </p:nvSpPr>
          <p:spPr>
            <a:xfrm>
              <a:off x="4213478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97" name="Bug 35"/>
            <p:cNvSpPr/>
            <p:nvPr/>
          </p:nvSpPr>
          <p:spPr>
            <a:xfrm>
              <a:off x="4564601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98" name="Bug 36"/>
            <p:cNvSpPr/>
            <p:nvPr/>
          </p:nvSpPr>
          <p:spPr>
            <a:xfrm>
              <a:off x="4915724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99" name="Bug 37"/>
            <p:cNvSpPr/>
            <p:nvPr/>
          </p:nvSpPr>
          <p:spPr>
            <a:xfrm>
              <a:off x="5266848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00" name="Bug 38"/>
            <p:cNvSpPr/>
            <p:nvPr/>
          </p:nvSpPr>
          <p:spPr>
            <a:xfrm>
              <a:off x="5617971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01" name="Bug 39"/>
            <p:cNvSpPr/>
            <p:nvPr/>
          </p:nvSpPr>
          <p:spPr>
            <a:xfrm>
              <a:off x="5969094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02" name="Bug 40"/>
            <p:cNvSpPr/>
            <p:nvPr/>
          </p:nvSpPr>
          <p:spPr>
            <a:xfrm>
              <a:off x="6320217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03" name="Bug 41"/>
            <p:cNvSpPr/>
            <p:nvPr/>
          </p:nvSpPr>
          <p:spPr>
            <a:xfrm>
              <a:off x="6671341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04" name="Bug 42"/>
            <p:cNvSpPr/>
            <p:nvPr/>
          </p:nvSpPr>
          <p:spPr>
            <a:xfrm>
              <a:off x="7022464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0" advTm="1500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+105"/>
          <p:cNvSpPr txBox="1"/>
          <p:nvPr/>
        </p:nvSpPr>
        <p:spPr>
          <a:xfrm>
            <a:off x="807719" y="1714500"/>
            <a:ext cx="5671186" cy="2658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9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+105</a:t>
            </a:r>
          </a:p>
        </p:txBody>
      </p:sp>
      <p:sp>
        <p:nvSpPr>
          <p:cNvPr id="110" name="verified defects"/>
          <p:cNvSpPr txBox="1"/>
          <p:nvPr/>
        </p:nvSpPr>
        <p:spPr>
          <a:xfrm>
            <a:off x="998219" y="4953000"/>
            <a:ext cx="5337811" cy="723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2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verified defects</a:t>
            </a:r>
          </a:p>
        </p:txBody>
      </p:sp>
      <p:sp>
        <p:nvSpPr>
          <p:cNvPr id="111" name="147 in total"/>
          <p:cNvSpPr txBox="1"/>
          <p:nvPr/>
        </p:nvSpPr>
        <p:spPr>
          <a:xfrm>
            <a:off x="1045844" y="6334125"/>
            <a:ext cx="5147311" cy="6739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9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147 in total</a:t>
            </a:r>
          </a:p>
        </p:txBody>
      </p:sp>
      <p:grpSp>
        <p:nvGrpSpPr>
          <p:cNvPr id="259" name="Bug grid for slide 5"/>
          <p:cNvGrpSpPr/>
          <p:nvPr/>
        </p:nvGrpSpPr>
        <p:grpSpPr>
          <a:xfrm>
            <a:off x="6484144" y="3156108"/>
            <a:ext cx="7274878" cy="3593784"/>
            <a:chOff x="0" y="0"/>
            <a:chExt cx="7274877" cy="3593783"/>
          </a:xfrm>
        </p:grpSpPr>
        <p:sp>
          <p:nvSpPr>
            <p:cNvPr id="112" name="Bug 1"/>
            <p:cNvSpPr/>
            <p:nvPr/>
          </p:nvSpPr>
          <p:spPr>
            <a:xfrm>
              <a:off x="0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13" name="Bug 2"/>
            <p:cNvSpPr/>
            <p:nvPr/>
          </p:nvSpPr>
          <p:spPr>
            <a:xfrm>
              <a:off x="351123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14" name="Bug 3"/>
            <p:cNvSpPr/>
            <p:nvPr/>
          </p:nvSpPr>
          <p:spPr>
            <a:xfrm>
              <a:off x="702246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15" name="Bug 4"/>
            <p:cNvSpPr/>
            <p:nvPr/>
          </p:nvSpPr>
          <p:spPr>
            <a:xfrm>
              <a:off x="1053370" y="-1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16" name="Bug 5"/>
            <p:cNvSpPr/>
            <p:nvPr/>
          </p:nvSpPr>
          <p:spPr>
            <a:xfrm>
              <a:off x="1404492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17" name="Bug 6"/>
            <p:cNvSpPr/>
            <p:nvPr/>
          </p:nvSpPr>
          <p:spPr>
            <a:xfrm>
              <a:off x="1755615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18" name="Bug 7"/>
            <p:cNvSpPr/>
            <p:nvPr/>
          </p:nvSpPr>
          <p:spPr>
            <a:xfrm>
              <a:off x="2106738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19" name="Bug 8"/>
            <p:cNvSpPr/>
            <p:nvPr/>
          </p:nvSpPr>
          <p:spPr>
            <a:xfrm>
              <a:off x="2457862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20" name="Bug 9"/>
            <p:cNvSpPr/>
            <p:nvPr/>
          </p:nvSpPr>
          <p:spPr>
            <a:xfrm>
              <a:off x="2808985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21" name="Bug 10"/>
            <p:cNvSpPr/>
            <p:nvPr/>
          </p:nvSpPr>
          <p:spPr>
            <a:xfrm>
              <a:off x="3160108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22" name="Bug 11"/>
            <p:cNvSpPr/>
            <p:nvPr/>
          </p:nvSpPr>
          <p:spPr>
            <a:xfrm>
              <a:off x="3511231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23" name="Bug 12"/>
            <p:cNvSpPr/>
            <p:nvPr/>
          </p:nvSpPr>
          <p:spPr>
            <a:xfrm>
              <a:off x="3862355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24" name="Bug 13"/>
            <p:cNvSpPr/>
            <p:nvPr/>
          </p:nvSpPr>
          <p:spPr>
            <a:xfrm>
              <a:off x="4213478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25" name="Bug 14"/>
            <p:cNvSpPr/>
            <p:nvPr/>
          </p:nvSpPr>
          <p:spPr>
            <a:xfrm>
              <a:off x="4564601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26" name="Bug 15"/>
            <p:cNvSpPr/>
            <p:nvPr/>
          </p:nvSpPr>
          <p:spPr>
            <a:xfrm>
              <a:off x="4915724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27" name="Bug 16"/>
            <p:cNvSpPr/>
            <p:nvPr/>
          </p:nvSpPr>
          <p:spPr>
            <a:xfrm>
              <a:off x="5266848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28" name="Bug 17"/>
            <p:cNvSpPr/>
            <p:nvPr/>
          </p:nvSpPr>
          <p:spPr>
            <a:xfrm>
              <a:off x="5617971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29" name="Bug 18"/>
            <p:cNvSpPr/>
            <p:nvPr/>
          </p:nvSpPr>
          <p:spPr>
            <a:xfrm>
              <a:off x="5969094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30" name="Bug 19"/>
            <p:cNvSpPr/>
            <p:nvPr/>
          </p:nvSpPr>
          <p:spPr>
            <a:xfrm>
              <a:off x="6320217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31" name="Bug 20"/>
            <p:cNvSpPr/>
            <p:nvPr/>
          </p:nvSpPr>
          <p:spPr>
            <a:xfrm>
              <a:off x="6671341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32" name="Bug 21"/>
            <p:cNvSpPr/>
            <p:nvPr/>
          </p:nvSpPr>
          <p:spPr>
            <a:xfrm>
              <a:off x="7022464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33" name="Bug 22"/>
            <p:cNvSpPr/>
            <p:nvPr/>
          </p:nvSpPr>
          <p:spPr>
            <a:xfrm>
              <a:off x="0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34" name="Bug 23"/>
            <p:cNvSpPr/>
            <p:nvPr/>
          </p:nvSpPr>
          <p:spPr>
            <a:xfrm>
              <a:off x="351123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35" name="Bug 24"/>
            <p:cNvSpPr/>
            <p:nvPr/>
          </p:nvSpPr>
          <p:spPr>
            <a:xfrm>
              <a:off x="702246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36" name="Bug 25"/>
            <p:cNvSpPr/>
            <p:nvPr/>
          </p:nvSpPr>
          <p:spPr>
            <a:xfrm>
              <a:off x="1053370" y="553719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37" name="Bug 26"/>
            <p:cNvSpPr/>
            <p:nvPr/>
          </p:nvSpPr>
          <p:spPr>
            <a:xfrm>
              <a:off x="1404492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38" name="Bug 27"/>
            <p:cNvSpPr/>
            <p:nvPr/>
          </p:nvSpPr>
          <p:spPr>
            <a:xfrm>
              <a:off x="1755615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39" name="Bug 28"/>
            <p:cNvSpPr/>
            <p:nvPr/>
          </p:nvSpPr>
          <p:spPr>
            <a:xfrm>
              <a:off x="2106738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40" name="Bug 29"/>
            <p:cNvSpPr/>
            <p:nvPr/>
          </p:nvSpPr>
          <p:spPr>
            <a:xfrm>
              <a:off x="2457862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41" name="Bug 30"/>
            <p:cNvSpPr/>
            <p:nvPr/>
          </p:nvSpPr>
          <p:spPr>
            <a:xfrm>
              <a:off x="2808985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42" name="Bug 31"/>
            <p:cNvSpPr/>
            <p:nvPr/>
          </p:nvSpPr>
          <p:spPr>
            <a:xfrm>
              <a:off x="3160108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43" name="Bug 32"/>
            <p:cNvSpPr/>
            <p:nvPr/>
          </p:nvSpPr>
          <p:spPr>
            <a:xfrm>
              <a:off x="3511231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44" name="Bug 33"/>
            <p:cNvSpPr/>
            <p:nvPr/>
          </p:nvSpPr>
          <p:spPr>
            <a:xfrm>
              <a:off x="3862355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45" name="Bug 34"/>
            <p:cNvSpPr/>
            <p:nvPr/>
          </p:nvSpPr>
          <p:spPr>
            <a:xfrm>
              <a:off x="4213478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46" name="Bug 35"/>
            <p:cNvSpPr/>
            <p:nvPr/>
          </p:nvSpPr>
          <p:spPr>
            <a:xfrm>
              <a:off x="4564601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47" name="Bug 36"/>
            <p:cNvSpPr/>
            <p:nvPr/>
          </p:nvSpPr>
          <p:spPr>
            <a:xfrm>
              <a:off x="4915724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48" name="Bug 37"/>
            <p:cNvSpPr/>
            <p:nvPr/>
          </p:nvSpPr>
          <p:spPr>
            <a:xfrm>
              <a:off x="5266848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49" name="Bug 38"/>
            <p:cNvSpPr/>
            <p:nvPr/>
          </p:nvSpPr>
          <p:spPr>
            <a:xfrm>
              <a:off x="5617971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50" name="Bug 39"/>
            <p:cNvSpPr/>
            <p:nvPr/>
          </p:nvSpPr>
          <p:spPr>
            <a:xfrm>
              <a:off x="5969094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51" name="Bug 40"/>
            <p:cNvSpPr/>
            <p:nvPr/>
          </p:nvSpPr>
          <p:spPr>
            <a:xfrm>
              <a:off x="6320217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52" name="Bug 41"/>
            <p:cNvSpPr/>
            <p:nvPr/>
          </p:nvSpPr>
          <p:spPr>
            <a:xfrm>
              <a:off x="6671341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53" name="Bug 42"/>
            <p:cNvSpPr/>
            <p:nvPr/>
          </p:nvSpPr>
          <p:spPr>
            <a:xfrm>
              <a:off x="7022464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54" name="Bug 43"/>
            <p:cNvSpPr/>
            <p:nvPr/>
          </p:nvSpPr>
          <p:spPr>
            <a:xfrm>
              <a:off x="0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55" name="Bug 44"/>
            <p:cNvSpPr/>
            <p:nvPr/>
          </p:nvSpPr>
          <p:spPr>
            <a:xfrm>
              <a:off x="351123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56" name="Bug 45"/>
            <p:cNvSpPr/>
            <p:nvPr/>
          </p:nvSpPr>
          <p:spPr>
            <a:xfrm>
              <a:off x="702246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57" name="Bug 46"/>
            <p:cNvSpPr/>
            <p:nvPr/>
          </p:nvSpPr>
          <p:spPr>
            <a:xfrm>
              <a:off x="1053370" y="1107439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58" name="Bug 47"/>
            <p:cNvSpPr/>
            <p:nvPr/>
          </p:nvSpPr>
          <p:spPr>
            <a:xfrm>
              <a:off x="1404492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59" name="Bug 48"/>
            <p:cNvSpPr/>
            <p:nvPr/>
          </p:nvSpPr>
          <p:spPr>
            <a:xfrm>
              <a:off x="1755615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60" name="Bug 49"/>
            <p:cNvSpPr/>
            <p:nvPr/>
          </p:nvSpPr>
          <p:spPr>
            <a:xfrm>
              <a:off x="2106738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61" name="Bug 50"/>
            <p:cNvSpPr/>
            <p:nvPr/>
          </p:nvSpPr>
          <p:spPr>
            <a:xfrm>
              <a:off x="2457862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62" name="Bug 51"/>
            <p:cNvSpPr/>
            <p:nvPr/>
          </p:nvSpPr>
          <p:spPr>
            <a:xfrm>
              <a:off x="2808985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63" name="Bug 52"/>
            <p:cNvSpPr/>
            <p:nvPr/>
          </p:nvSpPr>
          <p:spPr>
            <a:xfrm>
              <a:off x="3160108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64" name="Bug 53"/>
            <p:cNvSpPr/>
            <p:nvPr/>
          </p:nvSpPr>
          <p:spPr>
            <a:xfrm>
              <a:off x="3511231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65" name="Bug 54"/>
            <p:cNvSpPr/>
            <p:nvPr/>
          </p:nvSpPr>
          <p:spPr>
            <a:xfrm>
              <a:off x="3862355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66" name="Bug 55"/>
            <p:cNvSpPr/>
            <p:nvPr/>
          </p:nvSpPr>
          <p:spPr>
            <a:xfrm>
              <a:off x="4213478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67" name="Bug 56"/>
            <p:cNvSpPr/>
            <p:nvPr/>
          </p:nvSpPr>
          <p:spPr>
            <a:xfrm>
              <a:off x="4564601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68" name="Bug 57"/>
            <p:cNvSpPr/>
            <p:nvPr/>
          </p:nvSpPr>
          <p:spPr>
            <a:xfrm>
              <a:off x="4915724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69" name="Bug 58"/>
            <p:cNvSpPr/>
            <p:nvPr/>
          </p:nvSpPr>
          <p:spPr>
            <a:xfrm>
              <a:off x="5266848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70" name="Bug 59"/>
            <p:cNvSpPr/>
            <p:nvPr/>
          </p:nvSpPr>
          <p:spPr>
            <a:xfrm>
              <a:off x="5617971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71" name="Bug 60"/>
            <p:cNvSpPr/>
            <p:nvPr/>
          </p:nvSpPr>
          <p:spPr>
            <a:xfrm>
              <a:off x="5969094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72" name="Bug 61"/>
            <p:cNvSpPr/>
            <p:nvPr/>
          </p:nvSpPr>
          <p:spPr>
            <a:xfrm>
              <a:off x="6320217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73" name="Bug 62"/>
            <p:cNvSpPr/>
            <p:nvPr/>
          </p:nvSpPr>
          <p:spPr>
            <a:xfrm>
              <a:off x="6671341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74" name="Bug 63"/>
            <p:cNvSpPr/>
            <p:nvPr/>
          </p:nvSpPr>
          <p:spPr>
            <a:xfrm>
              <a:off x="7022464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75" name="Bug 64"/>
            <p:cNvSpPr/>
            <p:nvPr/>
          </p:nvSpPr>
          <p:spPr>
            <a:xfrm>
              <a:off x="0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76" name="Bug 65"/>
            <p:cNvSpPr/>
            <p:nvPr/>
          </p:nvSpPr>
          <p:spPr>
            <a:xfrm>
              <a:off x="351123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77" name="Bug 66"/>
            <p:cNvSpPr/>
            <p:nvPr/>
          </p:nvSpPr>
          <p:spPr>
            <a:xfrm>
              <a:off x="702246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78" name="Bug 67"/>
            <p:cNvSpPr/>
            <p:nvPr/>
          </p:nvSpPr>
          <p:spPr>
            <a:xfrm>
              <a:off x="1053370" y="1661160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79" name="Bug 68"/>
            <p:cNvSpPr/>
            <p:nvPr/>
          </p:nvSpPr>
          <p:spPr>
            <a:xfrm>
              <a:off x="1404492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0" name="Bug 69"/>
            <p:cNvSpPr/>
            <p:nvPr/>
          </p:nvSpPr>
          <p:spPr>
            <a:xfrm>
              <a:off x="1755615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1" name="Bug 70"/>
            <p:cNvSpPr/>
            <p:nvPr/>
          </p:nvSpPr>
          <p:spPr>
            <a:xfrm>
              <a:off x="2106738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2" name="Bug 71"/>
            <p:cNvSpPr/>
            <p:nvPr/>
          </p:nvSpPr>
          <p:spPr>
            <a:xfrm>
              <a:off x="2457862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3" name="Bug 72"/>
            <p:cNvSpPr/>
            <p:nvPr/>
          </p:nvSpPr>
          <p:spPr>
            <a:xfrm>
              <a:off x="2808985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4" name="Bug 73"/>
            <p:cNvSpPr/>
            <p:nvPr/>
          </p:nvSpPr>
          <p:spPr>
            <a:xfrm>
              <a:off x="3160108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5" name="Bug 74"/>
            <p:cNvSpPr/>
            <p:nvPr/>
          </p:nvSpPr>
          <p:spPr>
            <a:xfrm>
              <a:off x="3511231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6" name="Bug 75"/>
            <p:cNvSpPr/>
            <p:nvPr/>
          </p:nvSpPr>
          <p:spPr>
            <a:xfrm>
              <a:off x="3862355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7" name="Bug 76"/>
            <p:cNvSpPr/>
            <p:nvPr/>
          </p:nvSpPr>
          <p:spPr>
            <a:xfrm>
              <a:off x="4213478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8" name="Bug 77"/>
            <p:cNvSpPr/>
            <p:nvPr/>
          </p:nvSpPr>
          <p:spPr>
            <a:xfrm>
              <a:off x="4564601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9" name="Bug 78"/>
            <p:cNvSpPr/>
            <p:nvPr/>
          </p:nvSpPr>
          <p:spPr>
            <a:xfrm>
              <a:off x="4915724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90" name="Bug 79"/>
            <p:cNvSpPr/>
            <p:nvPr/>
          </p:nvSpPr>
          <p:spPr>
            <a:xfrm>
              <a:off x="5266848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91" name="Bug 80"/>
            <p:cNvSpPr/>
            <p:nvPr/>
          </p:nvSpPr>
          <p:spPr>
            <a:xfrm>
              <a:off x="5617971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92" name="Bug 81"/>
            <p:cNvSpPr/>
            <p:nvPr/>
          </p:nvSpPr>
          <p:spPr>
            <a:xfrm>
              <a:off x="5969094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93" name="Bug 82"/>
            <p:cNvSpPr/>
            <p:nvPr/>
          </p:nvSpPr>
          <p:spPr>
            <a:xfrm>
              <a:off x="6320217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94" name="Bug 83"/>
            <p:cNvSpPr/>
            <p:nvPr/>
          </p:nvSpPr>
          <p:spPr>
            <a:xfrm>
              <a:off x="6671341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95" name="Bug 84"/>
            <p:cNvSpPr/>
            <p:nvPr/>
          </p:nvSpPr>
          <p:spPr>
            <a:xfrm>
              <a:off x="7022464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96" name="Bug 85"/>
            <p:cNvSpPr/>
            <p:nvPr/>
          </p:nvSpPr>
          <p:spPr>
            <a:xfrm>
              <a:off x="0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97" name="Bug 86"/>
            <p:cNvSpPr/>
            <p:nvPr/>
          </p:nvSpPr>
          <p:spPr>
            <a:xfrm>
              <a:off x="351123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98" name="Bug 87"/>
            <p:cNvSpPr/>
            <p:nvPr/>
          </p:nvSpPr>
          <p:spPr>
            <a:xfrm>
              <a:off x="702246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99" name="Bug 88"/>
            <p:cNvSpPr/>
            <p:nvPr/>
          </p:nvSpPr>
          <p:spPr>
            <a:xfrm>
              <a:off x="1053370" y="2214879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00" name="Bug 89"/>
            <p:cNvSpPr/>
            <p:nvPr/>
          </p:nvSpPr>
          <p:spPr>
            <a:xfrm>
              <a:off x="1404492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01" name="Bug 90"/>
            <p:cNvSpPr/>
            <p:nvPr/>
          </p:nvSpPr>
          <p:spPr>
            <a:xfrm>
              <a:off x="1755615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02" name="Bug 91"/>
            <p:cNvSpPr/>
            <p:nvPr/>
          </p:nvSpPr>
          <p:spPr>
            <a:xfrm>
              <a:off x="2106738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03" name="Bug 92"/>
            <p:cNvSpPr/>
            <p:nvPr/>
          </p:nvSpPr>
          <p:spPr>
            <a:xfrm>
              <a:off x="2457862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04" name="Bug 93"/>
            <p:cNvSpPr/>
            <p:nvPr/>
          </p:nvSpPr>
          <p:spPr>
            <a:xfrm>
              <a:off x="2808985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05" name="Bug 94"/>
            <p:cNvSpPr/>
            <p:nvPr/>
          </p:nvSpPr>
          <p:spPr>
            <a:xfrm>
              <a:off x="3160108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06" name="Bug 95"/>
            <p:cNvSpPr/>
            <p:nvPr/>
          </p:nvSpPr>
          <p:spPr>
            <a:xfrm>
              <a:off x="3511231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07" name="Bug 96"/>
            <p:cNvSpPr/>
            <p:nvPr/>
          </p:nvSpPr>
          <p:spPr>
            <a:xfrm>
              <a:off x="3862355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08" name="Bug 97"/>
            <p:cNvSpPr/>
            <p:nvPr/>
          </p:nvSpPr>
          <p:spPr>
            <a:xfrm>
              <a:off x="4213478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09" name="Bug 98"/>
            <p:cNvSpPr/>
            <p:nvPr/>
          </p:nvSpPr>
          <p:spPr>
            <a:xfrm>
              <a:off x="4564601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10" name="Bug 99"/>
            <p:cNvSpPr/>
            <p:nvPr/>
          </p:nvSpPr>
          <p:spPr>
            <a:xfrm>
              <a:off x="4915724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11" name="Bug 100"/>
            <p:cNvSpPr/>
            <p:nvPr/>
          </p:nvSpPr>
          <p:spPr>
            <a:xfrm>
              <a:off x="5266848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12" name="Bug 101"/>
            <p:cNvSpPr/>
            <p:nvPr/>
          </p:nvSpPr>
          <p:spPr>
            <a:xfrm>
              <a:off x="5617971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13" name="Bug 102"/>
            <p:cNvSpPr/>
            <p:nvPr/>
          </p:nvSpPr>
          <p:spPr>
            <a:xfrm>
              <a:off x="5969094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14" name="Bug 103"/>
            <p:cNvSpPr/>
            <p:nvPr/>
          </p:nvSpPr>
          <p:spPr>
            <a:xfrm>
              <a:off x="6320217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15" name="Bug 104"/>
            <p:cNvSpPr/>
            <p:nvPr/>
          </p:nvSpPr>
          <p:spPr>
            <a:xfrm>
              <a:off x="6671341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16" name="Bug 105"/>
            <p:cNvSpPr/>
            <p:nvPr/>
          </p:nvSpPr>
          <p:spPr>
            <a:xfrm>
              <a:off x="7022464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17" name="Bug 106"/>
            <p:cNvSpPr/>
            <p:nvPr/>
          </p:nvSpPr>
          <p:spPr>
            <a:xfrm>
              <a:off x="0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18" name="Bug 107"/>
            <p:cNvSpPr/>
            <p:nvPr/>
          </p:nvSpPr>
          <p:spPr>
            <a:xfrm>
              <a:off x="351123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19" name="Bug 108"/>
            <p:cNvSpPr/>
            <p:nvPr/>
          </p:nvSpPr>
          <p:spPr>
            <a:xfrm>
              <a:off x="702246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20" name="Bug 109"/>
            <p:cNvSpPr/>
            <p:nvPr/>
          </p:nvSpPr>
          <p:spPr>
            <a:xfrm>
              <a:off x="1053370" y="2768600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21" name="Bug 110"/>
            <p:cNvSpPr/>
            <p:nvPr/>
          </p:nvSpPr>
          <p:spPr>
            <a:xfrm>
              <a:off x="1404492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22" name="Bug 111"/>
            <p:cNvSpPr/>
            <p:nvPr/>
          </p:nvSpPr>
          <p:spPr>
            <a:xfrm>
              <a:off x="1755615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23" name="Bug 112"/>
            <p:cNvSpPr/>
            <p:nvPr/>
          </p:nvSpPr>
          <p:spPr>
            <a:xfrm>
              <a:off x="2106738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24" name="Bug 113"/>
            <p:cNvSpPr/>
            <p:nvPr/>
          </p:nvSpPr>
          <p:spPr>
            <a:xfrm>
              <a:off x="2457862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25" name="Bug 114"/>
            <p:cNvSpPr/>
            <p:nvPr/>
          </p:nvSpPr>
          <p:spPr>
            <a:xfrm>
              <a:off x="2808985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26" name="Bug 115"/>
            <p:cNvSpPr/>
            <p:nvPr/>
          </p:nvSpPr>
          <p:spPr>
            <a:xfrm>
              <a:off x="3160108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27" name="Bug 116"/>
            <p:cNvSpPr/>
            <p:nvPr/>
          </p:nvSpPr>
          <p:spPr>
            <a:xfrm>
              <a:off x="3511231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28" name="Bug 117"/>
            <p:cNvSpPr/>
            <p:nvPr/>
          </p:nvSpPr>
          <p:spPr>
            <a:xfrm>
              <a:off x="3862355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29" name="Bug 118"/>
            <p:cNvSpPr/>
            <p:nvPr/>
          </p:nvSpPr>
          <p:spPr>
            <a:xfrm>
              <a:off x="4213478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30" name="Bug 119"/>
            <p:cNvSpPr/>
            <p:nvPr/>
          </p:nvSpPr>
          <p:spPr>
            <a:xfrm>
              <a:off x="4564601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31" name="Bug 120"/>
            <p:cNvSpPr/>
            <p:nvPr/>
          </p:nvSpPr>
          <p:spPr>
            <a:xfrm>
              <a:off x="4915724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32" name="Bug 121"/>
            <p:cNvSpPr/>
            <p:nvPr/>
          </p:nvSpPr>
          <p:spPr>
            <a:xfrm>
              <a:off x="5266848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33" name="Bug 122"/>
            <p:cNvSpPr/>
            <p:nvPr/>
          </p:nvSpPr>
          <p:spPr>
            <a:xfrm>
              <a:off x="5617971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34" name="Bug 123"/>
            <p:cNvSpPr/>
            <p:nvPr/>
          </p:nvSpPr>
          <p:spPr>
            <a:xfrm>
              <a:off x="5969094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35" name="Bug 124"/>
            <p:cNvSpPr/>
            <p:nvPr/>
          </p:nvSpPr>
          <p:spPr>
            <a:xfrm>
              <a:off x="6320217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36" name="Bug 125"/>
            <p:cNvSpPr/>
            <p:nvPr/>
          </p:nvSpPr>
          <p:spPr>
            <a:xfrm>
              <a:off x="6671341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37" name="Bug 126"/>
            <p:cNvSpPr/>
            <p:nvPr/>
          </p:nvSpPr>
          <p:spPr>
            <a:xfrm>
              <a:off x="7022464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38" name="Bug 127"/>
            <p:cNvSpPr/>
            <p:nvPr/>
          </p:nvSpPr>
          <p:spPr>
            <a:xfrm>
              <a:off x="0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39" name="Bug 128"/>
            <p:cNvSpPr/>
            <p:nvPr/>
          </p:nvSpPr>
          <p:spPr>
            <a:xfrm>
              <a:off x="351123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40" name="Bug 129"/>
            <p:cNvSpPr/>
            <p:nvPr/>
          </p:nvSpPr>
          <p:spPr>
            <a:xfrm>
              <a:off x="702246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41" name="Bug 130"/>
            <p:cNvSpPr/>
            <p:nvPr/>
          </p:nvSpPr>
          <p:spPr>
            <a:xfrm>
              <a:off x="1053370" y="3322320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42" name="Bug 131"/>
            <p:cNvSpPr/>
            <p:nvPr/>
          </p:nvSpPr>
          <p:spPr>
            <a:xfrm>
              <a:off x="1404492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43" name="Bug 132"/>
            <p:cNvSpPr/>
            <p:nvPr/>
          </p:nvSpPr>
          <p:spPr>
            <a:xfrm>
              <a:off x="1755615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44" name="Bug 133"/>
            <p:cNvSpPr/>
            <p:nvPr/>
          </p:nvSpPr>
          <p:spPr>
            <a:xfrm>
              <a:off x="2106738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45" name="Bug 134"/>
            <p:cNvSpPr/>
            <p:nvPr/>
          </p:nvSpPr>
          <p:spPr>
            <a:xfrm>
              <a:off x="2457862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46" name="Bug 135"/>
            <p:cNvSpPr/>
            <p:nvPr/>
          </p:nvSpPr>
          <p:spPr>
            <a:xfrm>
              <a:off x="2808985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47" name="Bug 136"/>
            <p:cNvSpPr/>
            <p:nvPr/>
          </p:nvSpPr>
          <p:spPr>
            <a:xfrm>
              <a:off x="3160108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48" name="Bug 137"/>
            <p:cNvSpPr/>
            <p:nvPr/>
          </p:nvSpPr>
          <p:spPr>
            <a:xfrm>
              <a:off x="3511231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49" name="Bug 138"/>
            <p:cNvSpPr/>
            <p:nvPr/>
          </p:nvSpPr>
          <p:spPr>
            <a:xfrm>
              <a:off x="3862355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50" name="Bug 139"/>
            <p:cNvSpPr/>
            <p:nvPr/>
          </p:nvSpPr>
          <p:spPr>
            <a:xfrm>
              <a:off x="4213478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51" name="Bug 140"/>
            <p:cNvSpPr/>
            <p:nvPr/>
          </p:nvSpPr>
          <p:spPr>
            <a:xfrm>
              <a:off x="4564601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52" name="Bug 141"/>
            <p:cNvSpPr/>
            <p:nvPr/>
          </p:nvSpPr>
          <p:spPr>
            <a:xfrm>
              <a:off x="4915724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53" name="Bug 142"/>
            <p:cNvSpPr/>
            <p:nvPr/>
          </p:nvSpPr>
          <p:spPr>
            <a:xfrm>
              <a:off x="5266848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54" name="Bug 143"/>
            <p:cNvSpPr/>
            <p:nvPr/>
          </p:nvSpPr>
          <p:spPr>
            <a:xfrm>
              <a:off x="5617971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55" name="Bug 144"/>
            <p:cNvSpPr/>
            <p:nvPr/>
          </p:nvSpPr>
          <p:spPr>
            <a:xfrm>
              <a:off x="5969094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56" name="Bug 145"/>
            <p:cNvSpPr/>
            <p:nvPr/>
          </p:nvSpPr>
          <p:spPr>
            <a:xfrm>
              <a:off x="6320217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57" name="Bug 146"/>
            <p:cNvSpPr/>
            <p:nvPr/>
          </p:nvSpPr>
          <p:spPr>
            <a:xfrm>
              <a:off x="6671341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58" name="Bug 147"/>
            <p:cNvSpPr/>
            <p:nvPr/>
          </p:nvSpPr>
          <p:spPr>
            <a:xfrm>
              <a:off x="7022464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0" advTm="1500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Evidence you can rerun"/>
          <p:cNvSpPr txBox="1"/>
          <p:nvPr/>
        </p:nvSpPr>
        <p:spPr>
          <a:xfrm>
            <a:off x="960119" y="685800"/>
            <a:ext cx="13319762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Evidence you can rerun</a:t>
            </a:r>
          </a:p>
        </p:txBody>
      </p:sp>
      <p:sp>
        <p:nvSpPr>
          <p:cNvPr id="264" name="Discourse: re-importing a deleted post"/>
          <p:cNvSpPr txBox="1"/>
          <p:nvPr/>
        </p:nvSpPr>
        <p:spPr>
          <a:xfrm>
            <a:off x="1017269" y="2047875"/>
            <a:ext cx="13243562" cy="624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Discourse: re-importing a deleted post</a:t>
            </a:r>
          </a:p>
        </p:txBody>
      </p:sp>
      <p:sp>
        <p:nvSpPr>
          <p:cNvPr id="265" name="Before fix"/>
          <p:cNvSpPr txBox="1"/>
          <p:nvPr/>
        </p:nvSpPr>
        <p:spPr>
          <a:xfrm>
            <a:off x="1474469" y="3743325"/>
            <a:ext cx="5337811" cy="6494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8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Before fix</a:t>
            </a:r>
          </a:p>
        </p:txBody>
      </p:sp>
      <p:sp>
        <p:nvSpPr>
          <p:cNvPr id="266" name="After fix"/>
          <p:cNvSpPr txBox="1"/>
          <p:nvPr/>
        </p:nvSpPr>
        <p:spPr>
          <a:xfrm>
            <a:off x="8980169" y="3743325"/>
            <a:ext cx="5242561" cy="6494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8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After fix</a:t>
            </a:r>
          </a:p>
        </p:txBody>
      </p:sp>
      <p:sp>
        <p:nvSpPr>
          <p:cNvPr id="267" name="FAIL"/>
          <p:cNvSpPr txBox="1"/>
          <p:nvPr/>
        </p:nvSpPr>
        <p:spPr>
          <a:xfrm>
            <a:off x="1322069" y="4657725"/>
            <a:ext cx="6004561" cy="1938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200">
                <a:solidFill>
                  <a:srgbClr val="DD89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FAIL</a:t>
            </a:r>
          </a:p>
        </p:txBody>
      </p:sp>
      <p:sp>
        <p:nvSpPr>
          <p:cNvPr id="268" name="PASS"/>
          <p:cNvSpPr txBox="1"/>
          <p:nvPr/>
        </p:nvSpPr>
        <p:spPr>
          <a:xfrm>
            <a:off x="8799194" y="4657725"/>
            <a:ext cx="6099811" cy="1938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200">
                <a:solidFill>
                  <a:srgbClr val="9FC9B2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PASS</a:t>
            </a:r>
          </a:p>
        </p:txBody>
      </p:sp>
      <p:sp>
        <p:nvSpPr>
          <p:cNvPr id="269" name="Line"/>
          <p:cNvSpPr/>
          <p:nvPr/>
        </p:nvSpPr>
        <p:spPr>
          <a:xfrm>
            <a:off x="6000750" y="5591175"/>
            <a:ext cx="2000250" cy="0"/>
          </a:xfrm>
          <a:prstGeom prst="line">
            <a:avLst/>
          </a:prstGeom>
          <a:ln w="47625">
            <a:solidFill>
              <a:srgbClr val="92938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70" name="Triangle"/>
          <p:cNvSpPr/>
          <p:nvPr/>
        </p:nvSpPr>
        <p:spPr>
          <a:xfrm>
            <a:off x="7848600" y="5514975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92938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71" name="Isolated reproduction, verified defect 4-D14"/>
          <p:cNvSpPr txBox="1"/>
          <p:nvPr/>
        </p:nvSpPr>
        <p:spPr>
          <a:xfrm>
            <a:off x="1055369" y="7410450"/>
            <a:ext cx="12957811" cy="488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6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Isolated reproduction, verified defect 4-D14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Inside a review harness"/>
          <p:cNvSpPr txBox="1"/>
          <p:nvPr/>
        </p:nvSpPr>
        <p:spPr>
          <a:xfrm>
            <a:off x="960119" y="685800"/>
            <a:ext cx="13319762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Inside a review harness</a:t>
            </a:r>
          </a:p>
        </p:txBody>
      </p:sp>
      <p:sp>
        <p:nvSpPr>
          <p:cNvPr id="276" name="One prompt"/>
          <p:cNvSpPr txBox="1"/>
          <p:nvPr/>
        </p:nvSpPr>
        <p:spPr>
          <a:xfrm>
            <a:off x="998219" y="2095500"/>
            <a:ext cx="5623561" cy="550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92938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One prompt</a:t>
            </a:r>
          </a:p>
        </p:txBody>
      </p:sp>
      <p:sp>
        <p:nvSpPr>
          <p:cNvPr id="277" name="Change"/>
          <p:cNvSpPr txBox="1"/>
          <p:nvPr/>
        </p:nvSpPr>
        <p:spPr>
          <a:xfrm>
            <a:off x="998219" y="2943225"/>
            <a:ext cx="2099312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Change</a:t>
            </a:r>
          </a:p>
        </p:txBody>
      </p:sp>
      <p:sp>
        <p:nvSpPr>
          <p:cNvPr id="278" name="Review"/>
          <p:cNvSpPr txBox="1"/>
          <p:nvPr/>
        </p:nvSpPr>
        <p:spPr>
          <a:xfrm>
            <a:off x="6998969" y="2943225"/>
            <a:ext cx="2289811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Review</a:t>
            </a:r>
          </a:p>
        </p:txBody>
      </p:sp>
      <p:sp>
        <p:nvSpPr>
          <p:cNvPr id="279" name="Findings"/>
          <p:cNvSpPr txBox="1"/>
          <p:nvPr/>
        </p:nvSpPr>
        <p:spPr>
          <a:xfrm>
            <a:off x="12475844" y="2943225"/>
            <a:ext cx="2289811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Findings</a:t>
            </a:r>
          </a:p>
        </p:txBody>
      </p:sp>
      <p:sp>
        <p:nvSpPr>
          <p:cNvPr id="280" name="Line"/>
          <p:cNvSpPr/>
          <p:nvPr/>
        </p:nvSpPr>
        <p:spPr>
          <a:xfrm>
            <a:off x="3162300" y="3286125"/>
            <a:ext cx="3390900" cy="0"/>
          </a:xfrm>
          <a:prstGeom prst="line">
            <a:avLst/>
          </a:prstGeom>
          <a:ln w="38100">
            <a:solidFill>
              <a:srgbClr val="92938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81" name="Triangle"/>
          <p:cNvSpPr/>
          <p:nvPr/>
        </p:nvSpPr>
        <p:spPr>
          <a:xfrm>
            <a:off x="6400800" y="3209925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92938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82" name="Line"/>
          <p:cNvSpPr/>
          <p:nvPr/>
        </p:nvSpPr>
        <p:spPr>
          <a:xfrm>
            <a:off x="9124950" y="3286125"/>
            <a:ext cx="2857500" cy="0"/>
          </a:xfrm>
          <a:prstGeom prst="line">
            <a:avLst/>
          </a:prstGeom>
          <a:ln w="38100">
            <a:solidFill>
              <a:srgbClr val="92938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83" name="Triangle"/>
          <p:cNvSpPr/>
          <p:nvPr/>
        </p:nvSpPr>
        <p:spPr>
          <a:xfrm>
            <a:off x="11830050" y="3209925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92938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84" name="A harness"/>
          <p:cNvSpPr txBox="1"/>
          <p:nvPr/>
        </p:nvSpPr>
        <p:spPr>
          <a:xfrm>
            <a:off x="998219" y="4495800"/>
            <a:ext cx="4194811" cy="550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 harness</a:t>
            </a:r>
          </a:p>
        </p:txBody>
      </p:sp>
      <p:sp>
        <p:nvSpPr>
          <p:cNvPr id="285" name="Focused reviews"/>
          <p:cNvSpPr txBox="1"/>
          <p:nvPr/>
        </p:nvSpPr>
        <p:spPr>
          <a:xfrm>
            <a:off x="5617845" y="4495800"/>
            <a:ext cx="6004560" cy="550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Focused reviews</a:t>
            </a:r>
          </a:p>
        </p:txBody>
      </p:sp>
      <p:sp>
        <p:nvSpPr>
          <p:cNvPr id="286" name="Change"/>
          <p:cNvSpPr txBox="1"/>
          <p:nvPr/>
        </p:nvSpPr>
        <p:spPr>
          <a:xfrm>
            <a:off x="998219" y="6076950"/>
            <a:ext cx="2099312" cy="599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4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Change</a:t>
            </a:r>
          </a:p>
        </p:txBody>
      </p:sp>
      <p:sp>
        <p:nvSpPr>
          <p:cNvPr id="287" name="Checks"/>
          <p:cNvSpPr txBox="1"/>
          <p:nvPr/>
        </p:nvSpPr>
        <p:spPr>
          <a:xfrm>
            <a:off x="3379470" y="6076950"/>
            <a:ext cx="1908811" cy="599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4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Checks</a:t>
            </a:r>
          </a:p>
        </p:txBody>
      </p:sp>
      <p:sp>
        <p:nvSpPr>
          <p:cNvPr id="288" name="Combine"/>
          <p:cNvSpPr txBox="1"/>
          <p:nvPr/>
        </p:nvSpPr>
        <p:spPr>
          <a:xfrm>
            <a:off x="9761219" y="6076950"/>
            <a:ext cx="2289811" cy="599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4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Combine</a:t>
            </a:r>
          </a:p>
        </p:txBody>
      </p:sp>
      <p:sp>
        <p:nvSpPr>
          <p:cNvPr id="289" name="Findings"/>
          <p:cNvSpPr txBox="1"/>
          <p:nvPr/>
        </p:nvSpPr>
        <p:spPr>
          <a:xfrm>
            <a:off x="12475844" y="6076950"/>
            <a:ext cx="2289811" cy="599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4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Findings</a:t>
            </a:r>
          </a:p>
        </p:txBody>
      </p:sp>
      <p:sp>
        <p:nvSpPr>
          <p:cNvPr id="290" name="Line"/>
          <p:cNvSpPr/>
          <p:nvPr/>
        </p:nvSpPr>
        <p:spPr>
          <a:xfrm>
            <a:off x="2762250" y="6419850"/>
            <a:ext cx="342900" cy="0"/>
          </a:xfrm>
          <a:prstGeom prst="line">
            <a:avLst/>
          </a:prstGeom>
          <a:ln w="38100">
            <a:solidFill>
              <a:srgbClr val="92938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91" name="Triangle"/>
          <p:cNvSpPr/>
          <p:nvPr/>
        </p:nvSpPr>
        <p:spPr>
          <a:xfrm>
            <a:off x="2952750" y="6343650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92938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92" name="Line"/>
          <p:cNvSpPr/>
          <p:nvPr/>
        </p:nvSpPr>
        <p:spPr>
          <a:xfrm>
            <a:off x="5162550" y="6419850"/>
            <a:ext cx="266700" cy="0"/>
          </a:xfrm>
          <a:prstGeom prst="line">
            <a:avLst/>
          </a:prstGeom>
          <a:ln w="38100">
            <a:solidFill>
              <a:srgbClr val="F17A4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93" name="Line"/>
          <p:cNvSpPr/>
          <p:nvPr/>
        </p:nvSpPr>
        <p:spPr>
          <a:xfrm>
            <a:off x="5429250" y="5638800"/>
            <a:ext cx="209550" cy="15621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ln w="38100">
            <a:solidFill>
              <a:srgbClr val="F17A4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94" name="Line"/>
          <p:cNvSpPr/>
          <p:nvPr/>
        </p:nvSpPr>
        <p:spPr>
          <a:xfrm>
            <a:off x="5429250" y="6419850"/>
            <a:ext cx="209550" cy="0"/>
          </a:xfrm>
          <a:prstGeom prst="line">
            <a:avLst/>
          </a:prstGeom>
          <a:ln w="38100">
            <a:solidFill>
              <a:srgbClr val="F17A4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95" name="Security"/>
          <p:cNvSpPr txBox="1"/>
          <p:nvPr/>
        </p:nvSpPr>
        <p:spPr>
          <a:xfrm>
            <a:off x="5855970" y="5324475"/>
            <a:ext cx="3147061" cy="587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Security</a:t>
            </a:r>
          </a:p>
        </p:txBody>
      </p:sp>
      <p:sp>
        <p:nvSpPr>
          <p:cNvPr id="296" name="Architecture"/>
          <p:cNvSpPr txBox="1"/>
          <p:nvPr/>
        </p:nvSpPr>
        <p:spPr>
          <a:xfrm>
            <a:off x="5855970" y="6105525"/>
            <a:ext cx="3147061" cy="587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Architecture</a:t>
            </a:r>
          </a:p>
        </p:txBody>
      </p:sp>
      <p:sp>
        <p:nvSpPr>
          <p:cNvPr id="297" name="Tests"/>
          <p:cNvSpPr txBox="1"/>
          <p:nvPr/>
        </p:nvSpPr>
        <p:spPr>
          <a:xfrm>
            <a:off x="5855970" y="6886575"/>
            <a:ext cx="3147061" cy="587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Tests</a:t>
            </a:r>
          </a:p>
        </p:txBody>
      </p:sp>
      <p:sp>
        <p:nvSpPr>
          <p:cNvPr id="298" name="Line"/>
          <p:cNvSpPr/>
          <p:nvPr/>
        </p:nvSpPr>
        <p:spPr>
          <a:xfrm>
            <a:off x="8915400" y="5638800"/>
            <a:ext cx="323850" cy="15621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ln w="38100">
            <a:solidFill>
              <a:srgbClr val="F17A4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99" name="Line"/>
          <p:cNvSpPr/>
          <p:nvPr/>
        </p:nvSpPr>
        <p:spPr>
          <a:xfrm>
            <a:off x="8915400" y="6419850"/>
            <a:ext cx="323850" cy="0"/>
          </a:xfrm>
          <a:prstGeom prst="line">
            <a:avLst/>
          </a:prstGeom>
          <a:ln w="38100">
            <a:solidFill>
              <a:srgbClr val="F17A4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00" name="Line"/>
          <p:cNvSpPr/>
          <p:nvPr/>
        </p:nvSpPr>
        <p:spPr>
          <a:xfrm>
            <a:off x="9239250" y="6419850"/>
            <a:ext cx="285750" cy="0"/>
          </a:xfrm>
          <a:prstGeom prst="line">
            <a:avLst/>
          </a:prstGeom>
          <a:ln w="38100">
            <a:solidFill>
              <a:srgbClr val="F17A4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01" name="Triangle"/>
          <p:cNvSpPr/>
          <p:nvPr/>
        </p:nvSpPr>
        <p:spPr>
          <a:xfrm>
            <a:off x="9372600" y="6343650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F17A43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02" name="Line"/>
          <p:cNvSpPr/>
          <p:nvPr/>
        </p:nvSpPr>
        <p:spPr>
          <a:xfrm>
            <a:off x="11830050" y="6419850"/>
            <a:ext cx="342900" cy="0"/>
          </a:xfrm>
          <a:prstGeom prst="line">
            <a:avLst/>
          </a:prstGeom>
          <a:ln w="38100">
            <a:solidFill>
              <a:srgbClr val="92938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03" name="Triangle"/>
          <p:cNvSpPr/>
          <p:nvPr/>
        </p:nvSpPr>
        <p:spPr>
          <a:xfrm>
            <a:off x="12020550" y="6343650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92938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04" name="…"/>
          <p:cNvSpPr txBox="1"/>
          <p:nvPr/>
        </p:nvSpPr>
        <p:spPr>
          <a:xfrm>
            <a:off x="7027544" y="7600950"/>
            <a:ext cx="1242061" cy="575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300">
                <a:solidFill>
                  <a:srgbClr val="92938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…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he harness found more"/>
          <p:cNvSpPr txBox="1"/>
          <p:nvPr/>
        </p:nvSpPr>
        <p:spPr>
          <a:xfrm>
            <a:off x="960119" y="685800"/>
            <a:ext cx="13319762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The harness found more</a:t>
            </a:r>
          </a:p>
        </p:txBody>
      </p:sp>
      <p:sp>
        <p:nvSpPr>
          <p:cNvPr id="309" name="39"/>
          <p:cNvSpPr txBox="1"/>
          <p:nvPr/>
        </p:nvSpPr>
        <p:spPr>
          <a:xfrm>
            <a:off x="826769" y="2266950"/>
            <a:ext cx="6147436" cy="3091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98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39</a:t>
            </a:r>
          </a:p>
        </p:txBody>
      </p:sp>
      <p:sp>
        <p:nvSpPr>
          <p:cNvPr id="310" name="of 42"/>
          <p:cNvSpPr txBox="1"/>
          <p:nvPr/>
        </p:nvSpPr>
        <p:spPr>
          <a:xfrm>
            <a:off x="1026794" y="5305425"/>
            <a:ext cx="5242561" cy="1231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7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of 42</a:t>
            </a:r>
          </a:p>
        </p:txBody>
      </p:sp>
      <p:sp>
        <p:nvSpPr>
          <p:cNvPr id="311" name="matched comparisons"/>
          <p:cNvSpPr txBox="1"/>
          <p:nvPr/>
        </p:nvSpPr>
        <p:spPr>
          <a:xfrm>
            <a:off x="1045844" y="7010400"/>
            <a:ext cx="7147561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matched comparisons</a:t>
            </a:r>
          </a:p>
        </p:txBody>
      </p:sp>
      <p:graphicFrame>
        <p:nvGraphicFramePr>
          <p:cNvPr id="312" name="Chart"/>
          <p:cNvGraphicFramePr/>
          <p:nvPr/>
        </p:nvGraphicFramePr>
        <p:xfrm>
          <a:off x="7742872" y="2578480"/>
          <a:ext cx="6474778" cy="4420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xmlns:p14="http://schemas.microsoft.com/office/powerpoint/2010/main" spd="med" advClick="0" advTm="1500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image.png" descr="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048" y="0"/>
            <a:ext cx="15231903" cy="8572500"/>
          </a:xfrm>
          <a:prstGeom prst="rect">
            <a:avLst/>
          </a:prstGeom>
          <a:ln w="12700">
            <a:miter lim="400000"/>
          </a:ln>
        </p:spPr>
      </p:pic>
      <p:sp>
        <p:nvSpPr>
          <p:cNvPr id="317" name="≈10×"/>
          <p:cNvSpPr txBox="1"/>
          <p:nvPr/>
        </p:nvSpPr>
        <p:spPr>
          <a:xfrm>
            <a:off x="893444" y="2400300"/>
            <a:ext cx="7147561" cy="24720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7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≈10×</a:t>
            </a:r>
          </a:p>
        </p:txBody>
      </p:sp>
      <p:sp>
        <p:nvSpPr>
          <p:cNvPr id="318" name="the tokens"/>
          <p:cNvSpPr txBox="1"/>
          <p:nvPr/>
        </p:nvSpPr>
        <p:spPr>
          <a:xfrm>
            <a:off x="1017269" y="5029200"/>
            <a:ext cx="6861811" cy="1132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9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the tokens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image.png" descr="image.png"/>
          <p:cNvPicPr>
            <a:picLocks noChangeAspect="1"/>
          </p:cNvPicPr>
          <p:nvPr/>
        </p:nvPicPr>
        <p:blipFill>
          <a:blip r:embed="rId3">
            <a:extLst/>
          </a:blip>
          <a:srcRect l="0" t="26" r="0" b="26"/>
          <a:stretch>
            <a:fillRect/>
          </a:stretch>
        </p:blipFill>
        <p:spPr>
          <a:xfrm>
            <a:off x="0" y="0"/>
            <a:ext cx="15240000" cy="8572501"/>
          </a:xfrm>
          <a:prstGeom prst="rect">
            <a:avLst/>
          </a:prstGeom>
          <a:ln w="12700">
            <a:miter lim="400000"/>
          </a:ln>
        </p:spPr>
      </p:pic>
      <p:sp>
        <p:nvSpPr>
          <p:cNvPr id="323" name="More…"/>
          <p:cNvSpPr txBox="1"/>
          <p:nvPr/>
        </p:nvSpPr>
        <p:spPr>
          <a:xfrm>
            <a:off x="960119" y="2571750"/>
            <a:ext cx="6718936" cy="2877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90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More</a:t>
            </a:r>
          </a:p>
          <a:p>
            <a:pPr>
              <a:defRPr b="1" sz="90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thinking?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Often, no clear difference"/>
          <p:cNvSpPr txBox="1"/>
          <p:nvPr/>
        </p:nvSpPr>
        <p:spPr>
          <a:xfrm>
            <a:off x="960119" y="685800"/>
            <a:ext cx="13319762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Often, no clear difference</a:t>
            </a:r>
          </a:p>
        </p:txBody>
      </p:sp>
      <p:sp>
        <p:nvSpPr>
          <p:cNvPr id="328" name="High vs. medium reasoning, original benchmark F1"/>
          <p:cNvSpPr txBox="1"/>
          <p:nvPr/>
        </p:nvSpPr>
        <p:spPr>
          <a:xfrm>
            <a:off x="1017269" y="1952625"/>
            <a:ext cx="13243562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High vs. medium reasoning, original benchmark F1</a:t>
            </a:r>
          </a:p>
        </p:txBody>
      </p:sp>
      <p:sp>
        <p:nvSpPr>
          <p:cNvPr id="329" name="Unresolved"/>
          <p:cNvSpPr txBox="1"/>
          <p:nvPr/>
        </p:nvSpPr>
        <p:spPr>
          <a:xfrm>
            <a:off x="1017269" y="3324225"/>
            <a:ext cx="4432936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Unresolved</a:t>
            </a:r>
          </a:p>
        </p:txBody>
      </p:sp>
      <p:graphicFrame>
        <p:nvGraphicFramePr>
          <p:cNvPr id="330" name="Chart"/>
          <p:cNvGraphicFramePr/>
          <p:nvPr/>
        </p:nvGraphicFramePr>
        <p:xfrm>
          <a:off x="5647372" y="3111880"/>
          <a:ext cx="6141403" cy="991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31" name="17"/>
          <p:cNvSpPr txBox="1"/>
          <p:nvPr/>
        </p:nvSpPr>
        <p:spPr>
          <a:xfrm>
            <a:off x="12332969" y="3209925"/>
            <a:ext cx="2099311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332" name="High better"/>
          <p:cNvSpPr txBox="1"/>
          <p:nvPr/>
        </p:nvSpPr>
        <p:spPr>
          <a:xfrm>
            <a:off x="1017269" y="4819650"/>
            <a:ext cx="4432936" cy="624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High better</a:t>
            </a:r>
          </a:p>
        </p:txBody>
      </p:sp>
      <p:graphicFrame>
        <p:nvGraphicFramePr>
          <p:cNvPr id="333" name="Chart"/>
          <p:cNvGraphicFramePr/>
          <p:nvPr/>
        </p:nvGraphicFramePr>
        <p:xfrm>
          <a:off x="5647372" y="4607305"/>
          <a:ext cx="6141403" cy="991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34" name="4"/>
          <p:cNvSpPr txBox="1"/>
          <p:nvPr/>
        </p:nvSpPr>
        <p:spPr>
          <a:xfrm>
            <a:off x="12332969" y="4705350"/>
            <a:ext cx="2099311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35" name="Medium better"/>
          <p:cNvSpPr txBox="1"/>
          <p:nvPr/>
        </p:nvSpPr>
        <p:spPr>
          <a:xfrm>
            <a:off x="1017269" y="6315075"/>
            <a:ext cx="4432936" cy="624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Medium better</a:t>
            </a:r>
          </a:p>
        </p:txBody>
      </p:sp>
      <p:graphicFrame>
        <p:nvGraphicFramePr>
          <p:cNvPr id="336" name="Chart"/>
          <p:cNvGraphicFramePr/>
          <p:nvPr/>
        </p:nvGraphicFramePr>
        <p:xfrm>
          <a:off x="5647372" y="6102730"/>
          <a:ext cx="6141403" cy="991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7" name="1"/>
          <p:cNvSpPr txBox="1"/>
          <p:nvPr/>
        </p:nvSpPr>
        <p:spPr>
          <a:xfrm>
            <a:off x="12332969" y="6200775"/>
            <a:ext cx="2099311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1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20 more bugs"/>
          <p:cNvSpPr txBox="1"/>
          <p:nvPr/>
        </p:nvSpPr>
        <p:spPr>
          <a:xfrm>
            <a:off x="960119" y="685800"/>
            <a:ext cx="13319762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20 more bugs</a:t>
            </a:r>
          </a:p>
        </p:txBody>
      </p:sp>
      <p:sp>
        <p:nvSpPr>
          <p:cNvPr id="342" name="Verified bugs across the same six PRs, out of 147"/>
          <p:cNvSpPr txBox="1"/>
          <p:nvPr/>
        </p:nvSpPr>
        <p:spPr>
          <a:xfrm>
            <a:off x="1017269" y="1952625"/>
            <a:ext cx="13224512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Verified bugs across the same six PRs, out of 147</a:t>
            </a:r>
          </a:p>
        </p:txBody>
      </p:sp>
      <p:sp>
        <p:nvSpPr>
          <p:cNvPr id="343" name="Fable 5.1"/>
          <p:cNvSpPr txBox="1"/>
          <p:nvPr/>
        </p:nvSpPr>
        <p:spPr>
          <a:xfrm>
            <a:off x="1007744" y="3067050"/>
            <a:ext cx="4432936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Fable 5.1</a:t>
            </a:r>
          </a:p>
        </p:txBody>
      </p:sp>
      <p:sp>
        <p:nvSpPr>
          <p:cNvPr id="344" name="Single prompt"/>
          <p:cNvSpPr txBox="1"/>
          <p:nvPr/>
        </p:nvSpPr>
        <p:spPr>
          <a:xfrm>
            <a:off x="1045844" y="37147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Single prompt</a:t>
            </a:r>
          </a:p>
        </p:txBody>
      </p:sp>
      <p:sp>
        <p:nvSpPr>
          <p:cNvPr id="345" name="High reasoning"/>
          <p:cNvSpPr txBox="1"/>
          <p:nvPr/>
        </p:nvSpPr>
        <p:spPr>
          <a:xfrm>
            <a:off x="1045844" y="41719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High reasoning</a:t>
            </a:r>
          </a:p>
        </p:txBody>
      </p:sp>
      <p:graphicFrame>
        <p:nvGraphicFramePr>
          <p:cNvPr id="346" name="Chart"/>
          <p:cNvGraphicFramePr/>
          <p:nvPr/>
        </p:nvGraphicFramePr>
        <p:xfrm>
          <a:off x="5647372" y="3350005"/>
          <a:ext cx="6141403" cy="991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47" name="51"/>
          <p:cNvSpPr txBox="1"/>
          <p:nvPr/>
        </p:nvSpPr>
        <p:spPr>
          <a:xfrm>
            <a:off x="11799569" y="3362325"/>
            <a:ext cx="2651761" cy="1046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3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51</a:t>
            </a:r>
          </a:p>
        </p:txBody>
      </p:sp>
      <p:sp>
        <p:nvSpPr>
          <p:cNvPr id="348" name="GLM 5.3 Flash"/>
          <p:cNvSpPr txBox="1"/>
          <p:nvPr/>
        </p:nvSpPr>
        <p:spPr>
          <a:xfrm>
            <a:off x="1007744" y="5619750"/>
            <a:ext cx="4432936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GLM 5.3 Flash</a:t>
            </a:r>
          </a:p>
        </p:txBody>
      </p:sp>
      <p:sp>
        <p:nvSpPr>
          <p:cNvPr id="349" name="Harness"/>
          <p:cNvSpPr txBox="1"/>
          <p:nvPr/>
        </p:nvSpPr>
        <p:spPr>
          <a:xfrm>
            <a:off x="1045844" y="62674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Harness</a:t>
            </a:r>
          </a:p>
        </p:txBody>
      </p:sp>
      <p:sp>
        <p:nvSpPr>
          <p:cNvPr id="350" name="Low reasoning"/>
          <p:cNvSpPr txBox="1"/>
          <p:nvPr/>
        </p:nvSpPr>
        <p:spPr>
          <a:xfrm>
            <a:off x="1045844" y="67246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Low reasoning</a:t>
            </a:r>
          </a:p>
        </p:txBody>
      </p:sp>
      <p:graphicFrame>
        <p:nvGraphicFramePr>
          <p:cNvPr id="351" name="Chart"/>
          <p:cNvGraphicFramePr/>
          <p:nvPr/>
        </p:nvGraphicFramePr>
        <p:xfrm>
          <a:off x="5647372" y="5902705"/>
          <a:ext cx="6141403" cy="991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52" name="71"/>
          <p:cNvSpPr txBox="1"/>
          <p:nvPr/>
        </p:nvSpPr>
        <p:spPr>
          <a:xfrm>
            <a:off x="11799569" y="5915025"/>
            <a:ext cx="2651761" cy="1046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3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71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1/55 the API cost"/>
          <p:cNvSpPr txBox="1"/>
          <p:nvPr/>
        </p:nvSpPr>
        <p:spPr>
          <a:xfrm>
            <a:off x="960119" y="685800"/>
            <a:ext cx="13319762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1/55 the API cost</a:t>
            </a:r>
          </a:p>
        </p:txBody>
      </p:sp>
      <p:sp>
        <p:nvSpPr>
          <p:cNvPr id="357" name="Mean API cost per review, at study list prices"/>
          <p:cNvSpPr txBox="1"/>
          <p:nvPr/>
        </p:nvSpPr>
        <p:spPr>
          <a:xfrm>
            <a:off x="1017269" y="1952625"/>
            <a:ext cx="13224512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Mean API cost per review, at study list prices</a:t>
            </a:r>
          </a:p>
        </p:txBody>
      </p:sp>
      <p:sp>
        <p:nvSpPr>
          <p:cNvPr id="358" name="Fable 5.1"/>
          <p:cNvSpPr txBox="1"/>
          <p:nvPr/>
        </p:nvSpPr>
        <p:spPr>
          <a:xfrm>
            <a:off x="1007744" y="3067050"/>
            <a:ext cx="4432936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Fable 5.1</a:t>
            </a:r>
          </a:p>
        </p:txBody>
      </p:sp>
      <p:sp>
        <p:nvSpPr>
          <p:cNvPr id="359" name="Single prompt"/>
          <p:cNvSpPr txBox="1"/>
          <p:nvPr/>
        </p:nvSpPr>
        <p:spPr>
          <a:xfrm>
            <a:off x="1045844" y="37147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Single prompt</a:t>
            </a:r>
          </a:p>
        </p:txBody>
      </p:sp>
      <p:sp>
        <p:nvSpPr>
          <p:cNvPr id="360" name="High reasoning"/>
          <p:cNvSpPr txBox="1"/>
          <p:nvPr/>
        </p:nvSpPr>
        <p:spPr>
          <a:xfrm>
            <a:off x="1045844" y="41719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High reasoning</a:t>
            </a:r>
          </a:p>
        </p:txBody>
      </p:sp>
      <p:graphicFrame>
        <p:nvGraphicFramePr>
          <p:cNvPr id="361" name="Chart"/>
          <p:cNvGraphicFramePr/>
          <p:nvPr/>
        </p:nvGraphicFramePr>
        <p:xfrm>
          <a:off x="5647372" y="3350005"/>
          <a:ext cx="6141403" cy="991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62" name="$1.30"/>
          <p:cNvSpPr txBox="1"/>
          <p:nvPr/>
        </p:nvSpPr>
        <p:spPr>
          <a:xfrm>
            <a:off x="11799569" y="3362325"/>
            <a:ext cx="2651761" cy="1046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3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$1.30</a:t>
            </a:r>
          </a:p>
        </p:txBody>
      </p:sp>
      <p:sp>
        <p:nvSpPr>
          <p:cNvPr id="363" name="GLM 5.3 Flash"/>
          <p:cNvSpPr txBox="1"/>
          <p:nvPr/>
        </p:nvSpPr>
        <p:spPr>
          <a:xfrm>
            <a:off x="1007744" y="5619750"/>
            <a:ext cx="4432936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GLM 5.3 Flash</a:t>
            </a:r>
          </a:p>
        </p:txBody>
      </p:sp>
      <p:sp>
        <p:nvSpPr>
          <p:cNvPr id="364" name="Harness"/>
          <p:cNvSpPr txBox="1"/>
          <p:nvPr/>
        </p:nvSpPr>
        <p:spPr>
          <a:xfrm>
            <a:off x="1045844" y="62674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Harness</a:t>
            </a:r>
          </a:p>
        </p:txBody>
      </p:sp>
      <p:sp>
        <p:nvSpPr>
          <p:cNvPr id="365" name="Low reasoning"/>
          <p:cNvSpPr txBox="1"/>
          <p:nvPr/>
        </p:nvSpPr>
        <p:spPr>
          <a:xfrm>
            <a:off x="1045844" y="67246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Low reasoning</a:t>
            </a:r>
          </a:p>
        </p:txBody>
      </p:sp>
      <p:graphicFrame>
        <p:nvGraphicFramePr>
          <p:cNvPr id="366" name="Chart"/>
          <p:cNvGraphicFramePr/>
          <p:nvPr/>
        </p:nvGraphicFramePr>
        <p:xfrm>
          <a:off x="5647372" y="5902705"/>
          <a:ext cx="6141403" cy="991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67" name="$0.024"/>
          <p:cNvSpPr txBox="1"/>
          <p:nvPr/>
        </p:nvSpPr>
        <p:spPr>
          <a:xfrm>
            <a:off x="11799569" y="5915025"/>
            <a:ext cx="2651761" cy="1046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3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$0.024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Nearly twice as fast"/>
          <p:cNvSpPr txBox="1"/>
          <p:nvPr/>
        </p:nvSpPr>
        <p:spPr>
          <a:xfrm>
            <a:off x="960119" y="685800"/>
            <a:ext cx="13319762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Nearly twice as fast</a:t>
            </a:r>
          </a:p>
        </p:txBody>
      </p:sp>
      <p:sp>
        <p:nvSpPr>
          <p:cNvPr id="372" name="Mean elapsed time per review"/>
          <p:cNvSpPr txBox="1"/>
          <p:nvPr/>
        </p:nvSpPr>
        <p:spPr>
          <a:xfrm>
            <a:off x="1017269" y="1952625"/>
            <a:ext cx="13224512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Mean elapsed time per review</a:t>
            </a:r>
          </a:p>
        </p:txBody>
      </p:sp>
      <p:sp>
        <p:nvSpPr>
          <p:cNvPr id="373" name="Fable 5.1"/>
          <p:cNvSpPr txBox="1"/>
          <p:nvPr/>
        </p:nvSpPr>
        <p:spPr>
          <a:xfrm>
            <a:off x="1007744" y="3067050"/>
            <a:ext cx="4432936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Fable 5.1</a:t>
            </a:r>
          </a:p>
        </p:txBody>
      </p:sp>
      <p:sp>
        <p:nvSpPr>
          <p:cNvPr id="374" name="Single prompt"/>
          <p:cNvSpPr txBox="1"/>
          <p:nvPr/>
        </p:nvSpPr>
        <p:spPr>
          <a:xfrm>
            <a:off x="1045844" y="37147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Single prompt</a:t>
            </a:r>
          </a:p>
        </p:txBody>
      </p:sp>
      <p:sp>
        <p:nvSpPr>
          <p:cNvPr id="375" name="High reasoning"/>
          <p:cNvSpPr txBox="1"/>
          <p:nvPr/>
        </p:nvSpPr>
        <p:spPr>
          <a:xfrm>
            <a:off x="1045844" y="41719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High reasoning</a:t>
            </a:r>
          </a:p>
        </p:txBody>
      </p:sp>
      <p:graphicFrame>
        <p:nvGraphicFramePr>
          <p:cNvPr id="376" name="Chart"/>
          <p:cNvGraphicFramePr/>
          <p:nvPr/>
        </p:nvGraphicFramePr>
        <p:xfrm>
          <a:off x="5647372" y="3350005"/>
          <a:ext cx="6141403" cy="991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77" name="148s"/>
          <p:cNvSpPr txBox="1"/>
          <p:nvPr/>
        </p:nvSpPr>
        <p:spPr>
          <a:xfrm>
            <a:off x="11799569" y="3362325"/>
            <a:ext cx="2651761" cy="1046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3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148s</a:t>
            </a:r>
          </a:p>
        </p:txBody>
      </p:sp>
      <p:sp>
        <p:nvSpPr>
          <p:cNvPr id="378" name="GLM 5.3 Flash"/>
          <p:cNvSpPr txBox="1"/>
          <p:nvPr/>
        </p:nvSpPr>
        <p:spPr>
          <a:xfrm>
            <a:off x="1007744" y="5619750"/>
            <a:ext cx="4432936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GLM 5.3 Flash</a:t>
            </a:r>
          </a:p>
        </p:txBody>
      </p:sp>
      <p:sp>
        <p:nvSpPr>
          <p:cNvPr id="379" name="Harness"/>
          <p:cNvSpPr txBox="1"/>
          <p:nvPr/>
        </p:nvSpPr>
        <p:spPr>
          <a:xfrm>
            <a:off x="1045844" y="62674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Harness</a:t>
            </a:r>
          </a:p>
        </p:txBody>
      </p:sp>
      <p:sp>
        <p:nvSpPr>
          <p:cNvPr id="380" name="Low reasoning"/>
          <p:cNvSpPr txBox="1"/>
          <p:nvPr/>
        </p:nvSpPr>
        <p:spPr>
          <a:xfrm>
            <a:off x="1045844" y="67246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Low reasoning</a:t>
            </a:r>
          </a:p>
        </p:txBody>
      </p:sp>
      <p:graphicFrame>
        <p:nvGraphicFramePr>
          <p:cNvPr id="381" name="Chart"/>
          <p:cNvGraphicFramePr/>
          <p:nvPr/>
        </p:nvGraphicFramePr>
        <p:xfrm>
          <a:off x="5647372" y="5902705"/>
          <a:ext cx="6141403" cy="991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82" name="79s"/>
          <p:cNvSpPr txBox="1"/>
          <p:nvPr/>
        </p:nvSpPr>
        <p:spPr>
          <a:xfrm>
            <a:off x="11799569" y="5915025"/>
            <a:ext cx="2651761" cy="1046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3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79s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59"/>
          <p:cNvSpPr txBox="1"/>
          <p:nvPr/>
        </p:nvSpPr>
        <p:spPr>
          <a:xfrm>
            <a:off x="807719" y="1476375"/>
            <a:ext cx="5337811" cy="3314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13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59</a:t>
            </a:r>
          </a:p>
        </p:txBody>
      </p:sp>
      <p:sp>
        <p:nvSpPr>
          <p:cNvPr id="387" name="bugs still missed"/>
          <p:cNvSpPr txBox="1"/>
          <p:nvPr/>
        </p:nvSpPr>
        <p:spPr>
          <a:xfrm>
            <a:off x="998219" y="5067300"/>
            <a:ext cx="5718811" cy="73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3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bugs still missed</a:t>
            </a:r>
          </a:p>
        </p:txBody>
      </p:sp>
      <p:sp>
        <p:nvSpPr>
          <p:cNvPr id="388" name="Highest recall: 88 of 147 found"/>
          <p:cNvSpPr txBox="1"/>
          <p:nvPr/>
        </p:nvSpPr>
        <p:spPr>
          <a:xfrm>
            <a:off x="1036319" y="7477125"/>
            <a:ext cx="13053062" cy="562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2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Highest recall: 88 of 147 found</a:t>
            </a:r>
          </a:p>
        </p:txBody>
      </p:sp>
      <p:grpSp>
        <p:nvGrpSpPr>
          <p:cNvPr id="536" name="Bug grid for slide 14"/>
          <p:cNvGrpSpPr/>
          <p:nvPr/>
        </p:nvGrpSpPr>
        <p:grpSpPr>
          <a:xfrm>
            <a:off x="6484144" y="3156108"/>
            <a:ext cx="7274878" cy="3593784"/>
            <a:chOff x="0" y="0"/>
            <a:chExt cx="7274877" cy="3593783"/>
          </a:xfrm>
        </p:grpSpPr>
        <p:sp>
          <p:nvSpPr>
            <p:cNvPr id="389" name="Bug 1"/>
            <p:cNvSpPr/>
            <p:nvPr/>
          </p:nvSpPr>
          <p:spPr>
            <a:xfrm>
              <a:off x="0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90" name="Bug 2"/>
            <p:cNvSpPr/>
            <p:nvPr/>
          </p:nvSpPr>
          <p:spPr>
            <a:xfrm>
              <a:off x="351123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91" name="Bug 3"/>
            <p:cNvSpPr/>
            <p:nvPr/>
          </p:nvSpPr>
          <p:spPr>
            <a:xfrm>
              <a:off x="702246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92" name="Bug 4"/>
            <p:cNvSpPr/>
            <p:nvPr/>
          </p:nvSpPr>
          <p:spPr>
            <a:xfrm>
              <a:off x="1053370" y="-1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93" name="Bug 5"/>
            <p:cNvSpPr/>
            <p:nvPr/>
          </p:nvSpPr>
          <p:spPr>
            <a:xfrm>
              <a:off x="1404492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94" name="Bug 6"/>
            <p:cNvSpPr/>
            <p:nvPr/>
          </p:nvSpPr>
          <p:spPr>
            <a:xfrm>
              <a:off x="1755615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95" name="Bug 7"/>
            <p:cNvSpPr/>
            <p:nvPr/>
          </p:nvSpPr>
          <p:spPr>
            <a:xfrm>
              <a:off x="2106738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96" name="Bug 8"/>
            <p:cNvSpPr/>
            <p:nvPr/>
          </p:nvSpPr>
          <p:spPr>
            <a:xfrm>
              <a:off x="2457862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97" name="Bug 9"/>
            <p:cNvSpPr/>
            <p:nvPr/>
          </p:nvSpPr>
          <p:spPr>
            <a:xfrm>
              <a:off x="2808985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98" name="Bug 10"/>
            <p:cNvSpPr/>
            <p:nvPr/>
          </p:nvSpPr>
          <p:spPr>
            <a:xfrm>
              <a:off x="3160108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99" name="Bug 11"/>
            <p:cNvSpPr/>
            <p:nvPr/>
          </p:nvSpPr>
          <p:spPr>
            <a:xfrm>
              <a:off x="3511231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00" name="Bug 12"/>
            <p:cNvSpPr/>
            <p:nvPr/>
          </p:nvSpPr>
          <p:spPr>
            <a:xfrm>
              <a:off x="3862355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01" name="Bug 13"/>
            <p:cNvSpPr/>
            <p:nvPr/>
          </p:nvSpPr>
          <p:spPr>
            <a:xfrm>
              <a:off x="4213478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02" name="Bug 14"/>
            <p:cNvSpPr/>
            <p:nvPr/>
          </p:nvSpPr>
          <p:spPr>
            <a:xfrm>
              <a:off x="4564601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03" name="Bug 15"/>
            <p:cNvSpPr/>
            <p:nvPr/>
          </p:nvSpPr>
          <p:spPr>
            <a:xfrm>
              <a:off x="4915724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04" name="Bug 16"/>
            <p:cNvSpPr/>
            <p:nvPr/>
          </p:nvSpPr>
          <p:spPr>
            <a:xfrm>
              <a:off x="5266848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05" name="Bug 17"/>
            <p:cNvSpPr/>
            <p:nvPr/>
          </p:nvSpPr>
          <p:spPr>
            <a:xfrm>
              <a:off x="5617971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06" name="Bug 18"/>
            <p:cNvSpPr/>
            <p:nvPr/>
          </p:nvSpPr>
          <p:spPr>
            <a:xfrm>
              <a:off x="5969094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07" name="Bug 19"/>
            <p:cNvSpPr/>
            <p:nvPr/>
          </p:nvSpPr>
          <p:spPr>
            <a:xfrm>
              <a:off x="6320217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08" name="Bug 20"/>
            <p:cNvSpPr/>
            <p:nvPr/>
          </p:nvSpPr>
          <p:spPr>
            <a:xfrm>
              <a:off x="6671341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09" name="Bug 21"/>
            <p:cNvSpPr/>
            <p:nvPr/>
          </p:nvSpPr>
          <p:spPr>
            <a:xfrm>
              <a:off x="7022464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10" name="Bug 22"/>
            <p:cNvSpPr/>
            <p:nvPr/>
          </p:nvSpPr>
          <p:spPr>
            <a:xfrm>
              <a:off x="0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11" name="Bug 23"/>
            <p:cNvSpPr/>
            <p:nvPr/>
          </p:nvSpPr>
          <p:spPr>
            <a:xfrm>
              <a:off x="351123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12" name="Bug 24"/>
            <p:cNvSpPr/>
            <p:nvPr/>
          </p:nvSpPr>
          <p:spPr>
            <a:xfrm>
              <a:off x="702246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13" name="Bug 25"/>
            <p:cNvSpPr/>
            <p:nvPr/>
          </p:nvSpPr>
          <p:spPr>
            <a:xfrm>
              <a:off x="1053370" y="553719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14" name="Bug 26"/>
            <p:cNvSpPr/>
            <p:nvPr/>
          </p:nvSpPr>
          <p:spPr>
            <a:xfrm>
              <a:off x="1404492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15" name="Bug 27"/>
            <p:cNvSpPr/>
            <p:nvPr/>
          </p:nvSpPr>
          <p:spPr>
            <a:xfrm>
              <a:off x="1755615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16" name="Bug 28"/>
            <p:cNvSpPr/>
            <p:nvPr/>
          </p:nvSpPr>
          <p:spPr>
            <a:xfrm>
              <a:off x="2106738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17" name="Bug 29"/>
            <p:cNvSpPr/>
            <p:nvPr/>
          </p:nvSpPr>
          <p:spPr>
            <a:xfrm>
              <a:off x="2457862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18" name="Bug 30"/>
            <p:cNvSpPr/>
            <p:nvPr/>
          </p:nvSpPr>
          <p:spPr>
            <a:xfrm>
              <a:off x="2808985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19" name="Bug 31"/>
            <p:cNvSpPr/>
            <p:nvPr/>
          </p:nvSpPr>
          <p:spPr>
            <a:xfrm>
              <a:off x="3160108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20" name="Bug 32"/>
            <p:cNvSpPr/>
            <p:nvPr/>
          </p:nvSpPr>
          <p:spPr>
            <a:xfrm>
              <a:off x="3511231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21" name="Bug 33"/>
            <p:cNvSpPr/>
            <p:nvPr/>
          </p:nvSpPr>
          <p:spPr>
            <a:xfrm>
              <a:off x="3862355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22" name="Bug 34"/>
            <p:cNvSpPr/>
            <p:nvPr/>
          </p:nvSpPr>
          <p:spPr>
            <a:xfrm>
              <a:off x="4213478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23" name="Bug 35"/>
            <p:cNvSpPr/>
            <p:nvPr/>
          </p:nvSpPr>
          <p:spPr>
            <a:xfrm>
              <a:off x="4564601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24" name="Bug 36"/>
            <p:cNvSpPr/>
            <p:nvPr/>
          </p:nvSpPr>
          <p:spPr>
            <a:xfrm>
              <a:off x="4915724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25" name="Bug 37"/>
            <p:cNvSpPr/>
            <p:nvPr/>
          </p:nvSpPr>
          <p:spPr>
            <a:xfrm>
              <a:off x="5266848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26" name="Bug 38"/>
            <p:cNvSpPr/>
            <p:nvPr/>
          </p:nvSpPr>
          <p:spPr>
            <a:xfrm>
              <a:off x="5617971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27" name="Bug 39"/>
            <p:cNvSpPr/>
            <p:nvPr/>
          </p:nvSpPr>
          <p:spPr>
            <a:xfrm>
              <a:off x="5969094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28" name="Bug 40"/>
            <p:cNvSpPr/>
            <p:nvPr/>
          </p:nvSpPr>
          <p:spPr>
            <a:xfrm>
              <a:off x="6320217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29" name="Bug 41"/>
            <p:cNvSpPr/>
            <p:nvPr/>
          </p:nvSpPr>
          <p:spPr>
            <a:xfrm>
              <a:off x="6671341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30" name="Bug 42"/>
            <p:cNvSpPr/>
            <p:nvPr/>
          </p:nvSpPr>
          <p:spPr>
            <a:xfrm>
              <a:off x="7022464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31" name="Bug 43"/>
            <p:cNvSpPr/>
            <p:nvPr/>
          </p:nvSpPr>
          <p:spPr>
            <a:xfrm>
              <a:off x="0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32" name="Bug 44"/>
            <p:cNvSpPr/>
            <p:nvPr/>
          </p:nvSpPr>
          <p:spPr>
            <a:xfrm>
              <a:off x="351123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33" name="Bug 45"/>
            <p:cNvSpPr/>
            <p:nvPr/>
          </p:nvSpPr>
          <p:spPr>
            <a:xfrm>
              <a:off x="702246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34" name="Bug 46"/>
            <p:cNvSpPr/>
            <p:nvPr/>
          </p:nvSpPr>
          <p:spPr>
            <a:xfrm>
              <a:off x="1053370" y="1107439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35" name="Bug 47"/>
            <p:cNvSpPr/>
            <p:nvPr/>
          </p:nvSpPr>
          <p:spPr>
            <a:xfrm>
              <a:off x="1404492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36" name="Bug 48"/>
            <p:cNvSpPr/>
            <p:nvPr/>
          </p:nvSpPr>
          <p:spPr>
            <a:xfrm>
              <a:off x="1755615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37" name="Bug 49"/>
            <p:cNvSpPr/>
            <p:nvPr/>
          </p:nvSpPr>
          <p:spPr>
            <a:xfrm>
              <a:off x="2106738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38" name="Bug 50"/>
            <p:cNvSpPr/>
            <p:nvPr/>
          </p:nvSpPr>
          <p:spPr>
            <a:xfrm>
              <a:off x="2457862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39" name="Bug 51"/>
            <p:cNvSpPr/>
            <p:nvPr/>
          </p:nvSpPr>
          <p:spPr>
            <a:xfrm>
              <a:off x="2808985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40" name="Bug 52"/>
            <p:cNvSpPr/>
            <p:nvPr/>
          </p:nvSpPr>
          <p:spPr>
            <a:xfrm>
              <a:off x="3160108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41" name="Bug 53"/>
            <p:cNvSpPr/>
            <p:nvPr/>
          </p:nvSpPr>
          <p:spPr>
            <a:xfrm>
              <a:off x="3511231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42" name="Bug 54"/>
            <p:cNvSpPr/>
            <p:nvPr/>
          </p:nvSpPr>
          <p:spPr>
            <a:xfrm>
              <a:off x="3862355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43" name="Bug 55"/>
            <p:cNvSpPr/>
            <p:nvPr/>
          </p:nvSpPr>
          <p:spPr>
            <a:xfrm>
              <a:off x="4213478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44" name="Bug 56"/>
            <p:cNvSpPr/>
            <p:nvPr/>
          </p:nvSpPr>
          <p:spPr>
            <a:xfrm>
              <a:off x="4564601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45" name="Bug 57"/>
            <p:cNvSpPr/>
            <p:nvPr/>
          </p:nvSpPr>
          <p:spPr>
            <a:xfrm>
              <a:off x="4915724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46" name="Bug 58"/>
            <p:cNvSpPr/>
            <p:nvPr/>
          </p:nvSpPr>
          <p:spPr>
            <a:xfrm>
              <a:off x="5266848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47" name="Bug 59"/>
            <p:cNvSpPr/>
            <p:nvPr/>
          </p:nvSpPr>
          <p:spPr>
            <a:xfrm>
              <a:off x="5617971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48" name="Bug 60"/>
            <p:cNvSpPr/>
            <p:nvPr/>
          </p:nvSpPr>
          <p:spPr>
            <a:xfrm>
              <a:off x="5969094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49" name="Bug 61"/>
            <p:cNvSpPr/>
            <p:nvPr/>
          </p:nvSpPr>
          <p:spPr>
            <a:xfrm>
              <a:off x="6320217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50" name="Bug 62"/>
            <p:cNvSpPr/>
            <p:nvPr/>
          </p:nvSpPr>
          <p:spPr>
            <a:xfrm>
              <a:off x="6671341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51" name="Bug 63"/>
            <p:cNvSpPr/>
            <p:nvPr/>
          </p:nvSpPr>
          <p:spPr>
            <a:xfrm>
              <a:off x="7022464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52" name="Bug 64"/>
            <p:cNvSpPr/>
            <p:nvPr/>
          </p:nvSpPr>
          <p:spPr>
            <a:xfrm>
              <a:off x="0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53" name="Bug 65"/>
            <p:cNvSpPr/>
            <p:nvPr/>
          </p:nvSpPr>
          <p:spPr>
            <a:xfrm>
              <a:off x="351123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54" name="Bug 66"/>
            <p:cNvSpPr/>
            <p:nvPr/>
          </p:nvSpPr>
          <p:spPr>
            <a:xfrm>
              <a:off x="702246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55" name="Bug 67"/>
            <p:cNvSpPr/>
            <p:nvPr/>
          </p:nvSpPr>
          <p:spPr>
            <a:xfrm>
              <a:off x="1053370" y="1661160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56" name="Bug 68"/>
            <p:cNvSpPr/>
            <p:nvPr/>
          </p:nvSpPr>
          <p:spPr>
            <a:xfrm>
              <a:off x="1404492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57" name="Bug 69"/>
            <p:cNvSpPr/>
            <p:nvPr/>
          </p:nvSpPr>
          <p:spPr>
            <a:xfrm>
              <a:off x="1755615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58" name="Bug 70"/>
            <p:cNvSpPr/>
            <p:nvPr/>
          </p:nvSpPr>
          <p:spPr>
            <a:xfrm>
              <a:off x="2106738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59" name="Bug 71"/>
            <p:cNvSpPr/>
            <p:nvPr/>
          </p:nvSpPr>
          <p:spPr>
            <a:xfrm>
              <a:off x="2457862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60" name="Bug 72"/>
            <p:cNvSpPr/>
            <p:nvPr/>
          </p:nvSpPr>
          <p:spPr>
            <a:xfrm>
              <a:off x="2808985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61" name="Bug 73"/>
            <p:cNvSpPr/>
            <p:nvPr/>
          </p:nvSpPr>
          <p:spPr>
            <a:xfrm>
              <a:off x="3160108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62" name="Bug 74"/>
            <p:cNvSpPr/>
            <p:nvPr/>
          </p:nvSpPr>
          <p:spPr>
            <a:xfrm>
              <a:off x="3511231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63" name="Bug 75"/>
            <p:cNvSpPr/>
            <p:nvPr/>
          </p:nvSpPr>
          <p:spPr>
            <a:xfrm>
              <a:off x="3862355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64" name="Bug 76"/>
            <p:cNvSpPr/>
            <p:nvPr/>
          </p:nvSpPr>
          <p:spPr>
            <a:xfrm>
              <a:off x="4213478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65" name="Bug 77"/>
            <p:cNvSpPr/>
            <p:nvPr/>
          </p:nvSpPr>
          <p:spPr>
            <a:xfrm>
              <a:off x="4564601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66" name="Bug 78"/>
            <p:cNvSpPr/>
            <p:nvPr/>
          </p:nvSpPr>
          <p:spPr>
            <a:xfrm>
              <a:off x="4915724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67" name="Bug 79"/>
            <p:cNvSpPr/>
            <p:nvPr/>
          </p:nvSpPr>
          <p:spPr>
            <a:xfrm>
              <a:off x="5266848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68" name="Bug 80"/>
            <p:cNvSpPr/>
            <p:nvPr/>
          </p:nvSpPr>
          <p:spPr>
            <a:xfrm>
              <a:off x="5617971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69" name="Bug 81"/>
            <p:cNvSpPr/>
            <p:nvPr/>
          </p:nvSpPr>
          <p:spPr>
            <a:xfrm>
              <a:off x="5969094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70" name="Bug 82"/>
            <p:cNvSpPr/>
            <p:nvPr/>
          </p:nvSpPr>
          <p:spPr>
            <a:xfrm>
              <a:off x="6320217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71" name="Bug 83"/>
            <p:cNvSpPr/>
            <p:nvPr/>
          </p:nvSpPr>
          <p:spPr>
            <a:xfrm>
              <a:off x="6671341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72" name="Bug 84"/>
            <p:cNvSpPr/>
            <p:nvPr/>
          </p:nvSpPr>
          <p:spPr>
            <a:xfrm>
              <a:off x="7022464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73" name="Bug 85"/>
            <p:cNvSpPr/>
            <p:nvPr/>
          </p:nvSpPr>
          <p:spPr>
            <a:xfrm>
              <a:off x="0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74" name="Bug 86"/>
            <p:cNvSpPr/>
            <p:nvPr/>
          </p:nvSpPr>
          <p:spPr>
            <a:xfrm>
              <a:off x="351123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75" name="Bug 87"/>
            <p:cNvSpPr/>
            <p:nvPr/>
          </p:nvSpPr>
          <p:spPr>
            <a:xfrm>
              <a:off x="702246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76" name="Bug 88"/>
            <p:cNvSpPr/>
            <p:nvPr/>
          </p:nvSpPr>
          <p:spPr>
            <a:xfrm>
              <a:off x="1053370" y="2214879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77" name="Bug 89"/>
            <p:cNvSpPr/>
            <p:nvPr/>
          </p:nvSpPr>
          <p:spPr>
            <a:xfrm>
              <a:off x="1404492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78" name="Bug 90"/>
            <p:cNvSpPr/>
            <p:nvPr/>
          </p:nvSpPr>
          <p:spPr>
            <a:xfrm>
              <a:off x="1755615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79" name="Bug 91"/>
            <p:cNvSpPr/>
            <p:nvPr/>
          </p:nvSpPr>
          <p:spPr>
            <a:xfrm>
              <a:off x="2106738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80" name="Bug 92"/>
            <p:cNvSpPr/>
            <p:nvPr/>
          </p:nvSpPr>
          <p:spPr>
            <a:xfrm>
              <a:off x="2457862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81" name="Bug 93"/>
            <p:cNvSpPr/>
            <p:nvPr/>
          </p:nvSpPr>
          <p:spPr>
            <a:xfrm>
              <a:off x="2808985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82" name="Bug 94"/>
            <p:cNvSpPr/>
            <p:nvPr/>
          </p:nvSpPr>
          <p:spPr>
            <a:xfrm>
              <a:off x="3160108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83" name="Bug 95"/>
            <p:cNvSpPr/>
            <p:nvPr/>
          </p:nvSpPr>
          <p:spPr>
            <a:xfrm>
              <a:off x="3511231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84" name="Bug 96"/>
            <p:cNvSpPr/>
            <p:nvPr/>
          </p:nvSpPr>
          <p:spPr>
            <a:xfrm>
              <a:off x="3862355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85" name="Bug 97"/>
            <p:cNvSpPr/>
            <p:nvPr/>
          </p:nvSpPr>
          <p:spPr>
            <a:xfrm>
              <a:off x="4213478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86" name="Bug 98"/>
            <p:cNvSpPr/>
            <p:nvPr/>
          </p:nvSpPr>
          <p:spPr>
            <a:xfrm>
              <a:off x="4564601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87" name="Bug 99"/>
            <p:cNvSpPr/>
            <p:nvPr/>
          </p:nvSpPr>
          <p:spPr>
            <a:xfrm>
              <a:off x="4915724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88" name="Bug 100"/>
            <p:cNvSpPr/>
            <p:nvPr/>
          </p:nvSpPr>
          <p:spPr>
            <a:xfrm>
              <a:off x="5266848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89" name="Bug 101"/>
            <p:cNvSpPr/>
            <p:nvPr/>
          </p:nvSpPr>
          <p:spPr>
            <a:xfrm>
              <a:off x="5617971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90" name="Bug 102"/>
            <p:cNvSpPr/>
            <p:nvPr/>
          </p:nvSpPr>
          <p:spPr>
            <a:xfrm>
              <a:off x="5969094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91" name="Bug 103"/>
            <p:cNvSpPr/>
            <p:nvPr/>
          </p:nvSpPr>
          <p:spPr>
            <a:xfrm>
              <a:off x="6320217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92" name="Bug 104"/>
            <p:cNvSpPr/>
            <p:nvPr/>
          </p:nvSpPr>
          <p:spPr>
            <a:xfrm>
              <a:off x="6671341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93" name="Bug 105"/>
            <p:cNvSpPr/>
            <p:nvPr/>
          </p:nvSpPr>
          <p:spPr>
            <a:xfrm>
              <a:off x="7022464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94" name="Bug 106"/>
            <p:cNvSpPr/>
            <p:nvPr/>
          </p:nvSpPr>
          <p:spPr>
            <a:xfrm>
              <a:off x="0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95" name="Bug 107"/>
            <p:cNvSpPr/>
            <p:nvPr/>
          </p:nvSpPr>
          <p:spPr>
            <a:xfrm>
              <a:off x="351123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96" name="Bug 108"/>
            <p:cNvSpPr/>
            <p:nvPr/>
          </p:nvSpPr>
          <p:spPr>
            <a:xfrm>
              <a:off x="702246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97" name="Bug 109"/>
            <p:cNvSpPr/>
            <p:nvPr/>
          </p:nvSpPr>
          <p:spPr>
            <a:xfrm>
              <a:off x="1053370" y="2768600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98" name="Bug 110"/>
            <p:cNvSpPr/>
            <p:nvPr/>
          </p:nvSpPr>
          <p:spPr>
            <a:xfrm>
              <a:off x="1404492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99" name="Bug 111"/>
            <p:cNvSpPr/>
            <p:nvPr/>
          </p:nvSpPr>
          <p:spPr>
            <a:xfrm>
              <a:off x="1755615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00" name="Bug 112"/>
            <p:cNvSpPr/>
            <p:nvPr/>
          </p:nvSpPr>
          <p:spPr>
            <a:xfrm>
              <a:off x="2106738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01" name="Bug 113"/>
            <p:cNvSpPr/>
            <p:nvPr/>
          </p:nvSpPr>
          <p:spPr>
            <a:xfrm>
              <a:off x="2457862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02" name="Bug 114"/>
            <p:cNvSpPr/>
            <p:nvPr/>
          </p:nvSpPr>
          <p:spPr>
            <a:xfrm>
              <a:off x="2808985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03" name="Bug 115"/>
            <p:cNvSpPr/>
            <p:nvPr/>
          </p:nvSpPr>
          <p:spPr>
            <a:xfrm>
              <a:off x="3160108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04" name="Bug 116"/>
            <p:cNvSpPr/>
            <p:nvPr/>
          </p:nvSpPr>
          <p:spPr>
            <a:xfrm>
              <a:off x="3511231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05" name="Bug 117"/>
            <p:cNvSpPr/>
            <p:nvPr/>
          </p:nvSpPr>
          <p:spPr>
            <a:xfrm>
              <a:off x="3862355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06" name="Bug 118"/>
            <p:cNvSpPr/>
            <p:nvPr/>
          </p:nvSpPr>
          <p:spPr>
            <a:xfrm>
              <a:off x="4213478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07" name="Bug 119"/>
            <p:cNvSpPr/>
            <p:nvPr/>
          </p:nvSpPr>
          <p:spPr>
            <a:xfrm>
              <a:off x="4564601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08" name="Bug 120"/>
            <p:cNvSpPr/>
            <p:nvPr/>
          </p:nvSpPr>
          <p:spPr>
            <a:xfrm>
              <a:off x="4915724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09" name="Bug 121"/>
            <p:cNvSpPr/>
            <p:nvPr/>
          </p:nvSpPr>
          <p:spPr>
            <a:xfrm>
              <a:off x="5266848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10" name="Bug 122"/>
            <p:cNvSpPr/>
            <p:nvPr/>
          </p:nvSpPr>
          <p:spPr>
            <a:xfrm>
              <a:off x="5617971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11" name="Bug 123"/>
            <p:cNvSpPr/>
            <p:nvPr/>
          </p:nvSpPr>
          <p:spPr>
            <a:xfrm>
              <a:off x="5969094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12" name="Bug 124"/>
            <p:cNvSpPr/>
            <p:nvPr/>
          </p:nvSpPr>
          <p:spPr>
            <a:xfrm>
              <a:off x="6320217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13" name="Bug 125"/>
            <p:cNvSpPr/>
            <p:nvPr/>
          </p:nvSpPr>
          <p:spPr>
            <a:xfrm>
              <a:off x="6671341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14" name="Bug 126"/>
            <p:cNvSpPr/>
            <p:nvPr/>
          </p:nvSpPr>
          <p:spPr>
            <a:xfrm>
              <a:off x="7022464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15" name="Bug 127"/>
            <p:cNvSpPr/>
            <p:nvPr/>
          </p:nvSpPr>
          <p:spPr>
            <a:xfrm>
              <a:off x="0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16" name="Bug 128"/>
            <p:cNvSpPr/>
            <p:nvPr/>
          </p:nvSpPr>
          <p:spPr>
            <a:xfrm>
              <a:off x="351123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17" name="Bug 129"/>
            <p:cNvSpPr/>
            <p:nvPr/>
          </p:nvSpPr>
          <p:spPr>
            <a:xfrm>
              <a:off x="702246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18" name="Bug 130"/>
            <p:cNvSpPr/>
            <p:nvPr/>
          </p:nvSpPr>
          <p:spPr>
            <a:xfrm>
              <a:off x="1053370" y="3322320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19" name="Bug 131"/>
            <p:cNvSpPr/>
            <p:nvPr/>
          </p:nvSpPr>
          <p:spPr>
            <a:xfrm>
              <a:off x="1404492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20" name="Bug 132"/>
            <p:cNvSpPr/>
            <p:nvPr/>
          </p:nvSpPr>
          <p:spPr>
            <a:xfrm>
              <a:off x="1755615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21" name="Bug 133"/>
            <p:cNvSpPr/>
            <p:nvPr/>
          </p:nvSpPr>
          <p:spPr>
            <a:xfrm>
              <a:off x="2106738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22" name="Bug 134"/>
            <p:cNvSpPr/>
            <p:nvPr/>
          </p:nvSpPr>
          <p:spPr>
            <a:xfrm>
              <a:off x="2457862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23" name="Bug 135"/>
            <p:cNvSpPr/>
            <p:nvPr/>
          </p:nvSpPr>
          <p:spPr>
            <a:xfrm>
              <a:off x="2808985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24" name="Bug 136"/>
            <p:cNvSpPr/>
            <p:nvPr/>
          </p:nvSpPr>
          <p:spPr>
            <a:xfrm>
              <a:off x="3160108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25" name="Bug 137"/>
            <p:cNvSpPr/>
            <p:nvPr/>
          </p:nvSpPr>
          <p:spPr>
            <a:xfrm>
              <a:off x="3511231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26" name="Bug 138"/>
            <p:cNvSpPr/>
            <p:nvPr/>
          </p:nvSpPr>
          <p:spPr>
            <a:xfrm>
              <a:off x="3862355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27" name="Bug 139"/>
            <p:cNvSpPr/>
            <p:nvPr/>
          </p:nvSpPr>
          <p:spPr>
            <a:xfrm>
              <a:off x="4213478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28" name="Bug 140"/>
            <p:cNvSpPr/>
            <p:nvPr/>
          </p:nvSpPr>
          <p:spPr>
            <a:xfrm>
              <a:off x="4564601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29" name="Bug 141"/>
            <p:cNvSpPr/>
            <p:nvPr/>
          </p:nvSpPr>
          <p:spPr>
            <a:xfrm>
              <a:off x="4915724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30" name="Bug 142"/>
            <p:cNvSpPr/>
            <p:nvPr/>
          </p:nvSpPr>
          <p:spPr>
            <a:xfrm>
              <a:off x="5266848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31" name="Bug 143"/>
            <p:cNvSpPr/>
            <p:nvPr/>
          </p:nvSpPr>
          <p:spPr>
            <a:xfrm>
              <a:off x="5617971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32" name="Bug 144"/>
            <p:cNvSpPr/>
            <p:nvPr/>
          </p:nvSpPr>
          <p:spPr>
            <a:xfrm>
              <a:off x="5969094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33" name="Bug 145"/>
            <p:cNvSpPr/>
            <p:nvPr/>
          </p:nvSpPr>
          <p:spPr>
            <a:xfrm>
              <a:off x="6320217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34" name="Bug 146"/>
            <p:cNvSpPr/>
            <p:nvPr/>
          </p:nvSpPr>
          <p:spPr>
            <a:xfrm>
              <a:off x="6671341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35" name="Bug 147"/>
            <p:cNvSpPr/>
            <p:nvPr/>
          </p:nvSpPr>
          <p:spPr>
            <a:xfrm>
              <a:off x="7022464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0" advTm="1500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Review"/>
          <p:cNvSpPr txBox="1"/>
          <p:nvPr/>
        </p:nvSpPr>
        <p:spPr>
          <a:xfrm>
            <a:off x="998219" y="2905125"/>
            <a:ext cx="2670812" cy="922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54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Review</a:t>
            </a:r>
          </a:p>
        </p:txBody>
      </p:sp>
      <p:sp>
        <p:nvSpPr>
          <p:cNvPr id="541" name="Reproduce"/>
          <p:cNvSpPr txBox="1"/>
          <p:nvPr/>
        </p:nvSpPr>
        <p:spPr>
          <a:xfrm>
            <a:off x="4331970" y="2905125"/>
            <a:ext cx="4575810" cy="922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54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Reproduce</a:t>
            </a:r>
          </a:p>
        </p:txBody>
      </p:sp>
      <p:sp>
        <p:nvSpPr>
          <p:cNvPr id="542" name="Fix"/>
          <p:cNvSpPr txBox="1"/>
          <p:nvPr/>
        </p:nvSpPr>
        <p:spPr>
          <a:xfrm>
            <a:off x="9618343" y="2905125"/>
            <a:ext cx="1527812" cy="922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54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Fix</a:t>
            </a:r>
          </a:p>
        </p:txBody>
      </p:sp>
      <p:sp>
        <p:nvSpPr>
          <p:cNvPr id="543" name="Test"/>
          <p:cNvSpPr txBox="1"/>
          <p:nvPr/>
        </p:nvSpPr>
        <p:spPr>
          <a:xfrm>
            <a:off x="12237718" y="2905125"/>
            <a:ext cx="2099312" cy="922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54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Test</a:t>
            </a:r>
          </a:p>
        </p:txBody>
      </p:sp>
      <p:sp>
        <p:nvSpPr>
          <p:cNvPr id="544" name="Line"/>
          <p:cNvSpPr/>
          <p:nvPr/>
        </p:nvSpPr>
        <p:spPr>
          <a:xfrm>
            <a:off x="3667125" y="3467100"/>
            <a:ext cx="409575" cy="0"/>
          </a:xfrm>
          <a:prstGeom prst="line">
            <a:avLst/>
          </a:prstGeom>
          <a:ln w="47625">
            <a:solidFill>
              <a:srgbClr val="92938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45" name="Triangle"/>
          <p:cNvSpPr/>
          <p:nvPr/>
        </p:nvSpPr>
        <p:spPr>
          <a:xfrm>
            <a:off x="3924300" y="3390900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92938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46" name="Line"/>
          <p:cNvSpPr/>
          <p:nvPr/>
        </p:nvSpPr>
        <p:spPr>
          <a:xfrm>
            <a:off x="8543925" y="3467100"/>
            <a:ext cx="771525" cy="0"/>
          </a:xfrm>
          <a:prstGeom prst="line">
            <a:avLst/>
          </a:prstGeom>
          <a:ln w="47625">
            <a:solidFill>
              <a:srgbClr val="92938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47" name="Triangle"/>
          <p:cNvSpPr/>
          <p:nvPr/>
        </p:nvSpPr>
        <p:spPr>
          <a:xfrm>
            <a:off x="9163050" y="3390900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92938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48" name="Line"/>
          <p:cNvSpPr/>
          <p:nvPr/>
        </p:nvSpPr>
        <p:spPr>
          <a:xfrm>
            <a:off x="10982325" y="3467100"/>
            <a:ext cx="952500" cy="0"/>
          </a:xfrm>
          <a:prstGeom prst="line">
            <a:avLst/>
          </a:prstGeom>
          <a:ln w="47625">
            <a:solidFill>
              <a:srgbClr val="92938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49" name="Triangle"/>
          <p:cNvSpPr/>
          <p:nvPr/>
        </p:nvSpPr>
        <p:spPr>
          <a:xfrm>
            <a:off x="11782425" y="3390900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92938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50" name="Line"/>
          <p:cNvSpPr/>
          <p:nvPr/>
        </p:nvSpPr>
        <p:spPr>
          <a:xfrm>
            <a:off x="2095500" y="4229100"/>
            <a:ext cx="11239500" cy="19716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4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</a:path>
            </a:pathLst>
          </a:custGeom>
          <a:ln w="57150">
            <a:solidFill>
              <a:srgbClr val="F17A4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51" name="Line"/>
          <p:cNvSpPr/>
          <p:nvPr/>
        </p:nvSpPr>
        <p:spPr>
          <a:xfrm flipV="1">
            <a:off x="2095500" y="4229100"/>
            <a:ext cx="0" cy="523875"/>
          </a:xfrm>
          <a:prstGeom prst="line">
            <a:avLst/>
          </a:prstGeom>
          <a:ln w="57150">
            <a:solidFill>
              <a:srgbClr val="F17A4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52" name="Triangle"/>
          <p:cNvSpPr/>
          <p:nvPr/>
        </p:nvSpPr>
        <p:spPr>
          <a:xfrm>
            <a:off x="2019300" y="4229100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800" y="0"/>
                </a:lnTo>
              </a:path>
            </a:pathLst>
          </a:custGeom>
          <a:solidFill>
            <a:srgbClr val="F17A43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53" name="Repeat"/>
          <p:cNvSpPr txBox="1"/>
          <p:nvPr/>
        </p:nvSpPr>
        <p:spPr>
          <a:xfrm>
            <a:off x="5789295" y="6515100"/>
            <a:ext cx="4290060" cy="1182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72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Repeat</a:t>
            </a:r>
          </a:p>
        </p:txBody>
      </p:sp>
      <p:sp>
        <p:nvSpPr>
          <p:cNvPr id="554" name="Before you commit"/>
          <p:cNvSpPr txBox="1"/>
          <p:nvPr/>
        </p:nvSpPr>
        <p:spPr>
          <a:xfrm>
            <a:off x="960119" y="685800"/>
            <a:ext cx="13319762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Before you commit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Use a harness"/>
          <p:cNvSpPr txBox="1"/>
          <p:nvPr/>
        </p:nvSpPr>
        <p:spPr>
          <a:xfrm>
            <a:off x="950594" y="2619375"/>
            <a:ext cx="13815062" cy="2000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6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Use a harness</a:t>
            </a:r>
          </a:p>
        </p:txBody>
      </p:sp>
      <p:sp>
        <p:nvSpPr>
          <p:cNvPr id="559" name="Give reviewers focused jobs.  Try metareview or compound engineering or make your own"/>
          <p:cNvSpPr txBox="1"/>
          <p:nvPr/>
        </p:nvSpPr>
        <p:spPr>
          <a:xfrm>
            <a:off x="1093469" y="5505450"/>
            <a:ext cx="12767311" cy="20569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Give reviewers focused jobs. </a:t>
            </a:r>
            <a:br/>
            <a:r>
              <a:t>Try metareview or compound engineering</a:t>
            </a:r>
            <a:br/>
            <a:r>
              <a:t>or make your own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Use /low effort"/>
          <p:cNvSpPr txBox="1"/>
          <p:nvPr/>
        </p:nvSpPr>
        <p:spPr>
          <a:xfrm>
            <a:off x="941069" y="1581150"/>
            <a:ext cx="13434062" cy="1851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7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Use /low effort</a:t>
            </a:r>
          </a:p>
        </p:txBody>
      </p:sp>
      <p:sp>
        <p:nvSpPr>
          <p:cNvPr id="564" name="Try open weights"/>
          <p:cNvSpPr txBox="1"/>
          <p:nvPr/>
        </p:nvSpPr>
        <p:spPr>
          <a:xfrm>
            <a:off x="941069" y="4019550"/>
            <a:ext cx="13529312" cy="1616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Try open weights</a:t>
            </a:r>
          </a:p>
        </p:txBody>
      </p:sp>
      <p:sp>
        <p:nvSpPr>
          <p:cNvPr id="565" name="GLM-5.3, DS-4.1-flash are good enough and orders of magnitude cheaper"/>
          <p:cNvSpPr txBox="1"/>
          <p:nvPr/>
        </p:nvSpPr>
        <p:spPr>
          <a:xfrm>
            <a:off x="855344" y="6222912"/>
            <a:ext cx="13529312" cy="1823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56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GLM-5.3, DS-4.1-flash are good enough</a:t>
            </a:r>
            <a:br/>
            <a:r>
              <a:t>and orders of magnitude cheaper 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Follow the"/>
          <p:cNvSpPr txBox="1"/>
          <p:nvPr/>
        </p:nvSpPr>
        <p:spPr>
          <a:xfrm>
            <a:off x="960119" y="2400300"/>
            <a:ext cx="9052561" cy="1678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5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Follow the</a:t>
            </a:r>
          </a:p>
        </p:txBody>
      </p:sp>
      <p:sp>
        <p:nvSpPr>
          <p:cNvPr id="570" name="evidence."/>
          <p:cNvSpPr txBox="1"/>
          <p:nvPr/>
        </p:nvSpPr>
        <p:spPr>
          <a:xfrm>
            <a:off x="960119" y="3933825"/>
            <a:ext cx="9052561" cy="1678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5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evidence.</a:t>
            </a:r>
          </a:p>
        </p:txBody>
      </p:sp>
      <p:pic>
        <p:nvPicPr>
          <p:cNvPr id="571" name="image2.png" descr="image2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591800" y="2714625"/>
            <a:ext cx="3581400" cy="3581400"/>
          </a:xfrm>
          <a:prstGeom prst="rect">
            <a:avLst/>
          </a:prstGeom>
          <a:ln w="12700">
            <a:miter lim="400000"/>
          </a:ln>
        </p:spPr>
      </p:pic>
      <p:sp>
        <p:nvSpPr>
          <p:cNvPr id="572" name="Read the report"/>
          <p:cNvSpPr txBox="1"/>
          <p:nvPr/>
        </p:nvSpPr>
        <p:spPr>
          <a:xfrm>
            <a:off x="10466069" y="6534150"/>
            <a:ext cx="3832861" cy="4512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4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Read the report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