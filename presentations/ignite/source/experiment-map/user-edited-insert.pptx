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5240000" cy="8572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" name="Shape 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Model, method, reasoning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Which model? One prompt or a harness? How much reasoning? Could China’s open-weight GLM models compete? I tested eight models, three review methods, and low, medium and high reasoning.</a:t>
            </a:r>
          </a:p>
          <a:p>
            <a:pPr/>
            <a:endParaRPr sz="2400"/>
          </a:p>
          <a:p>
            <a:pPr>
              <a:defRPr b="1"/>
            </a:pPr>
            <a:r>
              <a:t>SOURCES AND SCOPE</a:t>
            </a:r>
          </a:p>
          <a:p>
            <a:pPr/>
            <a:r>
              <a:t>REPORT.md §2.2. Eight tested models: Claude Fable 5.1, Opus 5, Sonnet 5; GPT-5.6 Sol, GPT-5.6 Terra, GPT-6 Astra; GLM-5.3 and GLM-5.3-Flash. Three methods: an engineered single prompt, Compound Engineering, and metareview. Three effort levels: low, medium, high. The planned 72-cell matrix has 66 complete cells on the primary six-PR sample; six Fable harness cells have partial coverage. The open-weight comparison covers these two GLM deployments, not every Chinese or emerging model. GLM-5.3 used a hosted 4-bit quantized build; the Flash serving build was not documented. Geographic background for GLM: Z.ai/Zhipu official company page, https://www.zhipuai.cn/en/about 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" name="Shape 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Review before you commit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Review before you commit. Reproduce the failure. Fix it. Run the test. Then review the fix, too. Check the findings yourself. Find bugs before your users do.</a:t>
            </a:r>
          </a:p>
          <a:p>
            <a:pPr/>
            <a:endParaRPr sz="2400"/>
          </a:p>
          <a:p>
            <a:pPr>
              <a:defRPr b="1"/>
            </a:pPr>
            <a:r>
              <a:t>SOURCES AND SCOPE</a:t>
            </a:r>
          </a:p>
          <a:p>
            <a:pPr/>
            <a:r>
              <a:t>Recommended developer workflow, not a measured autonomous fixing loop. The developer uses the harness for review, reproduces and verifies findings, fixes and tests the code, then re-reviews the changed code. FURTHER-RESEARCH.md treats iterative development-loop outcomes as further work. Local development describes the workflow, not local model inference. Finding bugs before users is a goal, not a production outcome measured by this study.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143000" y="2305843"/>
            <a:ext cx="12954000" cy="255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2286000" y="4857750"/>
            <a:ext cx="10668000" cy="3714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366000" y="7716837"/>
            <a:ext cx="3556000" cy="4572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he comparison manifold"/>
          <p:cNvSpPr txBox="1"/>
          <p:nvPr/>
        </p:nvSpPr>
        <p:spPr>
          <a:xfrm>
            <a:off x="960119" y="552450"/>
            <a:ext cx="13319762" cy="959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700">
                <a:solidFill>
                  <a:srgbClr val="F4F1E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The comparison manifold</a:t>
            </a:r>
          </a:p>
        </p:txBody>
      </p:sp>
      <p:sp>
        <p:nvSpPr>
          <p:cNvPr id="21" name="8"/>
          <p:cNvSpPr txBox="1"/>
          <p:nvPr/>
        </p:nvSpPr>
        <p:spPr>
          <a:xfrm>
            <a:off x="998219" y="1724025"/>
            <a:ext cx="3718562" cy="286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400">
                <a:solidFill>
                  <a:srgbClr val="F17A4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2" name="models"/>
          <p:cNvSpPr txBox="1"/>
          <p:nvPr/>
        </p:nvSpPr>
        <p:spPr>
          <a:xfrm>
            <a:off x="807719" y="4810125"/>
            <a:ext cx="4099562" cy="6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700">
                <a:solidFill>
                  <a:srgbClr val="F4F1E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models</a:t>
            </a:r>
          </a:p>
        </p:txBody>
      </p:sp>
      <p:sp>
        <p:nvSpPr>
          <p:cNvPr id="23" name="3"/>
          <p:cNvSpPr txBox="1"/>
          <p:nvPr/>
        </p:nvSpPr>
        <p:spPr>
          <a:xfrm>
            <a:off x="5760719" y="1724025"/>
            <a:ext cx="3718562" cy="286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400">
                <a:solidFill>
                  <a:srgbClr val="F17A4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" name="review methods"/>
          <p:cNvSpPr txBox="1"/>
          <p:nvPr/>
        </p:nvSpPr>
        <p:spPr>
          <a:xfrm>
            <a:off x="5570219" y="4810125"/>
            <a:ext cx="4099562" cy="6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700">
                <a:solidFill>
                  <a:srgbClr val="F4F1E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review methods</a:t>
            </a:r>
          </a:p>
        </p:txBody>
      </p:sp>
      <p:sp>
        <p:nvSpPr>
          <p:cNvPr id="25" name="3"/>
          <p:cNvSpPr txBox="1"/>
          <p:nvPr/>
        </p:nvSpPr>
        <p:spPr>
          <a:xfrm>
            <a:off x="10523219" y="1724025"/>
            <a:ext cx="3718562" cy="286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400">
                <a:solidFill>
                  <a:srgbClr val="F17A4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6" name="reasoning levels"/>
          <p:cNvSpPr txBox="1"/>
          <p:nvPr/>
        </p:nvSpPr>
        <p:spPr>
          <a:xfrm>
            <a:off x="10332719" y="4810125"/>
            <a:ext cx="4099562" cy="6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700">
                <a:solidFill>
                  <a:srgbClr val="F4F1E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reasoning levels</a:t>
            </a:r>
          </a:p>
        </p:txBody>
      </p:sp>
      <p:sp>
        <p:nvSpPr>
          <p:cNvPr id="27" name="×"/>
          <p:cNvSpPr txBox="1"/>
          <p:nvPr/>
        </p:nvSpPr>
        <p:spPr>
          <a:xfrm>
            <a:off x="4712969" y="2619375"/>
            <a:ext cx="1051562" cy="1244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7800">
                <a:solidFill>
                  <a:srgbClr val="C4C1B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8" name="×"/>
          <p:cNvSpPr txBox="1"/>
          <p:nvPr/>
        </p:nvSpPr>
        <p:spPr>
          <a:xfrm>
            <a:off x="9475469" y="2619375"/>
            <a:ext cx="1051562" cy="1244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7800">
                <a:solidFill>
                  <a:srgbClr val="C4C1B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9" name="Claude w/ Fable, Opus…"/>
          <p:cNvSpPr txBox="1"/>
          <p:nvPr/>
        </p:nvSpPr>
        <p:spPr>
          <a:xfrm>
            <a:off x="855344" y="6010275"/>
            <a:ext cx="4310093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Claude w/ Fable, Opus…</a:t>
            </a:r>
          </a:p>
        </p:txBody>
      </p:sp>
      <p:sp>
        <p:nvSpPr>
          <p:cNvPr id="30" name="Codex w/ Astra, Sol…"/>
          <p:cNvSpPr txBox="1"/>
          <p:nvPr/>
        </p:nvSpPr>
        <p:spPr>
          <a:xfrm>
            <a:off x="855344" y="6553200"/>
            <a:ext cx="4004312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Codex w/ Astra, Sol…</a:t>
            </a:r>
          </a:p>
        </p:txBody>
      </p:sp>
      <p:sp>
        <p:nvSpPr>
          <p:cNvPr id="31" name="Pi w/ GLM 5.3, -flash"/>
          <p:cNvSpPr txBox="1"/>
          <p:nvPr/>
        </p:nvSpPr>
        <p:spPr>
          <a:xfrm>
            <a:off x="855344" y="7096125"/>
            <a:ext cx="4004312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17A4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Pi w/ GLM 5.3, -flash</a:t>
            </a:r>
          </a:p>
        </p:txBody>
      </p:sp>
      <p:sp>
        <p:nvSpPr>
          <p:cNvPr id="32" name="One Shot Prompt &amp;"/>
          <p:cNvSpPr txBox="1"/>
          <p:nvPr/>
        </p:nvSpPr>
        <p:spPr>
          <a:xfrm>
            <a:off x="5617844" y="6010275"/>
            <a:ext cx="4004312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One Shot Prompt &amp;</a:t>
            </a:r>
          </a:p>
        </p:txBody>
      </p:sp>
      <p:sp>
        <p:nvSpPr>
          <p:cNvPr id="33" name="Compound Engineering Metareview"/>
          <p:cNvSpPr txBox="1"/>
          <p:nvPr/>
        </p:nvSpPr>
        <p:spPr>
          <a:xfrm>
            <a:off x="5617844" y="6664325"/>
            <a:ext cx="4004312" cy="945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800">
                <a:solidFill>
                  <a:srgbClr val="C4C1B9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Compound Engineering</a:t>
            </a:r>
            <a:br/>
            <a:r>
              <a:t>Metareview</a:t>
            </a:r>
          </a:p>
        </p:txBody>
      </p:sp>
      <p:sp>
        <p:nvSpPr>
          <p:cNvPr id="34" name="Low"/>
          <p:cNvSpPr txBox="1"/>
          <p:nvPr/>
        </p:nvSpPr>
        <p:spPr>
          <a:xfrm>
            <a:off x="10380344" y="6010275"/>
            <a:ext cx="4004312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35" name="Medium"/>
          <p:cNvSpPr txBox="1"/>
          <p:nvPr/>
        </p:nvSpPr>
        <p:spPr>
          <a:xfrm>
            <a:off x="10380344" y="6553200"/>
            <a:ext cx="4004312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36" name="High"/>
          <p:cNvSpPr txBox="1"/>
          <p:nvPr/>
        </p:nvSpPr>
        <p:spPr>
          <a:xfrm>
            <a:off x="10380344" y="7096125"/>
            <a:ext cx="4004312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High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view"/>
          <p:cNvSpPr txBox="1"/>
          <p:nvPr/>
        </p:nvSpPr>
        <p:spPr>
          <a:xfrm>
            <a:off x="998219" y="2905126"/>
            <a:ext cx="2670812" cy="790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400">
                <a:solidFill>
                  <a:srgbClr val="F4F1E9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Review</a:t>
            </a:r>
          </a:p>
        </p:txBody>
      </p:sp>
      <p:sp>
        <p:nvSpPr>
          <p:cNvPr id="41" name="Reproduce"/>
          <p:cNvSpPr txBox="1"/>
          <p:nvPr/>
        </p:nvSpPr>
        <p:spPr>
          <a:xfrm>
            <a:off x="4331970" y="2905126"/>
            <a:ext cx="4575810" cy="790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400">
                <a:solidFill>
                  <a:srgbClr val="F4F1E9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Reproduce</a:t>
            </a:r>
          </a:p>
        </p:txBody>
      </p:sp>
      <p:sp>
        <p:nvSpPr>
          <p:cNvPr id="42" name="Fix"/>
          <p:cNvSpPr txBox="1"/>
          <p:nvPr/>
        </p:nvSpPr>
        <p:spPr>
          <a:xfrm>
            <a:off x="9618343" y="2905126"/>
            <a:ext cx="1527812" cy="790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400">
                <a:solidFill>
                  <a:srgbClr val="F4F1E9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Fix</a:t>
            </a:r>
          </a:p>
        </p:txBody>
      </p:sp>
      <p:sp>
        <p:nvSpPr>
          <p:cNvPr id="43" name="Test"/>
          <p:cNvSpPr txBox="1"/>
          <p:nvPr/>
        </p:nvSpPr>
        <p:spPr>
          <a:xfrm>
            <a:off x="12237718" y="2905126"/>
            <a:ext cx="2099312" cy="790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400">
                <a:solidFill>
                  <a:srgbClr val="F4F1E9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Test</a:t>
            </a:r>
          </a:p>
        </p:txBody>
      </p:sp>
      <p:sp>
        <p:nvSpPr>
          <p:cNvPr id="44" name="Line"/>
          <p:cNvSpPr/>
          <p:nvPr/>
        </p:nvSpPr>
        <p:spPr>
          <a:xfrm>
            <a:off x="3667125" y="3467100"/>
            <a:ext cx="409576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" name="Triangle"/>
          <p:cNvSpPr/>
          <p:nvPr/>
        </p:nvSpPr>
        <p:spPr>
          <a:xfrm>
            <a:off x="3924299" y="3390899"/>
            <a:ext cx="152401" cy="15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6" name="Line"/>
          <p:cNvSpPr/>
          <p:nvPr/>
        </p:nvSpPr>
        <p:spPr>
          <a:xfrm>
            <a:off x="8543925" y="3467100"/>
            <a:ext cx="771526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7" name="Triangle"/>
          <p:cNvSpPr/>
          <p:nvPr/>
        </p:nvSpPr>
        <p:spPr>
          <a:xfrm>
            <a:off x="9163049" y="3390899"/>
            <a:ext cx="152401" cy="15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" name="Line"/>
          <p:cNvSpPr/>
          <p:nvPr/>
        </p:nvSpPr>
        <p:spPr>
          <a:xfrm>
            <a:off x="10982325" y="3467100"/>
            <a:ext cx="952501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" name="Triangle"/>
          <p:cNvSpPr/>
          <p:nvPr/>
        </p:nvSpPr>
        <p:spPr>
          <a:xfrm>
            <a:off x="11782424" y="3390899"/>
            <a:ext cx="152401" cy="15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" name="Line"/>
          <p:cNvSpPr/>
          <p:nvPr/>
        </p:nvSpPr>
        <p:spPr>
          <a:xfrm>
            <a:off x="2095500" y="4229100"/>
            <a:ext cx="11239501" cy="19716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4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" name="Line"/>
          <p:cNvSpPr/>
          <p:nvPr/>
        </p:nvSpPr>
        <p:spPr>
          <a:xfrm flipV="1">
            <a:off x="2095500" y="4229099"/>
            <a:ext cx="0" cy="523876"/>
          </a:xfrm>
          <a:prstGeom prst="line">
            <a:avLst/>
          </a:pr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" name="Triangle"/>
          <p:cNvSpPr/>
          <p:nvPr/>
        </p:nvSpPr>
        <p:spPr>
          <a:xfrm>
            <a:off x="2019299" y="4229099"/>
            <a:ext cx="152401" cy="152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</a:path>
            </a:pathLst>
          </a:custGeom>
          <a:solidFill>
            <a:srgbClr val="F17A4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" name="Repeat"/>
          <p:cNvSpPr txBox="1"/>
          <p:nvPr/>
        </p:nvSpPr>
        <p:spPr>
          <a:xfrm>
            <a:off x="5789295" y="6515100"/>
            <a:ext cx="4290060" cy="1007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F17A43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Repeat</a:t>
            </a:r>
          </a:p>
        </p:txBody>
      </p:sp>
      <p:sp>
        <p:nvSpPr>
          <p:cNvPr id="54" name="Before you commi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Before you commit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