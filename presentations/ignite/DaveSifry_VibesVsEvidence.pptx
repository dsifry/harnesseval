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5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6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7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8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9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d1733398064687" /><Relationship Type="http://schemas.openxmlformats.org/officeDocument/2006/relationships/extended-properties" Target="/docProps/app.xml" Id="R30763a31419243d2" /><Relationship Type="http://schemas.openxmlformats.org/officeDocument/2006/relationships/officeDocument" Target="/ppt/presentation.xml" Id="R28a65e1aca1a4a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6088733150401f"/>
  </p:sldMasterIdLst>
  <p:notesMasterIdLst>
    <p:notesMasterId xmlns:r="http://schemas.openxmlformats.org/officeDocument/2006/relationships" r:id="R1bd48a0c9d53448b"/>
  </p:notesMasterIdLst>
  <p:sldIdLst>
    <p:sldId xmlns:r="http://schemas.openxmlformats.org/officeDocument/2006/relationships" id="256" r:id="R415a19bb477e4611"/>
    <p:sldId xmlns:r="http://schemas.openxmlformats.org/officeDocument/2006/relationships" id="257" r:id="Rcb09d6bcc46b4f6a"/>
    <p:sldId xmlns:r="http://schemas.openxmlformats.org/officeDocument/2006/relationships" id="258" r:id="R9bcefc15c8b240b3"/>
    <p:sldId xmlns:r="http://schemas.openxmlformats.org/officeDocument/2006/relationships" id="259" r:id="R51c4ca70fa594a27"/>
    <p:sldId xmlns:r="http://schemas.openxmlformats.org/officeDocument/2006/relationships" id="260" r:id="Rce4418aace5c4078"/>
    <p:sldId xmlns:r="http://schemas.openxmlformats.org/officeDocument/2006/relationships" id="261" r:id="R4d8d5ae9bc5347aa"/>
    <p:sldId xmlns:r="http://schemas.openxmlformats.org/officeDocument/2006/relationships" id="262" r:id="R61006eb29d534b37"/>
    <p:sldId xmlns:r="http://schemas.openxmlformats.org/officeDocument/2006/relationships" id="263" r:id="R32804b8200304d96"/>
    <p:sldId xmlns:r="http://schemas.openxmlformats.org/officeDocument/2006/relationships" id="264" r:id="R18d5ca7795f847a7"/>
    <p:sldId xmlns:r="http://schemas.openxmlformats.org/officeDocument/2006/relationships" id="265" r:id="R3c25ece69e5942e3"/>
    <p:sldId xmlns:r="http://schemas.openxmlformats.org/officeDocument/2006/relationships" id="266" r:id="R9e7a7ebcaeb54d53"/>
    <p:sldId xmlns:r="http://schemas.openxmlformats.org/officeDocument/2006/relationships" id="267" r:id="Rd65a2e6520414c12"/>
    <p:sldId xmlns:r="http://schemas.openxmlformats.org/officeDocument/2006/relationships" id="268" r:id="R130da0afe96e4e8a"/>
    <p:sldId xmlns:r="http://schemas.openxmlformats.org/officeDocument/2006/relationships" id="269" r:id="R20b638c41e154f0d"/>
    <p:sldId xmlns:r="http://schemas.openxmlformats.org/officeDocument/2006/relationships" id="270" r:id="R35ac7eaf59b94ae3"/>
    <p:sldId xmlns:r="http://schemas.openxmlformats.org/officeDocument/2006/relationships" id="271" r:id="R9f4738e20c69481f"/>
    <p:sldId xmlns:r="http://schemas.openxmlformats.org/officeDocument/2006/relationships" id="272" r:id="Rb7687dd5dac541f9"/>
    <p:sldId xmlns:r="http://schemas.openxmlformats.org/officeDocument/2006/relationships" id="273" r:id="Re243c821c21b4039"/>
    <p:sldId xmlns:r="http://schemas.openxmlformats.org/officeDocument/2006/relationships" id="274" r:id="Rf3da3c5675534c63"/>
    <p:sldId xmlns:r="http://schemas.openxmlformats.org/officeDocument/2006/relationships" id="275" r:id="Ref0ec2623a39448e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7fb65fb4ac4c57" /><Relationship Type="http://schemas.openxmlformats.org/officeDocument/2006/relationships/slideMaster" Target="/ppt/slideMasters/slideMaster1.xml" Id="R686088733150401f" /><Relationship Type="http://schemas.openxmlformats.org/officeDocument/2006/relationships/notesMaster" Target="/ppt/notesMasters/notesMaster1.xml" Id="R1bd48a0c9d53448b" /><Relationship Type="http://schemas.openxmlformats.org/officeDocument/2006/relationships/presProps" Target="/ppt/presProps.xml" Id="Rce047aa0c9da4fb9" /><Relationship Type="http://schemas.openxmlformats.org/officeDocument/2006/relationships/tableStyles" Target="/ppt/tableStyles.xml" Id="R2ee633aa53eb4488" /><Relationship Type="http://schemas.openxmlformats.org/officeDocument/2006/relationships/slide" Target="/ppt/slides/slide1.xml" Id="R415a19bb477e4611" /><Relationship Type="http://schemas.openxmlformats.org/officeDocument/2006/relationships/slide" Target="/ppt/slides/slide2.xml" Id="Rcb09d6bcc46b4f6a" /><Relationship Type="http://schemas.openxmlformats.org/officeDocument/2006/relationships/slide" Target="/ppt/slides/slide3.xml" Id="R9bcefc15c8b240b3" /><Relationship Type="http://schemas.openxmlformats.org/officeDocument/2006/relationships/slide" Target="/ppt/slides/slide4.xml" Id="R51c4ca70fa594a27" /><Relationship Type="http://schemas.openxmlformats.org/officeDocument/2006/relationships/slide" Target="/ppt/slides/slide5.xml" Id="Rce4418aace5c4078" /><Relationship Type="http://schemas.openxmlformats.org/officeDocument/2006/relationships/slide" Target="/ppt/slides/slide6.xml" Id="R4d8d5ae9bc5347aa" /><Relationship Type="http://schemas.openxmlformats.org/officeDocument/2006/relationships/slide" Target="/ppt/slides/slide7.xml" Id="R61006eb29d534b37" /><Relationship Type="http://schemas.openxmlformats.org/officeDocument/2006/relationships/slide" Target="/ppt/slides/slide8.xml" Id="R32804b8200304d96" /><Relationship Type="http://schemas.openxmlformats.org/officeDocument/2006/relationships/slide" Target="/ppt/slides/slide9.xml" Id="R18d5ca7795f847a7" /><Relationship Type="http://schemas.openxmlformats.org/officeDocument/2006/relationships/slide" Target="/ppt/slides/slide10.xml" Id="R3c25ece69e5942e3" /><Relationship Type="http://schemas.openxmlformats.org/officeDocument/2006/relationships/slide" Target="/ppt/slides/slide11.xml" Id="R9e7a7ebcaeb54d53" /><Relationship Type="http://schemas.openxmlformats.org/officeDocument/2006/relationships/slide" Target="/ppt/slides/slide12.xml" Id="Rd65a2e6520414c12" /><Relationship Type="http://schemas.openxmlformats.org/officeDocument/2006/relationships/slide" Target="/ppt/slides/slide13.xml" Id="R130da0afe96e4e8a" /><Relationship Type="http://schemas.openxmlformats.org/officeDocument/2006/relationships/slide" Target="/ppt/slides/slide14.xml" Id="R20b638c41e154f0d" /><Relationship Type="http://schemas.openxmlformats.org/officeDocument/2006/relationships/slide" Target="/ppt/slides/slide15.xml" Id="R35ac7eaf59b94ae3" /><Relationship Type="http://schemas.openxmlformats.org/officeDocument/2006/relationships/slide" Target="/ppt/slides/slide16.xml" Id="R9f4738e20c69481f" /><Relationship Type="http://schemas.openxmlformats.org/officeDocument/2006/relationships/slide" Target="/ppt/slides/slide17.xml" Id="Rb7687dd5dac541f9" /><Relationship Type="http://schemas.openxmlformats.org/officeDocument/2006/relationships/slide" Target="/ppt/slides/slide18.xml" Id="Re243c821c21b4039" /><Relationship Type="http://schemas.openxmlformats.org/officeDocument/2006/relationships/slide" Target="/ppt/slides/slide19.xml" Id="Rf3da3c5675534c63" /><Relationship Type="http://schemas.openxmlformats.org/officeDocument/2006/relationships/slide" Target="/ppt/slides/slide20.xml" Id="Ref0ec2623a3944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f446897f094d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ff234f57b84f29" /><Relationship Type="http://schemas.openxmlformats.org/officeDocument/2006/relationships/notesMaster" Target="/ppt/notesMasters/notesMaster1.xml" Id="R2233ef423f5749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32ebf86237487b" /><Relationship Type="http://schemas.openxmlformats.org/officeDocument/2006/relationships/notesMaster" Target="/ppt/notesMasters/notesMaster1.xml" Id="Rf1348af120f442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45c48435344e93" /><Relationship Type="http://schemas.openxmlformats.org/officeDocument/2006/relationships/notesMaster" Target="/ppt/notesMasters/notesMaster1.xml" Id="Rb5d89ec185ec43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8b50d955d14505" /><Relationship Type="http://schemas.openxmlformats.org/officeDocument/2006/relationships/notesMaster" Target="/ppt/notesMasters/notesMaster1.xml" Id="R88546ab4895942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7969aba1ab4057" /><Relationship Type="http://schemas.openxmlformats.org/officeDocument/2006/relationships/notesMaster" Target="/ppt/notesMasters/notesMaster1.xml" Id="R8976fdf99ef74e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6542aa10d64ddd" /><Relationship Type="http://schemas.openxmlformats.org/officeDocument/2006/relationships/notesMaster" Target="/ppt/notesMasters/notesMaster1.xml" Id="R969e0eb0411f45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31ab2e264d4cba" /><Relationship Type="http://schemas.openxmlformats.org/officeDocument/2006/relationships/notesMaster" Target="/ppt/notesMasters/notesMaster1.xml" Id="R9e5f8986c92d45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ecccbc3ec1443c" /><Relationship Type="http://schemas.openxmlformats.org/officeDocument/2006/relationships/notesMaster" Target="/ppt/notesMasters/notesMaster1.xml" Id="R1956b94ed6fd45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75f7c247f349e4" /><Relationship Type="http://schemas.openxmlformats.org/officeDocument/2006/relationships/notesMaster" Target="/ppt/notesMasters/notesMaster1.xml" Id="Rc5f08fb432e141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0f465e1afa421f" /><Relationship Type="http://schemas.openxmlformats.org/officeDocument/2006/relationships/notesMaster" Target="/ppt/notesMasters/notesMaster1.xml" Id="R43b144c7cc9f48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6226fb1741549e2" /><Relationship Type="http://schemas.openxmlformats.org/officeDocument/2006/relationships/notesMaster" Target="/ppt/notesMasters/notesMaster1.xml" Id="Re729a2ea5a4340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51a10c8e7b4dd6" /><Relationship Type="http://schemas.openxmlformats.org/officeDocument/2006/relationships/notesMaster" Target="/ppt/notesMasters/notesMaster1.xml" Id="Rb4640ce8c52f40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d152c3406848ce" /><Relationship Type="http://schemas.openxmlformats.org/officeDocument/2006/relationships/notesMaster" Target="/ppt/notesMasters/notesMaster1.xml" Id="R9509d3fc39a8415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6cfe9eee0e8454a" /><Relationship Type="http://schemas.openxmlformats.org/officeDocument/2006/relationships/notesMaster" Target="/ppt/notesMasters/notesMaster1.xml" Id="R5f3e3f8155ae4b5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d054c7911244a95" /><Relationship Type="http://schemas.openxmlformats.org/officeDocument/2006/relationships/notesMaster" Target="/ppt/notesMasters/notesMaster1.xml" Id="R5b3b179e157046d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a1ec21db6134981" /><Relationship Type="http://schemas.openxmlformats.org/officeDocument/2006/relationships/notesMaster" Target="/ppt/notesMasters/notesMaster1.xml" Id="Rf63e2f3bcb7f45c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b80c5a8c1d84802" /><Relationship Type="http://schemas.openxmlformats.org/officeDocument/2006/relationships/notesMaster" Target="/ppt/notesMasters/notesMaster1.xml" Id="Rf871ae64a405463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aed324476834ad2" /><Relationship Type="http://schemas.openxmlformats.org/officeDocument/2006/relationships/notesMaster" Target="/ppt/notesMasters/notesMaster1.xml" Id="Raa37eaaf413243e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a1455863d794cc2" /><Relationship Type="http://schemas.openxmlformats.org/officeDocument/2006/relationships/notesMaster" Target="/ppt/notesMasters/notesMaster1.xml" Id="R5a966fb47d764b3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17e4438b1d64a20" /><Relationship Type="http://schemas.openxmlformats.org/officeDocument/2006/relationships/notesMaster" Target="/ppt/notesMasters/notesMaster1.xml" Id="R1d0c790dcb024e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first-person wording based on Dave's account of his motivation, supplied in this conversation. Typographic opening; no staged portrait or claim about a photographed event.</a:t>
            </a:r>
          </a:p>
          <a:p xmlns:a="http://schemas.openxmlformats.org/drawingml/2006/main">
            <a:r>
              <a:t>Primary research: https://github.com/dsifry/harnesseval/blob/8f634b68664751527a9ad0123d1a082dd70a0931/REPORT.md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Dave's account. The wording is a general illustration of the pattern he described, not an attributed quotation from an identified person.</a:t>
            </a:r>
          </a:p>
          <a:p xmlns:a="http://schemas.openxmlformats.org/drawingml/2006/main">
            <a:r>
              <a:t>Primary research: https://github.com/dsifry/harnesseval/blob/8f634b68664751527a9ad0123d1a082dd70a0931/REPORT.md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REPORT.md, campaign overview and §2.2. 2,416 healthy runs across the campaign, not 2,416 independent pull requests. The planned matrix has 72 configurations; 66 have complete coverage of the six primary PRs. Primary analysis selects one run per configuration per PR; it does not measure repeat-run variance. The original benchmark and executed hidden-defect validation supply distinct parts of the answer key.</a:t>
            </a:r>
          </a:p>
          <a:p xmlns:a="http://schemas.openxmlformats.org/drawingml/2006/main">
            <a:r>
              <a:t>Primary research: https://github.com/dsifry/harnesseval/blob/8f634b68664751527a9ad0123d1a082dd70a0931/REPORT.md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REPORT.md §§2.2 and 3.1. Six severity-selected PRs. Forty-two original benchmark goldens.</a:t>
            </a:r>
          </a:p>
          <a:p xmlns:a="http://schemas.openxmlformats.org/drawingml/2006/main">
            <a:r>
              <a:t>Primary research: https://github.com/dsifry/harnesseval/blob/8f634b68664751527a9ad0123d1a082dd70a0931/REPORT.md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REPORT.md corrected hidden-defect audit. 105 retained hidden defects plus 42 benchmark goldens. Audit removed unsupported claims and duplicates. The universe is campaign-discovered and not exhaustive.</a:t>
            </a:r>
          </a:p>
          <a:p xmlns:a="http://schemas.openxmlformats.org/drawingml/2006/main">
            <a:r>
              <a:t>Primary research: https://github.com/dsifry/harnesseval/blob/8f634b68664751527a9ad0123d1a082dd70a0931/REPORT.md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architecture based on REPORT.md §2.2 and the pinned metareview_realistic.py adapter. Security, Architecture and Testing-quality are examples of actual reviewer lenses, not the full roster. The adapter runs its deterministic command and context scaffold before dispatching reviewers, then combines per-lens outputs. The report says eight lenses and synthesis; the pinned CLI prompt says nine and explicitly concatenates the findings. This diagram deliberately does not assert an exact lens count or a separate judgment step. No automatic fixing is depicted. The evaluator and its ground-truth adjudication are separate from the review harness.</a:t>
            </a:r>
          </a:p>
          <a:p xmlns:a="http://schemas.openxmlformats.org/drawingml/2006/main">
            <a:r>
              <a:t>Primary research: https://github.com/dsifry/harnesseval/blob/8f634b68664751527a9ad0123d1a082dd70a0931/REPORT.md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REPORT.md matched true-gold recall comparison. Seven models, three efforts, two harness versus vanilla pairs. Observed direction, not 39 individually statistically significant effects.</a:t>
            </a:r>
          </a:p>
          <a:p xmlns:a="http://schemas.openxmlformats.org/drawingml/2006/main">
            <a:r>
              <a:t>Primary research: https://github.com/dsifry/harnesseval/blob/8f634b68664751527a9ad0123d1a082dd70a0931/REPORT.md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REPORT.md median token multiple 10.1 across 42 matched comparisons. Token consumption is distinct from dollar cost.</a:t>
            </a:r>
          </a:p>
          <a:p xmlns:a="http://schemas.openxmlformats.org/drawingml/2006/main">
            <a:r>
              <a:t>Primary research: https://github.com/dsifry/harnesseval/blob/8f634b68664751527a9ad0123d1a082dd70a0931/REPORT.md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REPORT.md effort sweep. Only low, medium, high were tested. Generated rotary-control illustration is a metaphor, not a real product control.</a:t>
            </a:r>
          </a:p>
          <a:p xmlns:a="http://schemas.openxmlformats.org/drawingml/2006/main">
            <a:r>
              <a:t>Primary research: https://github.com/dsifry/harnesseval/blob/8f634b68664751527a9ad0123d1a082dd70a0931/REPORT.md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REPORT.md effort comparison on the 42-golden benchmark F1, not the 147-bug composite score. 17 unresolved, 4 favor high, 1 favor medium. Unresolved does not establish equivalence.</a:t>
            </a:r>
          </a:p>
          <a:p xmlns:a="http://schemas.openxmlformats.org/drawingml/2006/main">
            <a:r>
              <a:t>Primary research: https://github.com/dsifry/harnesseval/blob/8f634b68664751527a9ad0123d1a082dd70a0931/REPORT.md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REPORT.md 147-bug primary results: Fable 5.1 vanilla high 51/147, GLM-5.3-Flash metareview low 71/147. Selected configuration comparison, not an isolated model or effort causal effect. GLM ran through hosted inference.</a:t>
            </a:r>
          </a:p>
          <a:p xmlns:a="http://schemas.openxmlformats.org/drawingml/2006/main">
            <a:r>
              <a:t>Primary research: https://github.com/dsifry/harnesseval/blob/8f634b68664751527a9ad0123d1a082dd70a0931/REPORT.md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REPORT.md exact means: Fable vanilla high $1.29594/PR; GLM Flash metareview low $0.02354/PR. Ratio 55.05. Published September 16 list prices applied to metered usage, not actual gateway invoice. Excludes human time and failed-call overhead.</a:t>
            </a:r>
          </a:p>
          <a:p xmlns:a="http://schemas.openxmlformats.org/drawingml/2006/main">
            <a:r>
              <a:t>Primary research: https://github.com/dsifry/harnesseval/blob/8f634b68664751527a9ad0123d1a082dd70a0931/REPORT.md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REPORT.md exact means: 78.54169 seconds versus 147.69631 seconds per review. Selected configuration comparison includes different model, harness, effort, and provider paths. Not universal speed superiority.</a:t>
            </a:r>
          </a:p>
          <a:p xmlns:a="http://schemas.openxmlformats.org/drawingml/2006/main">
            <a:r>
              <a:t>Primary research: https://github.com/dsifry/harnesseval/blob/8f634b68664751527a9ad0123d1a082dd70a0931/REPORT.md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REPORT.md Opus 5 + Compound Engineering medium: 88/147, the highest recall among complete single configurations. Mean API cost $6.12246. Misses 147-88=59. Union of configurations is a different procedure.</a:t>
            </a:r>
          </a:p>
          <a:p xmlns:a="http://schemas.openxmlformats.org/drawingml/2006/main">
            <a:r>
              <a:t>Primary research: https://github.com/dsifry/harnesseval/blob/8f634b68664751527a9ad0123d1a082dd70a0931/REPORT.md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REPORT.md campaign scope: 2,416 healthy runs across a public 50-PR benchmark spanning five codebases. The detailed 147-bug analysis uses six severity-selected PRs from two codebases. Whole-campaign breadth does not extend the 147-bug results to all 50 PRs. Coverage is incomplete for some configurations.</a:t>
            </a:r>
          </a:p>
          <a:p xmlns:a="http://schemas.openxmlformats.org/drawingml/2006/main">
            <a:r>
              <a:t>Primary research: https://github.com/dsifry/harnesseval/blob/8f634b68664751527a9ad0123d1a082dd70a0931/REPORT.md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Practical recommendation informed by measured review cost and latency. The headline is an imperative goal, not a claimed production outcome. Local development describes where review enters the workflow; GLM inference was hosted. The study did not measure production defect reduction.</a:t>
            </a:r>
          </a:p>
          <a:p xmlns:a="http://schemas.openxmlformats.org/drawingml/2006/main">
            <a:r>
              <a:t>Primary research: https://github.com/dsifry/harnesseval/blob/8f634b68664751527a9ad0123d1a082dd70a0931/REPORT.md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Recommended developer workflow, not a measured autonomous fixing loop. The developer uses the harness for review, reproduces and verifies findings, fixes and tests the code, then re-reviews the changed code. FURTHER-RESEARCH.md treats iterative development-loop outcomes as further work.</a:t>
            </a:r>
          </a:p>
          <a:p xmlns:a="http://schemas.openxmlformats.org/drawingml/2006/main">
            <a:r>
              <a:t>Primary research: https://github.com/dsifry/harnesseval/blob/8f634b68664751527a9ad0123d1a082dd70a0931/REPORT.md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 supported by 39/42 positive matched recall differences. It does not establish that every harness implementation helps every task.</a:t>
            </a:r>
          </a:p>
          <a:p xmlns:a="http://schemas.openxmlformats.org/drawingml/2006/main">
            <a:r>
              <a:t>Primary research: https://github.com/dsifry/harnesseval/blob/8f634b68664751527a9ad0123d1a082dd70a0931/REPORT.md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 from the selected GLM Flash metareview low configuration. 71 bugs is total across six PRs; cost and latency are per-review means. Other configurations can have higher recall. Open weights does not imply local inference.</a:t>
            </a:r>
          </a:p>
          <a:p xmlns:a="http://schemas.openxmlformats.org/drawingml/2006/main">
            <a:r>
              <a:t>Primary research: https://github.com/dsifry/harnesseval/blob/8f634b68664751527a9ad0123d1a082dd70a0931/REPORT.md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Dave's requested conclusion. Typographic close. End on the idea, with no contact, biography, or promotional slide.</a:t>
            </a:r>
          </a:p>
          <a:p xmlns:a="http://schemas.openxmlformats.org/drawingml/2006/main">
            <a:r>
              <a:t>Primary research: https://github.com/dsifry/harnesseval/blob/8f634b68664751527a9ad0123d1a082dd70a0931/REPORT.md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d11008279544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615224620b4d5f" /><Relationship Type="http://schemas.openxmlformats.org/officeDocument/2006/relationships/slideLayout" Target="/ppt/slideLayouts/slideLayout1.xml" Id="R45b8c935369840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b8c935369840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b525c6ade485b" /><Relationship Type="http://schemas.openxmlformats.org/officeDocument/2006/relationships/notesSlide" Target="/ppt/notesSlides/notesSlide1.xml" Id="R6ce57f591e394d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f401f9c784aae" /><Relationship Type="http://schemas.openxmlformats.org/officeDocument/2006/relationships/notesSlide" Target="/ppt/notesSlides/notesSlide2.xml" Id="R3b92b181eef34a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c196b91934d78" /><Relationship Type="http://schemas.openxmlformats.org/officeDocument/2006/relationships/chart" Target="/ppt/slides/charts/chart1.xml" Id="R3d08b8e6f07a4b42" /><Relationship Type="http://schemas.openxmlformats.org/officeDocument/2006/relationships/notesSlide" Target="/ppt/notesSlides/notesSlide3.xml" Id="R50867b6ef33446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393dbd1ff46c1" /><Relationship Type="http://schemas.openxmlformats.org/officeDocument/2006/relationships/chart" Target="/ppt/slides/charts/chart2.xml" Id="R497b1ccf72724073" /><Relationship Type="http://schemas.openxmlformats.org/officeDocument/2006/relationships/notesSlide" Target="/ppt/notesSlides/notesSlide4.xml" Id="Re589a2e32b464c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d7bd3d2644ed8" /><Relationship Type="http://schemas.openxmlformats.org/officeDocument/2006/relationships/chart" Target="/ppt/slides/charts/chart3.xml" Id="R5e609deaa08843cf" /><Relationship Type="http://schemas.openxmlformats.org/officeDocument/2006/relationships/notesSlide" Target="/ppt/notesSlides/notesSlide5.xml" Id="Ra6093d5daa5940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15d6e508d4645" /><Relationship Type="http://schemas.openxmlformats.org/officeDocument/2006/relationships/notesSlide" Target="/ppt/notesSlides/notesSlide6.xml" Id="Rc323770d41aa47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352979ade640ff" /><Relationship Type="http://schemas.openxmlformats.org/officeDocument/2006/relationships/chart" Target="/ppt/slides/charts/chart4.xml" Id="Rc8694a418a704fb1" /><Relationship Type="http://schemas.openxmlformats.org/officeDocument/2006/relationships/notesSlide" Target="/ppt/notesSlides/notesSlide7.xml" Id="Rc2e797d49df147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0b8dca94b4950" /><Relationship Type="http://schemas.openxmlformats.org/officeDocument/2006/relationships/notesSlide" Target="/ppt/notesSlides/notesSlide8.xml" Id="R50cb83c0df704c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0bd79166741f0" /><Relationship Type="http://schemas.openxmlformats.org/officeDocument/2006/relationships/image" Target="/ppt/media/image.png" Id="R8c541458a3274ea4" /><Relationship Type="http://schemas.openxmlformats.org/officeDocument/2006/relationships/notesSlide" Target="/ppt/notesSlides/notesSlide9.xml" Id="Rade4876ce0dd46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08677884e4d1c" /><Relationship Type="http://schemas.openxmlformats.org/officeDocument/2006/relationships/chart" Target="/ppt/slides/charts/chart5.xml" Id="R53badf05e44245d4" /><Relationship Type="http://schemas.openxmlformats.org/officeDocument/2006/relationships/notesSlide" Target="/ppt/notesSlides/notesSlide10.xml" Id="Ra378368ce3d5486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f43cd01774964" /><Relationship Type="http://schemas.openxmlformats.org/officeDocument/2006/relationships/chart" Target="/ppt/slides/charts/chart6.xml" Id="R81f6bc9e9f2145c7" /><Relationship Type="http://schemas.openxmlformats.org/officeDocument/2006/relationships/notesSlide" Target="/ppt/notesSlides/notesSlide11.xml" Id="R43df34d3127949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b298da4d14e9f" /><Relationship Type="http://schemas.openxmlformats.org/officeDocument/2006/relationships/chart" Target="/ppt/slides/charts/chart7.xml" Id="Rdc8ae12128184b5a" /><Relationship Type="http://schemas.openxmlformats.org/officeDocument/2006/relationships/notesSlide" Target="/ppt/notesSlides/notesSlide12.xml" Id="R63ddcbc2318345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270568e1a4285" /><Relationship Type="http://schemas.openxmlformats.org/officeDocument/2006/relationships/chart" Target="/ppt/slides/charts/chart8.xml" Id="R0e3808c9f00c4a30" /><Relationship Type="http://schemas.openxmlformats.org/officeDocument/2006/relationships/notesSlide" Target="/ppt/notesSlides/notesSlide13.xml" Id="R821db39bab4e4c7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1a7d64db145e4" /><Relationship Type="http://schemas.openxmlformats.org/officeDocument/2006/relationships/chart" Target="/ppt/slides/charts/chart9.xml" Id="R29bfd6db72384e99" /><Relationship Type="http://schemas.openxmlformats.org/officeDocument/2006/relationships/notesSlide" Target="/ppt/notesSlides/notesSlide14.xml" Id="R27f2aff953ce456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697fe066541f6" /><Relationship Type="http://schemas.openxmlformats.org/officeDocument/2006/relationships/notesSlide" Target="/ppt/notesSlides/notesSlide15.xml" Id="R3f000c79a816496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68ebd36884b1e" /><Relationship Type="http://schemas.openxmlformats.org/officeDocument/2006/relationships/notesSlide" Target="/ppt/notesSlides/notesSlide16.xml" Id="R82acaba717c547c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02ef257274a8c" /><Relationship Type="http://schemas.openxmlformats.org/officeDocument/2006/relationships/notesSlide" Target="/ppt/notesSlides/notesSlide17.xml" Id="Ra20188e740d242a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c433ae02147f9" /><Relationship Type="http://schemas.openxmlformats.org/officeDocument/2006/relationships/notesSlide" Target="/ppt/notesSlides/notesSlide18.xml" Id="Raea0ba14a07445d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2695af5d34f01" /><Relationship Type="http://schemas.openxmlformats.org/officeDocument/2006/relationships/notesSlide" Target="/ppt/notesSlides/notesSlide19.xml" Id="R938cca874d1b48a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78e825c8e4058" /><Relationship Type="http://schemas.openxmlformats.org/officeDocument/2006/relationships/notesSlide" Target="/ppt/notesSlides/notesSlide20.xml" Id="R247b3fb6787d473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ser>
          <c:idx val="0"/>
          <c:order val="0"/>
          <c:tx>
            <c:v>Complete configurations</c:v>
          </c:tx>
          <c:spPr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c:spPr>
          <c:marker>
            <c:symbol val="square"/>
            <c:size val="22"/>
            <c:spPr>
              <a:solidFill xmlns:a="http://schemas.openxmlformats.org/drawingml/2006/main">
                <a:srgbClr val="F17A43"/>
              </a:solidFill>
              <ns0:ln xmlns:ns0="http://schemas.openxmlformats.org/drawingml/2006/main" w="0">
                <ns0:noFill/>
              </ns0:ln>
            </c:spPr>
          </c:marker>
          <c:xVal>
            <c:numRef>
              <c:f>'Chart Data'!$A$2:$A$67</c:f>
              <c:numCache>
                <c:formatCode>General</c:formatCode>
                <c:ptCount val="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  <c:pt idx="4">
                  <c:v>2</c:v>
                </c:pt>
                <c:pt idx="5">
                  <c:v>3</c:v>
                </c:pt>
                <c:pt idx="6">
                  <c:v>4</c:v>
                </c:pt>
                <c:pt idx="7">
                  <c:v>5</c:v>
                </c:pt>
                <c:pt idx="8">
                  <c:v>6</c:v>
                </c:pt>
                <c:pt idx="9">
                  <c:v>7</c:v>
                </c:pt>
                <c:pt idx="10">
                  <c:v>8</c:v>
                </c:pt>
                <c:pt idx="11">
                  <c:v>9</c:v>
                </c:pt>
                <c:pt idx="12">
                  <c:v>1</c:v>
                </c:pt>
                <c:pt idx="13">
                  <c:v>2</c:v>
                </c:pt>
                <c:pt idx="14">
                  <c:v>3</c:v>
                </c:pt>
                <c:pt idx="15">
                  <c:v>4</c:v>
                </c:pt>
                <c:pt idx="16">
                  <c:v>5</c:v>
                </c:pt>
                <c:pt idx="17">
                  <c:v>6</c:v>
                </c:pt>
                <c:pt idx="18">
                  <c:v>7</c:v>
                </c:pt>
                <c:pt idx="19">
                  <c:v>8</c:v>
                </c:pt>
                <c:pt idx="20">
                  <c:v>9</c:v>
                </c:pt>
                <c:pt idx="21">
                  <c:v>1</c:v>
                </c:pt>
                <c:pt idx="22">
                  <c:v>2</c:v>
                </c:pt>
                <c:pt idx="23">
                  <c:v>3</c:v>
                </c:pt>
                <c:pt idx="24">
                  <c:v>4</c:v>
                </c:pt>
                <c:pt idx="25">
                  <c:v>5</c:v>
                </c:pt>
                <c:pt idx="26">
                  <c:v>6</c:v>
                </c:pt>
                <c:pt idx="27">
                  <c:v>7</c:v>
                </c:pt>
                <c:pt idx="28">
                  <c:v>8</c:v>
                </c:pt>
                <c:pt idx="29">
                  <c:v>9</c:v>
                </c:pt>
                <c:pt idx="30">
                  <c:v>1</c:v>
                </c:pt>
                <c:pt idx="31">
                  <c:v>2</c:v>
                </c:pt>
                <c:pt idx="32">
                  <c:v>3</c:v>
                </c:pt>
                <c:pt idx="33">
                  <c:v>4</c:v>
                </c:pt>
                <c:pt idx="34">
                  <c:v>5</c:v>
                </c:pt>
                <c:pt idx="35">
                  <c:v>6</c:v>
                </c:pt>
                <c:pt idx="36">
                  <c:v>7</c:v>
                </c:pt>
                <c:pt idx="37">
                  <c:v>8</c:v>
                </c:pt>
                <c:pt idx="38">
                  <c:v>9</c:v>
                </c:pt>
                <c:pt idx="39">
                  <c:v>1</c:v>
                </c:pt>
                <c:pt idx="40">
                  <c:v>2</c:v>
                </c:pt>
                <c:pt idx="41">
                  <c:v>3</c:v>
                </c:pt>
                <c:pt idx="42">
                  <c:v>4</c:v>
                </c:pt>
                <c:pt idx="43">
                  <c:v>5</c:v>
                </c:pt>
                <c:pt idx="44">
                  <c:v>6</c:v>
                </c:pt>
                <c:pt idx="45">
                  <c:v>7</c:v>
                </c:pt>
                <c:pt idx="46">
                  <c:v>8</c:v>
                </c:pt>
                <c:pt idx="47">
                  <c:v>9</c:v>
                </c:pt>
                <c:pt idx="48">
                  <c:v>1</c:v>
                </c:pt>
                <c:pt idx="49">
                  <c:v>2</c:v>
                </c:pt>
                <c:pt idx="50">
                  <c:v>3</c:v>
                </c:pt>
                <c:pt idx="51">
                  <c:v>4</c:v>
                </c:pt>
                <c:pt idx="52">
                  <c:v>5</c:v>
                </c:pt>
                <c:pt idx="53">
                  <c:v>6</c:v>
                </c:pt>
                <c:pt idx="54">
                  <c:v>7</c:v>
                </c:pt>
                <c:pt idx="55">
                  <c:v>8</c:v>
                </c:pt>
                <c:pt idx="56">
                  <c:v>9</c:v>
                </c:pt>
                <c:pt idx="57">
                  <c:v>1</c:v>
                </c:pt>
                <c:pt idx="58">
                  <c:v>2</c:v>
                </c:pt>
                <c:pt idx="59">
                  <c:v>3</c:v>
                </c:pt>
                <c:pt idx="60">
                  <c:v>4</c:v>
                </c:pt>
                <c:pt idx="61">
                  <c:v>5</c:v>
                </c:pt>
                <c:pt idx="62">
                  <c:v>6</c:v>
                </c:pt>
                <c:pt idx="63">
                  <c:v>7</c:v>
                </c:pt>
                <c:pt idx="64">
                  <c:v>8</c:v>
                </c:pt>
                <c:pt idx="65">
                  <c:v>9</c:v>
                </c:pt>
              </c:numCache>
            </c:numRef>
          </c:xVal>
          <c:yVal>
            <c:numRef>
              <c:f>'Chart Data'!$B$2:$B$67</c:f>
              <c:numCache>
                <c:formatCode>General</c:formatCode>
                <c:ptCount val="66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7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7</c:v>
                </c:pt>
                <c:pt idx="9">
                  <c:v>7</c:v>
                </c:pt>
                <c:pt idx="10">
                  <c:v>7</c:v>
                </c:pt>
                <c:pt idx="11">
                  <c:v>7</c:v>
                </c:pt>
                <c:pt idx="12">
                  <c:v>6</c:v>
                </c:pt>
                <c:pt idx="13">
                  <c:v>6</c:v>
                </c:pt>
                <c:pt idx="14">
                  <c:v>6</c:v>
                </c:pt>
                <c:pt idx="15">
                  <c:v>6</c:v>
                </c:pt>
                <c:pt idx="16">
                  <c:v>6</c:v>
                </c:pt>
                <c:pt idx="17">
                  <c:v>6</c:v>
                </c:pt>
                <c:pt idx="18">
                  <c:v>6</c:v>
                </c:pt>
                <c:pt idx="19">
                  <c:v>6</c:v>
                </c:pt>
                <c:pt idx="20">
                  <c:v>6</c:v>
                </c:pt>
                <c:pt idx="21">
                  <c:v>5</c:v>
                </c:pt>
                <c:pt idx="22">
                  <c:v>5</c:v>
                </c:pt>
                <c:pt idx="23">
                  <c:v>5</c:v>
                </c:pt>
                <c:pt idx="24">
                  <c:v>5</c:v>
                </c:pt>
                <c:pt idx="25">
                  <c:v>5</c:v>
                </c:pt>
                <c:pt idx="26">
                  <c:v>5</c:v>
                </c:pt>
                <c:pt idx="27">
                  <c:v>5</c:v>
                </c:pt>
                <c:pt idx="28">
                  <c:v>5</c:v>
                </c:pt>
                <c:pt idx="29">
                  <c:v>5</c:v>
                </c:pt>
                <c:pt idx="30">
                  <c:v>4</c:v>
                </c:pt>
                <c:pt idx="31">
                  <c:v>4</c:v>
                </c:pt>
                <c:pt idx="32">
                  <c:v>4</c:v>
                </c:pt>
                <c:pt idx="33">
                  <c:v>4</c:v>
                </c:pt>
                <c:pt idx="34">
                  <c:v>4</c:v>
                </c:pt>
                <c:pt idx="35">
                  <c:v>4</c:v>
                </c:pt>
                <c:pt idx="36">
                  <c:v>4</c:v>
                </c:pt>
                <c:pt idx="37">
                  <c:v>4</c:v>
                </c:pt>
                <c:pt idx="38">
                  <c:v>4</c:v>
                </c:pt>
                <c:pt idx="39">
                  <c:v>3</c:v>
                </c:pt>
                <c:pt idx="40">
                  <c:v>3</c:v>
                </c:pt>
                <c:pt idx="41">
                  <c:v>3</c:v>
                </c:pt>
                <c:pt idx="42">
                  <c:v>3</c:v>
                </c:pt>
                <c:pt idx="43">
                  <c:v>3</c:v>
                </c:pt>
                <c:pt idx="44">
                  <c:v>3</c:v>
                </c:pt>
                <c:pt idx="45">
                  <c:v>3</c:v>
                </c:pt>
                <c:pt idx="46">
                  <c:v>3</c:v>
                </c:pt>
                <c:pt idx="47">
                  <c:v>3</c:v>
                </c:pt>
                <c:pt idx="48">
                  <c:v>2</c:v>
                </c:pt>
                <c:pt idx="49">
                  <c:v>2</c:v>
                </c:pt>
                <c:pt idx="50">
                  <c:v>2</c:v>
                </c:pt>
                <c:pt idx="51">
                  <c:v>2</c:v>
                </c:pt>
                <c:pt idx="52">
                  <c:v>2</c:v>
                </c:pt>
                <c:pt idx="53">
                  <c:v>2</c:v>
                </c:pt>
                <c:pt idx="54">
                  <c:v>2</c:v>
                </c:pt>
                <c:pt idx="55">
                  <c:v>2</c:v>
                </c:pt>
                <c:pt idx="56">
                  <c:v>2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</c:numCache>
            </c:numRef>
          </c:yVal>
        </c:ser>
        <c:ser>
          <c:idx val="1"/>
          <c:order val="1"/>
          <c:tx>
            <c:v>Partial configurations</c:v>
          </c:tx>
          <c:spPr>
            <a:solidFill xmlns:a="http://schemas.openxmlformats.org/drawingml/2006/main">
              <a:srgbClr val="92938F"/>
            </a:solidFill>
            <a:ln xmlns:a="http://schemas.openxmlformats.org/drawingml/2006/main" w="0">
              <a:noFill/>
            </a:ln>
          </c:spPr>
          <c:marker>
            <c:symbol val="square"/>
            <c:size val="22"/>
            <c:spPr>
              <a:solidFill xmlns:a="http://schemas.openxmlformats.org/drawingml/2006/main">
                <a:srgbClr val="92938F"/>
              </a:solidFill>
              <ns1:ln xmlns:ns1="http://schemas.openxmlformats.org/drawingml/2006/main" w="0">
                <ns1:noFill/>
              </ns1:ln>
            </c:spPr>
          </c:marker>
          <c:xVal>
            <c:numRef>
              <c:f>'Chart Data'!$C$2:$C$7</c:f>
              <c:numCache>
                <c:formatCode>General</c:formatCode>
                <c:ptCount val="6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8</c:v>
                </c:pt>
                <c:pt idx="5">
                  <c:v>9</c:v>
                </c:pt>
              </c:numCache>
            </c:numRef>
          </c:xVal>
          <c:yVal>
            <c:numRef>
              <c:f>'Chart Data'!$D$2:$D$7</c:f>
              <c:numCache>
                <c:formatCode>General</c:formatCode>
                <c:ptCount val="6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9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</c:valAx>
      <c:valAx>
        <c:axId val="48650112"/>
        <c:scaling>
          <c:orientation val="minMax"/>
          <c:max val="1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valAx>
      <c:spPr>
        <a:solidFill xmlns:a="http://schemas.openxmlformats.org/drawingml/2006/main">
          <a:srgbClr val="101110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10111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ser>
          <c:idx val="0"/>
          <c:order val="0"/>
          <c:tx>
            <c:v>Original benchmark bugs</c:v>
          </c:tx>
          <c:spPr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c:spPr>
          <c:marker>
            <c:symbol val="circle"/>
            <c:size val="19"/>
            <c:spPr>
              <a:solidFill xmlns:a="http://schemas.openxmlformats.org/drawingml/2006/main">
                <a:srgbClr val="F4F1E9"/>
              </a:solidFill>
              <ns0:ln xmlns:ns0="http://schemas.openxmlformats.org/drawingml/2006/main" w="0">
                <ns0:noFill/>
              </ns0:ln>
            </c:spPr>
          </c:marker>
          <c:xVal>
            <c:numRef>
              <c:f>'Chart Data'!$A$2:$A$43</c:f>
              <c:numCache>
                <c:formatCode>General</c:formatCode>
                <c:ptCount val="4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1</c:v>
                </c:pt>
                <c:pt idx="22">
                  <c:v>2</c:v>
                </c:pt>
                <c:pt idx="23">
                  <c:v>3</c:v>
                </c:pt>
                <c:pt idx="24">
                  <c:v>4</c:v>
                </c:pt>
                <c:pt idx="25">
                  <c:v>5</c:v>
                </c:pt>
                <c:pt idx="26">
                  <c:v>6</c:v>
                </c:pt>
                <c:pt idx="27">
                  <c:v>7</c:v>
                </c:pt>
                <c:pt idx="28">
                  <c:v>8</c:v>
                </c:pt>
                <c:pt idx="29">
                  <c:v>9</c:v>
                </c:pt>
                <c:pt idx="30">
                  <c:v>10</c:v>
                </c:pt>
                <c:pt idx="31">
                  <c:v>11</c:v>
                </c:pt>
                <c:pt idx="32">
                  <c:v>12</c:v>
                </c:pt>
                <c:pt idx="33">
                  <c:v>13</c:v>
                </c:pt>
                <c:pt idx="34">
                  <c:v>14</c:v>
                </c:pt>
                <c:pt idx="35">
                  <c:v>15</c:v>
                </c:pt>
                <c:pt idx="36">
                  <c:v>16</c:v>
                </c:pt>
                <c:pt idx="37">
                  <c:v>17</c:v>
                </c:pt>
                <c:pt idx="38">
                  <c:v>18</c:v>
                </c:pt>
                <c:pt idx="39">
                  <c:v>19</c:v>
                </c:pt>
                <c:pt idx="40">
                  <c:v>20</c:v>
                </c:pt>
                <c:pt idx="41">
                  <c:v>21</c:v>
                </c:pt>
              </c:numCache>
            </c:numRef>
          </c:xVal>
          <c:yVal>
            <c:numRef>
              <c:f>'Chart Data'!$B$2:$B$43</c:f>
              <c:numCache>
                <c:formatCode>General</c:formatCode>
                <c:ptCount val="42"/>
                <c:pt idx="0">
                  <c:v>7</c:v>
                </c:pt>
                <c:pt idx="1">
                  <c:v>7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7</c:v>
                </c:pt>
                <c:pt idx="9">
                  <c:v>7</c:v>
                </c:pt>
                <c:pt idx="10">
                  <c:v>7</c:v>
                </c:pt>
                <c:pt idx="11">
                  <c:v>7</c:v>
                </c:pt>
                <c:pt idx="12">
                  <c:v>7</c:v>
                </c:pt>
                <c:pt idx="13">
                  <c:v>7</c:v>
                </c:pt>
                <c:pt idx="14">
                  <c:v>7</c:v>
                </c:pt>
                <c:pt idx="15">
                  <c:v>7</c:v>
                </c:pt>
                <c:pt idx="16">
                  <c:v>7</c:v>
                </c:pt>
                <c:pt idx="17">
                  <c:v>7</c:v>
                </c:pt>
                <c:pt idx="18">
                  <c:v>7</c:v>
                </c:pt>
                <c:pt idx="19">
                  <c:v>7</c:v>
                </c:pt>
                <c:pt idx="20">
                  <c:v>7</c:v>
                </c:pt>
                <c:pt idx="21">
                  <c:v>6</c:v>
                </c:pt>
                <c:pt idx="22">
                  <c:v>6</c:v>
                </c:pt>
                <c:pt idx="23">
                  <c:v>6</c:v>
                </c:pt>
                <c:pt idx="24">
                  <c:v>6</c:v>
                </c:pt>
                <c:pt idx="25">
                  <c:v>6</c:v>
                </c:pt>
                <c:pt idx="26">
                  <c:v>6</c:v>
                </c:pt>
                <c:pt idx="27">
                  <c:v>6</c:v>
                </c:pt>
                <c:pt idx="28">
                  <c:v>6</c:v>
                </c:pt>
                <c:pt idx="29">
                  <c:v>6</c:v>
                </c:pt>
                <c:pt idx="30">
                  <c:v>6</c:v>
                </c:pt>
                <c:pt idx="31">
                  <c:v>6</c:v>
                </c:pt>
                <c:pt idx="32">
                  <c:v>6</c:v>
                </c:pt>
                <c:pt idx="33">
                  <c:v>6</c:v>
                </c:pt>
                <c:pt idx="34">
                  <c:v>6</c:v>
                </c:pt>
                <c:pt idx="35">
                  <c:v>6</c:v>
                </c:pt>
                <c:pt idx="36">
                  <c:v>6</c:v>
                </c:pt>
                <c:pt idx="37">
                  <c:v>6</c:v>
                </c:pt>
                <c:pt idx="38">
                  <c:v>6</c:v>
                </c:pt>
                <c:pt idx="39">
                  <c:v>6</c:v>
                </c:pt>
                <c:pt idx="40">
                  <c:v>6</c:v>
                </c:pt>
                <c:pt idx="41">
                  <c:v>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</c:valAx>
      <c:valAx>
        <c:axId val="48650112"/>
        <c:scaling>
          <c:orientation val="minMax"/>
          <c:max val="22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valAx>
      <c:spPr>
        <a:solidFill xmlns:a="http://schemas.openxmlformats.org/drawingml/2006/main">
          <a:srgbClr val="101110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10111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ser>
          <c:idx val="0"/>
          <c:order val="0"/>
          <c:tx>
            <c:v>Original benchmark bugs</c:v>
          </c:tx>
          <c:spPr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c:spPr>
          <c:marker>
            <c:symbol val="circle"/>
            <c:size val="19"/>
            <c:spPr>
              <a:solidFill xmlns:a="http://schemas.openxmlformats.org/drawingml/2006/main">
                <a:srgbClr val="F4F1E9"/>
              </a:solidFill>
              <ns0:ln xmlns:ns0="http://schemas.openxmlformats.org/drawingml/2006/main" w="0">
                <ns0:noFill/>
              </ns0:ln>
            </c:spPr>
          </c:marker>
          <c:xVal>
            <c:numRef>
              <c:f>'Chart Data'!$A$2:$A$43</c:f>
              <c:numCache>
                <c:formatCode>General</c:formatCode>
                <c:ptCount val="4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1</c:v>
                </c:pt>
                <c:pt idx="22">
                  <c:v>2</c:v>
                </c:pt>
                <c:pt idx="23">
                  <c:v>3</c:v>
                </c:pt>
                <c:pt idx="24">
                  <c:v>4</c:v>
                </c:pt>
                <c:pt idx="25">
                  <c:v>5</c:v>
                </c:pt>
                <c:pt idx="26">
                  <c:v>6</c:v>
                </c:pt>
                <c:pt idx="27">
                  <c:v>7</c:v>
                </c:pt>
                <c:pt idx="28">
                  <c:v>8</c:v>
                </c:pt>
                <c:pt idx="29">
                  <c:v>9</c:v>
                </c:pt>
                <c:pt idx="30">
                  <c:v>10</c:v>
                </c:pt>
                <c:pt idx="31">
                  <c:v>11</c:v>
                </c:pt>
                <c:pt idx="32">
                  <c:v>12</c:v>
                </c:pt>
                <c:pt idx="33">
                  <c:v>13</c:v>
                </c:pt>
                <c:pt idx="34">
                  <c:v>14</c:v>
                </c:pt>
                <c:pt idx="35">
                  <c:v>15</c:v>
                </c:pt>
                <c:pt idx="36">
                  <c:v>16</c:v>
                </c:pt>
                <c:pt idx="37">
                  <c:v>17</c:v>
                </c:pt>
                <c:pt idx="38">
                  <c:v>18</c:v>
                </c:pt>
                <c:pt idx="39">
                  <c:v>19</c:v>
                </c:pt>
                <c:pt idx="40">
                  <c:v>20</c:v>
                </c:pt>
                <c:pt idx="41">
                  <c:v>21</c:v>
                </c:pt>
              </c:numCache>
            </c:numRef>
          </c:xVal>
          <c:yVal>
            <c:numRef>
              <c:f>'Chart Data'!$B$2:$B$43</c:f>
              <c:numCache>
                <c:formatCode>General</c:formatCode>
                <c:ptCount val="42"/>
                <c:pt idx="0">
                  <c:v>7</c:v>
                </c:pt>
                <c:pt idx="1">
                  <c:v>7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7</c:v>
                </c:pt>
                <c:pt idx="9">
                  <c:v>7</c:v>
                </c:pt>
                <c:pt idx="10">
                  <c:v>7</c:v>
                </c:pt>
                <c:pt idx="11">
                  <c:v>7</c:v>
                </c:pt>
                <c:pt idx="12">
                  <c:v>7</c:v>
                </c:pt>
                <c:pt idx="13">
                  <c:v>7</c:v>
                </c:pt>
                <c:pt idx="14">
                  <c:v>7</c:v>
                </c:pt>
                <c:pt idx="15">
                  <c:v>7</c:v>
                </c:pt>
                <c:pt idx="16">
                  <c:v>7</c:v>
                </c:pt>
                <c:pt idx="17">
                  <c:v>7</c:v>
                </c:pt>
                <c:pt idx="18">
                  <c:v>7</c:v>
                </c:pt>
                <c:pt idx="19">
                  <c:v>7</c:v>
                </c:pt>
                <c:pt idx="20">
                  <c:v>7</c:v>
                </c:pt>
                <c:pt idx="21">
                  <c:v>6</c:v>
                </c:pt>
                <c:pt idx="22">
                  <c:v>6</c:v>
                </c:pt>
                <c:pt idx="23">
                  <c:v>6</c:v>
                </c:pt>
                <c:pt idx="24">
                  <c:v>6</c:v>
                </c:pt>
                <c:pt idx="25">
                  <c:v>6</c:v>
                </c:pt>
                <c:pt idx="26">
                  <c:v>6</c:v>
                </c:pt>
                <c:pt idx="27">
                  <c:v>6</c:v>
                </c:pt>
                <c:pt idx="28">
                  <c:v>6</c:v>
                </c:pt>
                <c:pt idx="29">
                  <c:v>6</c:v>
                </c:pt>
                <c:pt idx="30">
                  <c:v>6</c:v>
                </c:pt>
                <c:pt idx="31">
                  <c:v>6</c:v>
                </c:pt>
                <c:pt idx="32">
                  <c:v>6</c:v>
                </c:pt>
                <c:pt idx="33">
                  <c:v>6</c:v>
                </c:pt>
                <c:pt idx="34">
                  <c:v>6</c:v>
                </c:pt>
                <c:pt idx="35">
                  <c:v>6</c:v>
                </c:pt>
                <c:pt idx="36">
                  <c:v>6</c:v>
                </c:pt>
                <c:pt idx="37">
                  <c:v>6</c:v>
                </c:pt>
                <c:pt idx="38">
                  <c:v>6</c:v>
                </c:pt>
                <c:pt idx="39">
                  <c:v>6</c:v>
                </c:pt>
                <c:pt idx="40">
                  <c:v>6</c:v>
                </c:pt>
                <c:pt idx="41">
                  <c:v>6</c:v>
                </c:pt>
              </c:numCache>
            </c:numRef>
          </c:yVal>
        </c:ser>
        <c:ser>
          <c:idx val="1"/>
          <c:order val="1"/>
          <c:tx>
            <c:v>Additional verified defects</c:v>
          </c:tx>
          <c:spPr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c:spPr>
          <c:marker>
            <c:symbol val="circle"/>
            <c:size val="19"/>
            <c:spPr>
              <a:solidFill xmlns:a="http://schemas.openxmlformats.org/drawingml/2006/main">
                <a:srgbClr val="F17A43"/>
              </a:solidFill>
              <ns1:ln xmlns:ns1="http://schemas.openxmlformats.org/drawingml/2006/main" w="0">
                <ns1:noFill/>
              </ns1:ln>
            </c:spPr>
          </c:marker>
          <c:xVal>
            <c:numRef>
              <c:f>'Chart Data'!$C$2:$C$106</c:f>
              <c:numCache>
                <c:formatCode>General</c:formatCode>
                <c:ptCount val="10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1</c:v>
                </c:pt>
                <c:pt idx="22">
                  <c:v>2</c:v>
                </c:pt>
                <c:pt idx="23">
                  <c:v>3</c:v>
                </c:pt>
                <c:pt idx="24">
                  <c:v>4</c:v>
                </c:pt>
                <c:pt idx="25">
                  <c:v>5</c:v>
                </c:pt>
                <c:pt idx="26">
                  <c:v>6</c:v>
                </c:pt>
                <c:pt idx="27">
                  <c:v>7</c:v>
                </c:pt>
                <c:pt idx="28">
                  <c:v>8</c:v>
                </c:pt>
                <c:pt idx="29">
                  <c:v>9</c:v>
                </c:pt>
                <c:pt idx="30">
                  <c:v>10</c:v>
                </c:pt>
                <c:pt idx="31">
                  <c:v>11</c:v>
                </c:pt>
                <c:pt idx="32">
                  <c:v>12</c:v>
                </c:pt>
                <c:pt idx="33">
                  <c:v>13</c:v>
                </c:pt>
                <c:pt idx="34">
                  <c:v>14</c:v>
                </c:pt>
                <c:pt idx="35">
                  <c:v>15</c:v>
                </c:pt>
                <c:pt idx="36">
                  <c:v>16</c:v>
                </c:pt>
                <c:pt idx="37">
                  <c:v>17</c:v>
                </c:pt>
                <c:pt idx="38">
                  <c:v>18</c:v>
                </c:pt>
                <c:pt idx="39">
                  <c:v>19</c:v>
                </c:pt>
                <c:pt idx="40">
                  <c:v>20</c:v>
                </c:pt>
                <c:pt idx="41">
                  <c:v>21</c:v>
                </c:pt>
                <c:pt idx="42">
                  <c:v>1</c:v>
                </c:pt>
                <c:pt idx="43">
                  <c:v>2</c:v>
                </c:pt>
                <c:pt idx="44">
                  <c:v>3</c:v>
                </c:pt>
                <c:pt idx="45">
                  <c:v>4</c:v>
                </c:pt>
                <c:pt idx="46">
                  <c:v>5</c:v>
                </c:pt>
                <c:pt idx="47">
                  <c:v>6</c:v>
                </c:pt>
                <c:pt idx="48">
                  <c:v>7</c:v>
                </c:pt>
                <c:pt idx="49">
                  <c:v>8</c:v>
                </c:pt>
                <c:pt idx="50">
                  <c:v>9</c:v>
                </c:pt>
                <c:pt idx="51">
                  <c:v>10</c:v>
                </c:pt>
                <c:pt idx="52">
                  <c:v>11</c:v>
                </c:pt>
                <c:pt idx="53">
                  <c:v>12</c:v>
                </c:pt>
                <c:pt idx="54">
                  <c:v>13</c:v>
                </c:pt>
                <c:pt idx="55">
                  <c:v>14</c:v>
                </c:pt>
                <c:pt idx="56">
                  <c:v>15</c:v>
                </c:pt>
                <c:pt idx="57">
                  <c:v>16</c:v>
                </c:pt>
                <c:pt idx="58">
                  <c:v>17</c:v>
                </c:pt>
                <c:pt idx="59">
                  <c:v>18</c:v>
                </c:pt>
                <c:pt idx="60">
                  <c:v>19</c:v>
                </c:pt>
                <c:pt idx="61">
                  <c:v>20</c:v>
                </c:pt>
                <c:pt idx="62">
                  <c:v>21</c:v>
                </c:pt>
                <c:pt idx="63">
                  <c:v>1</c:v>
                </c:pt>
                <c:pt idx="64">
                  <c:v>2</c:v>
                </c:pt>
                <c:pt idx="65">
                  <c:v>3</c:v>
                </c:pt>
                <c:pt idx="66">
                  <c:v>4</c:v>
                </c:pt>
                <c:pt idx="67">
                  <c:v>5</c:v>
                </c:pt>
                <c:pt idx="68">
                  <c:v>6</c:v>
                </c:pt>
                <c:pt idx="69">
                  <c:v>7</c:v>
                </c:pt>
                <c:pt idx="70">
                  <c:v>8</c:v>
                </c:pt>
                <c:pt idx="71">
                  <c:v>9</c:v>
                </c:pt>
                <c:pt idx="72">
                  <c:v>10</c:v>
                </c:pt>
                <c:pt idx="73">
                  <c:v>11</c:v>
                </c:pt>
                <c:pt idx="74">
                  <c:v>12</c:v>
                </c:pt>
                <c:pt idx="75">
                  <c:v>13</c:v>
                </c:pt>
                <c:pt idx="76">
                  <c:v>14</c:v>
                </c:pt>
                <c:pt idx="77">
                  <c:v>15</c:v>
                </c:pt>
                <c:pt idx="78">
                  <c:v>16</c:v>
                </c:pt>
                <c:pt idx="79">
                  <c:v>17</c:v>
                </c:pt>
                <c:pt idx="80">
                  <c:v>18</c:v>
                </c:pt>
                <c:pt idx="81">
                  <c:v>19</c:v>
                </c:pt>
                <c:pt idx="82">
                  <c:v>20</c:v>
                </c:pt>
                <c:pt idx="83">
                  <c:v>21</c:v>
                </c:pt>
                <c:pt idx="84">
                  <c:v>1</c:v>
                </c:pt>
                <c:pt idx="85">
                  <c:v>2</c:v>
                </c:pt>
                <c:pt idx="86">
                  <c:v>3</c:v>
                </c:pt>
                <c:pt idx="87">
                  <c:v>4</c:v>
                </c:pt>
                <c:pt idx="88">
                  <c:v>5</c:v>
                </c:pt>
                <c:pt idx="89">
                  <c:v>6</c:v>
                </c:pt>
                <c:pt idx="90">
                  <c:v>7</c:v>
                </c:pt>
                <c:pt idx="91">
                  <c:v>8</c:v>
                </c:pt>
                <c:pt idx="92">
                  <c:v>9</c:v>
                </c:pt>
                <c:pt idx="93">
                  <c:v>10</c:v>
                </c:pt>
                <c:pt idx="94">
                  <c:v>11</c:v>
                </c:pt>
                <c:pt idx="95">
                  <c:v>12</c:v>
                </c:pt>
                <c:pt idx="96">
                  <c:v>13</c:v>
                </c:pt>
                <c:pt idx="97">
                  <c:v>14</c:v>
                </c:pt>
                <c:pt idx="98">
                  <c:v>15</c:v>
                </c:pt>
                <c:pt idx="99">
                  <c:v>16</c:v>
                </c:pt>
                <c:pt idx="100">
                  <c:v>17</c:v>
                </c:pt>
                <c:pt idx="101">
                  <c:v>18</c:v>
                </c:pt>
                <c:pt idx="102">
                  <c:v>19</c:v>
                </c:pt>
                <c:pt idx="103">
                  <c:v>20</c:v>
                </c:pt>
                <c:pt idx="104">
                  <c:v>21</c:v>
                </c:pt>
              </c:numCache>
            </c:numRef>
          </c:xVal>
          <c:yVal>
            <c:numRef>
              <c:f>'Chart Data'!$D$2:$D$106</c:f>
              <c:numCache>
                <c:formatCode>General</c:formatCode>
                <c:ptCount val="105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  <c:pt idx="18">
                  <c:v>5</c:v>
                </c:pt>
                <c:pt idx="19">
                  <c:v>5</c:v>
                </c:pt>
                <c:pt idx="20">
                  <c:v>5</c:v>
                </c:pt>
                <c:pt idx="21">
                  <c:v>4</c:v>
                </c:pt>
                <c:pt idx="22">
                  <c:v>4</c:v>
                </c:pt>
                <c:pt idx="23">
                  <c:v>4</c:v>
                </c:pt>
                <c:pt idx="24">
                  <c:v>4</c:v>
                </c:pt>
                <c:pt idx="25">
                  <c:v>4</c:v>
                </c:pt>
                <c:pt idx="26">
                  <c:v>4</c:v>
                </c:pt>
                <c:pt idx="27">
                  <c:v>4</c:v>
                </c:pt>
                <c:pt idx="28">
                  <c:v>4</c:v>
                </c:pt>
                <c:pt idx="29">
                  <c:v>4</c:v>
                </c:pt>
                <c:pt idx="30">
                  <c:v>4</c:v>
                </c:pt>
                <c:pt idx="31">
                  <c:v>4</c:v>
                </c:pt>
                <c:pt idx="32">
                  <c:v>4</c:v>
                </c:pt>
                <c:pt idx="33">
                  <c:v>4</c:v>
                </c:pt>
                <c:pt idx="34">
                  <c:v>4</c:v>
                </c:pt>
                <c:pt idx="35">
                  <c:v>4</c:v>
                </c:pt>
                <c:pt idx="36">
                  <c:v>4</c:v>
                </c:pt>
                <c:pt idx="37">
                  <c:v>4</c:v>
                </c:pt>
                <c:pt idx="38">
                  <c:v>4</c:v>
                </c:pt>
                <c:pt idx="39">
                  <c:v>4</c:v>
                </c:pt>
                <c:pt idx="40">
                  <c:v>4</c:v>
                </c:pt>
                <c:pt idx="41">
                  <c:v>4</c:v>
                </c:pt>
                <c:pt idx="42">
                  <c:v>3</c:v>
                </c:pt>
                <c:pt idx="43">
                  <c:v>3</c:v>
                </c:pt>
                <c:pt idx="44">
                  <c:v>3</c:v>
                </c:pt>
                <c:pt idx="45">
                  <c:v>3</c:v>
                </c:pt>
                <c:pt idx="46">
                  <c:v>3</c:v>
                </c:pt>
                <c:pt idx="47">
                  <c:v>3</c:v>
                </c:pt>
                <c:pt idx="48">
                  <c:v>3</c:v>
                </c:pt>
                <c:pt idx="49">
                  <c:v>3</c:v>
                </c:pt>
                <c:pt idx="50">
                  <c:v>3</c:v>
                </c:pt>
                <c:pt idx="51">
                  <c:v>3</c:v>
                </c:pt>
                <c:pt idx="52">
                  <c:v>3</c:v>
                </c:pt>
                <c:pt idx="53">
                  <c:v>3</c:v>
                </c:pt>
                <c:pt idx="54">
                  <c:v>3</c:v>
                </c:pt>
                <c:pt idx="55">
                  <c:v>3</c:v>
                </c:pt>
                <c:pt idx="56">
                  <c:v>3</c:v>
                </c:pt>
                <c:pt idx="57">
                  <c:v>3</c:v>
                </c:pt>
                <c:pt idx="58">
                  <c:v>3</c:v>
                </c:pt>
                <c:pt idx="59">
                  <c:v>3</c:v>
                </c:pt>
                <c:pt idx="60">
                  <c:v>3</c:v>
                </c:pt>
                <c:pt idx="61">
                  <c:v>3</c:v>
                </c:pt>
                <c:pt idx="62">
                  <c:v>3</c:v>
                </c:pt>
                <c:pt idx="63">
                  <c:v>2</c:v>
                </c:pt>
                <c:pt idx="64">
                  <c:v>2</c:v>
                </c:pt>
                <c:pt idx="65">
                  <c:v>2</c:v>
                </c:pt>
                <c:pt idx="66">
                  <c:v>2</c:v>
                </c:pt>
                <c:pt idx="67">
                  <c:v>2</c:v>
                </c:pt>
                <c:pt idx="68">
                  <c:v>2</c:v>
                </c:pt>
                <c:pt idx="69">
                  <c:v>2</c:v>
                </c:pt>
                <c:pt idx="70">
                  <c:v>2</c:v>
                </c:pt>
                <c:pt idx="71">
                  <c:v>2</c:v>
                </c:pt>
                <c:pt idx="72">
                  <c:v>2</c:v>
                </c:pt>
                <c:pt idx="73">
                  <c:v>2</c:v>
                </c:pt>
                <c:pt idx="74">
                  <c:v>2</c:v>
                </c:pt>
                <c:pt idx="75">
                  <c:v>2</c:v>
                </c:pt>
                <c:pt idx="76">
                  <c:v>2</c:v>
                </c:pt>
                <c:pt idx="77">
                  <c:v>2</c:v>
                </c:pt>
                <c:pt idx="78">
                  <c:v>2</c:v>
                </c:pt>
                <c:pt idx="79">
                  <c:v>2</c:v>
                </c:pt>
                <c:pt idx="80">
                  <c:v>2</c:v>
                </c:pt>
                <c:pt idx="81">
                  <c:v>2</c:v>
                </c:pt>
                <c:pt idx="82">
                  <c:v>2</c:v>
                </c:pt>
                <c:pt idx="83">
                  <c:v>2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</c:valAx>
      <c:valAx>
        <c:axId val="48650112"/>
        <c:scaling>
          <c:orientation val="minMax"/>
          <c:max val="22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valAx>
      <c:spPr>
        <a:solidFill xmlns:a="http://schemas.openxmlformats.org/drawingml/2006/main">
          <a:srgbClr val="101110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10111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ser>
          <c:idx val="0"/>
          <c:order val="0"/>
          <c:tx>
            <c:v>Harness found more</c:v>
          </c:tx>
          <c:spPr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c:spPr>
          <c:marker>
            <c:symbol val="square"/>
            <c:size val="27"/>
            <c:spPr>
              <a:solidFill xmlns:a="http://schemas.openxmlformats.org/drawingml/2006/main">
                <a:srgbClr val="F17A43"/>
              </a:solidFill>
              <ns0:ln xmlns:ns0="http://schemas.openxmlformats.org/drawingml/2006/main" w="0">
                <ns0:noFill/>
              </ns0:ln>
            </c:spPr>
          </c:marker>
          <c:xVal>
            <c:numRef>
              <c:f>'Chart Data'!$A$2:$A$40</c:f>
              <c:numCache>
                <c:formatCode>General</c:formatCode>
                <c:ptCount val="3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1</c:v>
                </c:pt>
                <c:pt idx="7">
                  <c:v>2</c:v>
                </c:pt>
                <c:pt idx="8">
                  <c:v>3</c:v>
                </c:pt>
                <c:pt idx="9">
                  <c:v>4</c:v>
                </c:pt>
                <c:pt idx="10">
                  <c:v>5</c:v>
                </c:pt>
                <c:pt idx="11">
                  <c:v>6</c:v>
                </c:pt>
                <c:pt idx="12">
                  <c:v>1</c:v>
                </c:pt>
                <c:pt idx="13">
                  <c:v>2</c:v>
                </c:pt>
                <c:pt idx="14">
                  <c:v>3</c:v>
                </c:pt>
                <c:pt idx="15">
                  <c:v>4</c:v>
                </c:pt>
                <c:pt idx="16">
                  <c:v>5</c:v>
                </c:pt>
                <c:pt idx="17">
                  <c:v>6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4</c:v>
                </c:pt>
                <c:pt idx="22">
                  <c:v>5</c:v>
                </c:pt>
                <c:pt idx="23">
                  <c:v>6</c:v>
                </c:pt>
                <c:pt idx="24">
                  <c:v>1</c:v>
                </c:pt>
                <c:pt idx="25">
                  <c:v>2</c:v>
                </c:pt>
                <c:pt idx="26">
                  <c:v>3</c:v>
                </c:pt>
                <c:pt idx="27">
                  <c:v>4</c:v>
                </c:pt>
                <c:pt idx="28">
                  <c:v>5</c:v>
                </c:pt>
                <c:pt idx="29">
                  <c:v>6</c:v>
                </c:pt>
                <c:pt idx="30">
                  <c:v>1</c:v>
                </c:pt>
                <c:pt idx="31">
                  <c:v>2</c:v>
                </c:pt>
                <c:pt idx="32">
                  <c:v>3</c:v>
                </c:pt>
                <c:pt idx="33">
                  <c:v>4</c:v>
                </c:pt>
                <c:pt idx="34">
                  <c:v>5</c:v>
                </c:pt>
                <c:pt idx="35">
                  <c:v>6</c:v>
                </c:pt>
                <c:pt idx="36">
                  <c:v>1</c:v>
                </c:pt>
                <c:pt idx="37">
                  <c:v>2</c:v>
                </c:pt>
                <c:pt idx="38">
                  <c:v>3</c:v>
                </c:pt>
              </c:numCache>
            </c:numRef>
          </c:xVal>
          <c:yVal>
            <c:numRef>
              <c:f>'Chart Data'!$B$2:$B$40</c:f>
              <c:numCache>
                <c:formatCode>General</c:formatCode>
                <c:ptCount val="39"/>
                <c:pt idx="0">
                  <c:v>7</c:v>
                </c:pt>
                <c:pt idx="1">
                  <c:v>7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7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  <c:pt idx="10">
                  <c:v>6</c:v>
                </c:pt>
                <c:pt idx="11">
                  <c:v>6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  <c:pt idx="18">
                  <c:v>4</c:v>
                </c:pt>
                <c:pt idx="19">
                  <c:v>4</c:v>
                </c:pt>
                <c:pt idx="20">
                  <c:v>4</c:v>
                </c:pt>
                <c:pt idx="21">
                  <c:v>4</c:v>
                </c:pt>
                <c:pt idx="22">
                  <c:v>4</c:v>
                </c:pt>
                <c:pt idx="23">
                  <c:v>4</c:v>
                </c:pt>
                <c:pt idx="24">
                  <c:v>3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2</c:v>
                </c:pt>
                <c:pt idx="31">
                  <c:v>2</c:v>
                </c:pt>
                <c:pt idx="32">
                  <c:v>2</c:v>
                </c:pt>
                <c:pt idx="33">
                  <c:v>2</c:v>
                </c:pt>
                <c:pt idx="34">
                  <c:v>2</c:v>
                </c:pt>
                <c:pt idx="35">
                  <c:v>2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</c:numCache>
            </c:numRef>
          </c:yVal>
        </c:ser>
        <c:ser>
          <c:idx val="1"/>
          <c:order val="1"/>
          <c:tx>
            <c:v>No increase</c:v>
          </c:tx>
          <c:spPr>
            <a:solidFill xmlns:a="http://schemas.openxmlformats.org/drawingml/2006/main">
              <a:srgbClr val="92938F"/>
            </a:solidFill>
            <a:ln xmlns:a="http://schemas.openxmlformats.org/drawingml/2006/main" w="0">
              <a:noFill/>
            </a:ln>
          </c:spPr>
          <c:marker>
            <c:symbol val="square"/>
            <c:size val="27"/>
            <c:spPr>
              <a:solidFill xmlns:a="http://schemas.openxmlformats.org/drawingml/2006/main">
                <a:srgbClr val="92938F"/>
              </a:solidFill>
              <ns1:ln xmlns:ns1="http://schemas.openxmlformats.org/drawingml/2006/main" w="0">
                <ns1:noFill/>
              </ns1:ln>
            </c:spPr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5</c:v>
                </c:pt>
                <c:pt idx="2">
                  <c:v>6</c:v>
                </c:pt>
              </c:numCache>
            </c:numRef>
          </c:xVal>
          <c:yVal>
            <c:numRef>
              <c:f>'Chart Data'!$D$2:$D$4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</c:valAx>
      <c:valAx>
        <c:axId val="48650112"/>
        <c:scaling>
          <c:orientation val="minMax"/>
          <c:max val="7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valAx>
      <c:spPr>
        <a:solidFill xmlns:a="http://schemas.openxmlformats.org/drawingml/2006/main">
          <a:srgbClr val="101110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10111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High vs. medium reasoning on benchmark F1</c:v>
          </c:tx>
          <c:spPr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c:spPr>
          <c:dPt>
            <c:idx val="0"/>
            <c:invertIfNegative val="0"/>
            <c:spPr>
              <a:solidFill xmlns:a="http://schemas.openxmlformats.org/drawingml/2006/main">
                <a:srgbClr val="F17A43"/>
              </a:solidFill>
              <a:ln xmlns:a="http://schemas.openxmlformats.org/drawingml/2006/main" w="0">
                <a:noFill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92938F"/>
              </a:solidFill>
              <a:ln xmlns:a="http://schemas.openxmlformats.org/drawingml/2006/main" w="0">
                <a:noFill/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92938F"/>
              </a:solidFill>
              <a:ln xmlns:a="http://schemas.openxmlformats.org/drawingml/2006/main" w="0">
                <a:noFill/>
              </a:ln>
            </c:spPr>
          </c:dPt>
          <c:cat>
            <c:strRef>
              <c:f>'Chart Data'!$A$2:$A$4</c:f>
              <c:strCache>
                <c:ptCount val="3"/>
                <c:pt idx="0">
                  <c:v>No clear winner</c:v>
                </c:pt>
                <c:pt idx="1">
                  <c:v>High better</c:v>
                </c:pt>
                <c:pt idx="2">
                  <c:v>Medium better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17</c:v>
                </c:pt>
                <c:pt idx="1">
                  <c:v>4</c:v>
                </c:pt>
                <c:pt idx="2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4800" b="1">
                  <a:solidFill>
                    <a:srgbClr val="F4F1E9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D403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21"/>
          <c:min val="0"/>
        </c:scaling>
        <c:delete val="0"/>
        <c:axPos val="l"/>
        <c:numFmt formatCode="0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101110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10111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Verified bugs found across six PRs, out of 147</c:v>
          </c:tx>
          <c:spPr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c:spPr>
          <c:dPt>
            <c:idx val="0"/>
            <c:invertIfNegative val="0"/>
            <c:spPr>
              <a:solidFill xmlns:a="http://schemas.openxmlformats.org/drawingml/2006/main">
                <a:srgbClr val="92938F"/>
              </a:solidFill>
              <a:ln xmlns:a="http://schemas.openxmlformats.org/drawingml/2006/main" w="0">
                <a:noFill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F17A43"/>
              </a:solidFill>
              <a:ln xmlns:a="http://schemas.openxmlformats.org/drawingml/2006/main" w="0">
                <a:noFill/>
              </a:ln>
            </c:spPr>
          </c:dPt>
          <c:cat>
            <c:strRef>
              <c:f>'Chart Data'!$A$2:$A$3</c:f>
              <c:strCache>
                <c:ptCount val="2"/>
                <c:pt idx="0">
                  <c:v>Fable 5.1
Single prompt
High reasoning</c:v>
                </c:pt>
                <c:pt idx="1">
                  <c:v>GLM 5.3 Flash
Harness
Low reasoning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51</c:v>
                </c:pt>
                <c:pt idx="1">
                  <c:v>71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4800" b="1">
                  <a:solidFill>
                    <a:srgbClr val="F4F1E9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D403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90"/>
          <c:min val="0"/>
        </c:scaling>
        <c:delete val="0"/>
        <c:axPos val="l"/>
        <c:numFmt formatCode="0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101110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10111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Mean API cost per review, at study list prices</c:v>
          </c:tx>
          <c:spPr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c:spPr>
          <c:dPt>
            <c:idx val="0"/>
            <c:invertIfNegative val="0"/>
            <c:spPr>
              <a:solidFill xmlns:a="http://schemas.openxmlformats.org/drawingml/2006/main">
                <a:srgbClr val="92938F"/>
              </a:solidFill>
              <a:ln xmlns:a="http://schemas.openxmlformats.org/drawingml/2006/main" w="0">
                <a:noFill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F17A43"/>
              </a:solidFill>
              <a:ln xmlns:a="http://schemas.openxmlformats.org/drawingml/2006/main" w="0">
                <a:noFill/>
              </a:ln>
            </c:spPr>
          </c:dPt>
          <c:dLbls>
            <c:numFmt formatCode="$0.000" sourceLinked="0"/>
            <c:dLbl>
              <c:idx val="0"/>
              <c:numFmt formatCode="$0.00" sourceLinked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4800" b="1">
                      <a:solidFill>
                        <a:srgbClr val="F4F1E9"/>
                      </a:solidFill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$0.000" sourceLinked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4800" b="1">
                      <a:solidFill>
                        <a:srgbClr val="F17A43"/>
                      </a:solidFill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Data'!$A$2:$A$3</c:f>
              <c:strCache>
                <c:ptCount val="2"/>
                <c:pt idx="0">
                  <c:v>Fable 5.1
Single prompt
High reasoning</c:v>
                </c:pt>
                <c:pt idx="1">
                  <c:v>GLM 5.3 Flash
Harness
Low reasoning</c:v>
                </c:pt>
              </c:strCache>
            </c:strRef>
          </c:cat>
          <c:val>
            <c:numRef>
              <c:f>'Chart Data'!$B$2:$B$3</c:f>
              <c:numCache>
                <c:formatCode>$0.000</c:formatCode>
                <c:ptCount val="2"/>
                <c:pt idx="0">
                  <c:v>1.29594</c:v>
                </c:pt>
                <c:pt idx="1">
                  <c:v>0.02354</c:v>
                </c:pt>
              </c:numCache>
            </c:numRef>
          </c:val>
        </c:ser>
        <c:dLbls>
          <c:numFmt formatCode="$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4800" b="1">
                  <a:solidFill>
                    <a:srgbClr val="F4F1E9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D403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.6"/>
          <c:min val="0"/>
        </c:scaling>
        <c:delete val="0"/>
        <c:axPos val="l"/>
        <c:numFmt formatCode="$0.000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101110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10111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Mean elapsed time per review</c:v>
          </c:tx>
          <c:spPr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c:spPr>
          <c:dPt>
            <c:idx val="0"/>
            <c:invertIfNegative val="0"/>
            <c:spPr>
              <a:solidFill xmlns:a="http://schemas.openxmlformats.org/drawingml/2006/main">
                <a:srgbClr val="92938F"/>
              </a:solidFill>
              <a:ln xmlns:a="http://schemas.openxmlformats.org/drawingml/2006/main" w="0">
                <a:noFill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F17A43"/>
              </a:solidFill>
              <a:ln xmlns:a="http://schemas.openxmlformats.org/drawingml/2006/main" w="0">
                <a:noFill/>
              </a:ln>
            </c:spPr>
          </c:dPt>
          <c:dLbls>
            <c:numFmt formatCode="0&quot;s&quot;" sourceLinked="0"/>
            <c:dLbl>
              <c:idx val="0"/>
              <c:numFmt formatCode="0&quot;s&quot;" sourceLinked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4800" b="1">
                      <a:solidFill>
                        <a:srgbClr val="F4F1E9"/>
                      </a:solidFill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s&quot;" sourceLinked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4800" b="1">
                      <a:solidFill>
                        <a:srgbClr val="F17A43"/>
                      </a:solidFill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Data'!$A$2:$A$3</c:f>
              <c:strCache>
                <c:ptCount val="2"/>
                <c:pt idx="0">
                  <c:v>Fable 5.1
Single prompt
High reasoning</c:v>
                </c:pt>
                <c:pt idx="1">
                  <c:v>GLM 5.3 Flash
Harness
Low reasoning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147.69631</c:v>
                </c:pt>
                <c:pt idx="1">
                  <c:v>78.54169</c:v>
                </c:pt>
              </c:numCache>
            </c:numRef>
          </c:val>
        </c:ser>
        <c:dLbls>
          <c:numFmt formatCode="0&quot;s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4800" b="1">
                  <a:solidFill>
                    <a:srgbClr val="F4F1E9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D403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80"/>
          <c:min val="0"/>
        </c:scaling>
        <c:delete val="0"/>
        <c:axPos val="l"/>
        <c:numFmt formatCode="0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101110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10111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ser>
          <c:idx val="0"/>
          <c:order val="0"/>
          <c:tx>
            <c:v>Found by highest recall configuration</c:v>
          </c:tx>
          <c:spPr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c:spPr>
          <c:marker>
            <c:symbol val="circle"/>
            <c:size val="19"/>
            <c:spPr>
              <a:solidFill xmlns:a="http://schemas.openxmlformats.org/drawingml/2006/main">
                <a:srgbClr val="F4F1E9"/>
              </a:solidFill>
              <ns0:ln xmlns:ns0="http://schemas.openxmlformats.org/drawingml/2006/main" w="0">
                <ns0:noFill/>
              </ns0:ln>
            </c:spPr>
          </c:marker>
          <c:xVal>
            <c:numRef>
              <c:f>'Chart Data'!$A$2:$A$89</c:f>
              <c:numCache>
                <c:formatCode>General</c:formatCode>
                <c:ptCount val="8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1</c:v>
                </c:pt>
                <c:pt idx="22">
                  <c:v>2</c:v>
                </c:pt>
                <c:pt idx="23">
                  <c:v>3</c:v>
                </c:pt>
                <c:pt idx="24">
                  <c:v>4</c:v>
                </c:pt>
                <c:pt idx="25">
                  <c:v>5</c:v>
                </c:pt>
                <c:pt idx="26">
                  <c:v>6</c:v>
                </c:pt>
                <c:pt idx="27">
                  <c:v>7</c:v>
                </c:pt>
                <c:pt idx="28">
                  <c:v>8</c:v>
                </c:pt>
                <c:pt idx="29">
                  <c:v>9</c:v>
                </c:pt>
                <c:pt idx="30">
                  <c:v>10</c:v>
                </c:pt>
                <c:pt idx="31">
                  <c:v>11</c:v>
                </c:pt>
                <c:pt idx="32">
                  <c:v>12</c:v>
                </c:pt>
                <c:pt idx="33">
                  <c:v>13</c:v>
                </c:pt>
                <c:pt idx="34">
                  <c:v>14</c:v>
                </c:pt>
                <c:pt idx="35">
                  <c:v>15</c:v>
                </c:pt>
                <c:pt idx="36">
                  <c:v>16</c:v>
                </c:pt>
                <c:pt idx="37">
                  <c:v>17</c:v>
                </c:pt>
                <c:pt idx="38">
                  <c:v>18</c:v>
                </c:pt>
                <c:pt idx="39">
                  <c:v>19</c:v>
                </c:pt>
                <c:pt idx="40">
                  <c:v>20</c:v>
                </c:pt>
                <c:pt idx="41">
                  <c:v>21</c:v>
                </c:pt>
                <c:pt idx="42">
                  <c:v>1</c:v>
                </c:pt>
                <c:pt idx="43">
                  <c:v>2</c:v>
                </c:pt>
                <c:pt idx="44">
                  <c:v>3</c:v>
                </c:pt>
                <c:pt idx="45">
                  <c:v>4</c:v>
                </c:pt>
                <c:pt idx="46">
                  <c:v>5</c:v>
                </c:pt>
                <c:pt idx="47">
                  <c:v>6</c:v>
                </c:pt>
                <c:pt idx="48">
                  <c:v>7</c:v>
                </c:pt>
                <c:pt idx="49">
                  <c:v>8</c:v>
                </c:pt>
                <c:pt idx="50">
                  <c:v>9</c:v>
                </c:pt>
                <c:pt idx="51">
                  <c:v>10</c:v>
                </c:pt>
                <c:pt idx="52">
                  <c:v>11</c:v>
                </c:pt>
                <c:pt idx="53">
                  <c:v>12</c:v>
                </c:pt>
                <c:pt idx="54">
                  <c:v>13</c:v>
                </c:pt>
                <c:pt idx="55">
                  <c:v>14</c:v>
                </c:pt>
                <c:pt idx="56">
                  <c:v>15</c:v>
                </c:pt>
                <c:pt idx="57">
                  <c:v>16</c:v>
                </c:pt>
                <c:pt idx="58">
                  <c:v>17</c:v>
                </c:pt>
                <c:pt idx="59">
                  <c:v>18</c:v>
                </c:pt>
                <c:pt idx="60">
                  <c:v>19</c:v>
                </c:pt>
                <c:pt idx="61">
                  <c:v>20</c:v>
                </c:pt>
                <c:pt idx="62">
                  <c:v>21</c:v>
                </c:pt>
                <c:pt idx="63">
                  <c:v>1</c:v>
                </c:pt>
                <c:pt idx="64">
                  <c:v>2</c:v>
                </c:pt>
                <c:pt idx="65">
                  <c:v>3</c:v>
                </c:pt>
                <c:pt idx="66">
                  <c:v>4</c:v>
                </c:pt>
                <c:pt idx="67">
                  <c:v>5</c:v>
                </c:pt>
                <c:pt idx="68">
                  <c:v>6</c:v>
                </c:pt>
                <c:pt idx="69">
                  <c:v>7</c:v>
                </c:pt>
                <c:pt idx="70">
                  <c:v>8</c:v>
                </c:pt>
                <c:pt idx="71">
                  <c:v>9</c:v>
                </c:pt>
                <c:pt idx="72">
                  <c:v>10</c:v>
                </c:pt>
                <c:pt idx="73">
                  <c:v>11</c:v>
                </c:pt>
                <c:pt idx="74">
                  <c:v>12</c:v>
                </c:pt>
                <c:pt idx="75">
                  <c:v>13</c:v>
                </c:pt>
                <c:pt idx="76">
                  <c:v>14</c:v>
                </c:pt>
                <c:pt idx="77">
                  <c:v>15</c:v>
                </c:pt>
                <c:pt idx="78">
                  <c:v>16</c:v>
                </c:pt>
                <c:pt idx="79">
                  <c:v>17</c:v>
                </c:pt>
                <c:pt idx="80">
                  <c:v>18</c:v>
                </c:pt>
                <c:pt idx="81">
                  <c:v>19</c:v>
                </c:pt>
                <c:pt idx="82">
                  <c:v>20</c:v>
                </c:pt>
                <c:pt idx="83">
                  <c:v>21</c:v>
                </c:pt>
                <c:pt idx="84">
                  <c:v>1</c:v>
                </c:pt>
                <c:pt idx="85">
                  <c:v>2</c:v>
                </c:pt>
                <c:pt idx="86">
                  <c:v>3</c:v>
                </c:pt>
                <c:pt idx="87">
                  <c:v>4</c:v>
                </c:pt>
              </c:numCache>
            </c:numRef>
          </c:xVal>
          <c:yVal>
            <c:numRef>
              <c:f>'Chart Data'!$B$2:$B$89</c:f>
              <c:numCache>
                <c:formatCode>General</c:formatCode>
                <c:ptCount val="88"/>
                <c:pt idx="0">
                  <c:v>7</c:v>
                </c:pt>
                <c:pt idx="1">
                  <c:v>7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7</c:v>
                </c:pt>
                <c:pt idx="9">
                  <c:v>7</c:v>
                </c:pt>
                <c:pt idx="10">
                  <c:v>7</c:v>
                </c:pt>
                <c:pt idx="11">
                  <c:v>7</c:v>
                </c:pt>
                <c:pt idx="12">
                  <c:v>7</c:v>
                </c:pt>
                <c:pt idx="13">
                  <c:v>7</c:v>
                </c:pt>
                <c:pt idx="14">
                  <c:v>7</c:v>
                </c:pt>
                <c:pt idx="15">
                  <c:v>7</c:v>
                </c:pt>
                <c:pt idx="16">
                  <c:v>7</c:v>
                </c:pt>
                <c:pt idx="17">
                  <c:v>7</c:v>
                </c:pt>
                <c:pt idx="18">
                  <c:v>7</c:v>
                </c:pt>
                <c:pt idx="19">
                  <c:v>7</c:v>
                </c:pt>
                <c:pt idx="20">
                  <c:v>7</c:v>
                </c:pt>
                <c:pt idx="21">
                  <c:v>6</c:v>
                </c:pt>
                <c:pt idx="22">
                  <c:v>6</c:v>
                </c:pt>
                <c:pt idx="23">
                  <c:v>6</c:v>
                </c:pt>
                <c:pt idx="24">
                  <c:v>6</c:v>
                </c:pt>
                <c:pt idx="25">
                  <c:v>6</c:v>
                </c:pt>
                <c:pt idx="26">
                  <c:v>6</c:v>
                </c:pt>
                <c:pt idx="27">
                  <c:v>6</c:v>
                </c:pt>
                <c:pt idx="28">
                  <c:v>6</c:v>
                </c:pt>
                <c:pt idx="29">
                  <c:v>6</c:v>
                </c:pt>
                <c:pt idx="30">
                  <c:v>6</c:v>
                </c:pt>
                <c:pt idx="31">
                  <c:v>6</c:v>
                </c:pt>
                <c:pt idx="32">
                  <c:v>6</c:v>
                </c:pt>
                <c:pt idx="33">
                  <c:v>6</c:v>
                </c:pt>
                <c:pt idx="34">
                  <c:v>6</c:v>
                </c:pt>
                <c:pt idx="35">
                  <c:v>6</c:v>
                </c:pt>
                <c:pt idx="36">
                  <c:v>6</c:v>
                </c:pt>
                <c:pt idx="37">
                  <c:v>6</c:v>
                </c:pt>
                <c:pt idx="38">
                  <c:v>6</c:v>
                </c:pt>
                <c:pt idx="39">
                  <c:v>6</c:v>
                </c:pt>
                <c:pt idx="40">
                  <c:v>6</c:v>
                </c:pt>
                <c:pt idx="41">
                  <c:v>6</c:v>
                </c:pt>
                <c:pt idx="42">
                  <c:v>5</c:v>
                </c:pt>
                <c:pt idx="43">
                  <c:v>5</c:v>
                </c:pt>
                <c:pt idx="44">
                  <c:v>5</c:v>
                </c:pt>
                <c:pt idx="45">
                  <c:v>5</c:v>
                </c:pt>
                <c:pt idx="46">
                  <c:v>5</c:v>
                </c:pt>
                <c:pt idx="47">
                  <c:v>5</c:v>
                </c:pt>
                <c:pt idx="48">
                  <c:v>5</c:v>
                </c:pt>
                <c:pt idx="49">
                  <c:v>5</c:v>
                </c:pt>
                <c:pt idx="50">
                  <c:v>5</c:v>
                </c:pt>
                <c:pt idx="51">
                  <c:v>5</c:v>
                </c:pt>
                <c:pt idx="52">
                  <c:v>5</c:v>
                </c:pt>
                <c:pt idx="53">
                  <c:v>5</c:v>
                </c:pt>
                <c:pt idx="54">
                  <c:v>5</c:v>
                </c:pt>
                <c:pt idx="55">
                  <c:v>5</c:v>
                </c:pt>
                <c:pt idx="56">
                  <c:v>5</c:v>
                </c:pt>
                <c:pt idx="57">
                  <c:v>5</c:v>
                </c:pt>
                <c:pt idx="58">
                  <c:v>5</c:v>
                </c:pt>
                <c:pt idx="59">
                  <c:v>5</c:v>
                </c:pt>
                <c:pt idx="60">
                  <c:v>5</c:v>
                </c:pt>
                <c:pt idx="61">
                  <c:v>5</c:v>
                </c:pt>
                <c:pt idx="62">
                  <c:v>5</c:v>
                </c:pt>
                <c:pt idx="63">
                  <c:v>4</c:v>
                </c:pt>
                <c:pt idx="64">
                  <c:v>4</c:v>
                </c:pt>
                <c:pt idx="65">
                  <c:v>4</c:v>
                </c:pt>
                <c:pt idx="66">
                  <c:v>4</c:v>
                </c:pt>
                <c:pt idx="67">
                  <c:v>4</c:v>
                </c:pt>
                <c:pt idx="68">
                  <c:v>4</c:v>
                </c:pt>
                <c:pt idx="69">
                  <c:v>4</c:v>
                </c:pt>
                <c:pt idx="70">
                  <c:v>4</c:v>
                </c:pt>
                <c:pt idx="71">
                  <c:v>4</c:v>
                </c:pt>
                <c:pt idx="72">
                  <c:v>4</c:v>
                </c:pt>
                <c:pt idx="73">
                  <c:v>4</c:v>
                </c:pt>
                <c:pt idx="74">
                  <c:v>4</c:v>
                </c:pt>
                <c:pt idx="75">
                  <c:v>4</c:v>
                </c:pt>
                <c:pt idx="76">
                  <c:v>4</c:v>
                </c:pt>
                <c:pt idx="77">
                  <c:v>4</c:v>
                </c:pt>
                <c:pt idx="78">
                  <c:v>4</c:v>
                </c:pt>
                <c:pt idx="79">
                  <c:v>4</c:v>
                </c:pt>
                <c:pt idx="80">
                  <c:v>4</c:v>
                </c:pt>
                <c:pt idx="81">
                  <c:v>4</c:v>
                </c:pt>
                <c:pt idx="82">
                  <c:v>4</c:v>
                </c:pt>
                <c:pt idx="83">
                  <c:v>4</c:v>
                </c:pt>
                <c:pt idx="84">
                  <c:v>3</c:v>
                </c:pt>
                <c:pt idx="85">
                  <c:v>3</c:v>
                </c:pt>
                <c:pt idx="86">
                  <c:v>3</c:v>
                </c:pt>
                <c:pt idx="87">
                  <c:v>3</c:v>
                </c:pt>
              </c:numCache>
            </c:numRef>
          </c:yVal>
        </c:ser>
        <c:ser>
          <c:idx val="1"/>
          <c:order val="1"/>
          <c:tx>
            <c:v>Missed by highest recall configuration</c:v>
          </c:tx>
          <c:spPr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c:spPr>
          <c:marker>
            <c:symbol val="circle"/>
            <c:size val="19"/>
            <c:spPr>
              <a:solidFill xmlns:a="http://schemas.openxmlformats.org/drawingml/2006/main">
                <a:srgbClr val="F17A43"/>
              </a:solidFill>
              <ns1:ln xmlns:ns1="http://schemas.openxmlformats.org/drawingml/2006/main" w="0">
                <ns1:noFill/>
              </ns1:ln>
            </c:spPr>
          </c:marker>
          <c:xVal>
            <c:numRef>
              <c:f>'Chart Data'!$C$2:$C$60</c:f>
              <c:numCache>
                <c:formatCode>General</c:formatCode>
                <c:ptCount val="59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1</c:v>
                </c:pt>
                <c:pt idx="18">
                  <c:v>2</c:v>
                </c:pt>
                <c:pt idx="19">
                  <c:v>3</c:v>
                </c:pt>
                <c:pt idx="20">
                  <c:v>4</c:v>
                </c:pt>
                <c:pt idx="21">
                  <c:v>5</c:v>
                </c:pt>
                <c:pt idx="22">
                  <c:v>6</c:v>
                </c:pt>
                <c:pt idx="23">
                  <c:v>7</c:v>
                </c:pt>
                <c:pt idx="24">
                  <c:v>8</c:v>
                </c:pt>
                <c:pt idx="25">
                  <c:v>9</c:v>
                </c:pt>
                <c:pt idx="26">
                  <c:v>10</c:v>
                </c:pt>
                <c:pt idx="27">
                  <c:v>11</c:v>
                </c:pt>
                <c:pt idx="28">
                  <c:v>12</c:v>
                </c:pt>
                <c:pt idx="29">
                  <c:v>13</c:v>
                </c:pt>
                <c:pt idx="30">
                  <c:v>14</c:v>
                </c:pt>
                <c:pt idx="31">
                  <c:v>15</c:v>
                </c:pt>
                <c:pt idx="32">
                  <c:v>16</c:v>
                </c:pt>
                <c:pt idx="33">
                  <c:v>17</c:v>
                </c:pt>
                <c:pt idx="34">
                  <c:v>18</c:v>
                </c:pt>
                <c:pt idx="35">
                  <c:v>19</c:v>
                </c:pt>
                <c:pt idx="36">
                  <c:v>20</c:v>
                </c:pt>
                <c:pt idx="37">
                  <c:v>21</c:v>
                </c:pt>
                <c:pt idx="38">
                  <c:v>1</c:v>
                </c:pt>
                <c:pt idx="39">
                  <c:v>2</c:v>
                </c:pt>
                <c:pt idx="40">
                  <c:v>3</c:v>
                </c:pt>
                <c:pt idx="41">
                  <c:v>4</c:v>
                </c:pt>
                <c:pt idx="42">
                  <c:v>5</c:v>
                </c:pt>
                <c:pt idx="43">
                  <c:v>6</c:v>
                </c:pt>
                <c:pt idx="44">
                  <c:v>7</c:v>
                </c:pt>
                <c:pt idx="45">
                  <c:v>8</c:v>
                </c:pt>
                <c:pt idx="46">
                  <c:v>9</c:v>
                </c:pt>
                <c:pt idx="47">
                  <c:v>10</c:v>
                </c:pt>
                <c:pt idx="48">
                  <c:v>11</c:v>
                </c:pt>
                <c:pt idx="49">
                  <c:v>12</c:v>
                </c:pt>
                <c:pt idx="50">
                  <c:v>13</c:v>
                </c:pt>
                <c:pt idx="51">
                  <c:v>14</c:v>
                </c:pt>
                <c:pt idx="52">
                  <c:v>15</c:v>
                </c:pt>
                <c:pt idx="53">
                  <c:v>16</c:v>
                </c:pt>
                <c:pt idx="54">
                  <c:v>17</c:v>
                </c:pt>
                <c:pt idx="55">
                  <c:v>18</c:v>
                </c:pt>
                <c:pt idx="56">
                  <c:v>19</c:v>
                </c:pt>
                <c:pt idx="57">
                  <c:v>20</c:v>
                </c:pt>
                <c:pt idx="58">
                  <c:v>21</c:v>
                </c:pt>
              </c:numCache>
            </c:numRef>
          </c:xVal>
          <c:yVal>
            <c:numRef>
              <c:f>'Chart Data'!$D$2:$D$60</c:f>
              <c:numCache>
                <c:formatCode>General</c:formatCode>
                <c:ptCount val="59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2</c:v>
                </c:pt>
                <c:pt idx="29">
                  <c:v>2</c:v>
                </c:pt>
                <c:pt idx="30">
                  <c:v>2</c:v>
                </c:pt>
                <c:pt idx="31">
                  <c:v>2</c:v>
                </c:pt>
                <c:pt idx="32">
                  <c:v>2</c:v>
                </c:pt>
                <c:pt idx="33">
                  <c:v>2</c:v>
                </c:pt>
                <c:pt idx="34">
                  <c:v>2</c:v>
                </c:pt>
                <c:pt idx="35">
                  <c:v>2</c:v>
                </c:pt>
                <c:pt idx="36">
                  <c:v>2</c:v>
                </c:pt>
                <c:pt idx="37">
                  <c:v>2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</c:valAx>
      <c:valAx>
        <c:axId val="48650112"/>
        <c:scaling>
          <c:orientation val="minMax"/>
          <c:max val="22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valAx>
      <c:spPr>
        <a:solidFill xmlns:a="http://schemas.openxmlformats.org/drawingml/2006/main">
          <a:srgbClr val="101110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10111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1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A58B5-505E-4797-91BD-6C8E749A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47825"/>
            <a:ext cx="13430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85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85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rPr>
              <a:t>I thought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B1202-D1B5-4426-9C7F-2DFDF35E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352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050" b="1">
                <a:solidFill>
                  <a:srgbClr val="F17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050" b="1">
                <a:solidFill>
                  <a:srgbClr val="F17A43"/>
                </a:solidFill>
                <a:latin typeface="Helvetica Neue"/>
                <a:ea typeface="Helvetica Neue"/>
                <a:cs typeface="Helvetica Neue"/>
              </a:rPr>
              <a:t>it was me.</a:t>
            </a:r>
          </a:p>
        </p:txBody>
      </p:sp>
    </p:spTree>
    <p:extLst>
      <p:ext uri="{BB962C8B-B14F-4D97-AF65-F5344CB8AC3E}">
        <p14:creationId xmlns:p14="http://schemas.microsoft.com/office/powerpoint/2010/main" val="793754728"/>
      </p:ext>
    </p:extLst>
  </p:cSld>
  <p:transition advClick="0" advTm="15000"/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1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FD6E7-C4C3-43F3-AA2C-D180A7B1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123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600" b="0">
                <a:solidFill>
                  <a:srgbClr val="DD89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600" b="0">
                <a:solidFill>
                  <a:srgbClr val="DD8978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1C82A-5891-40A3-9E58-AF1706DC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609850"/>
            <a:ext cx="11334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600" b="0">
                <a:solidFill>
                  <a:srgbClr val="A9AC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600" b="0">
                <a:solidFill>
                  <a:srgbClr val="A9ACA9"/>
                </a:solidFill>
                <a:latin typeface="Helvetica Neue"/>
                <a:ea typeface="Helvetica Neue"/>
                <a:cs typeface="Helvetica Neue"/>
              </a:rPr>
              <a:t>Is it me?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5F222-7CC3-4836-8EDC-AAF458F3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123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600" b="0">
                <a:solidFill>
                  <a:srgbClr val="9FC9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600" b="0">
                <a:solidFill>
                  <a:srgbClr val="9FC9B2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9F275-DA9F-44AB-89FF-DA1ED727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705350"/>
            <a:ext cx="11811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6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6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rPr>
              <a:t>What works?</a:t>
            </a:r>
          </a:p>
        </p:txBody>
      </p:sp>
    </p:spTree>
    <p:extLst>
      <p:ext uri="{BB962C8B-B14F-4D97-AF65-F5344CB8AC3E}">
        <p14:creationId xmlns:p14="http://schemas.microsoft.com/office/powerpoint/2010/main" val="1128756224"/>
      </p:ext>
    </p:extLst>
  </p:cSld>
  <p:transition advClick="0" advTm="15000"/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1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45BB1-BF15-4C08-8C08-C6BB89D1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47825"/>
            <a:ext cx="6667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450" b="1">
                <a:solidFill>
                  <a:srgbClr val="F17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450" b="1">
                <a:solidFill>
                  <a:srgbClr val="F17A43"/>
                </a:solidFill>
                <a:latin typeface="Helvetica Neue"/>
                <a:ea typeface="Helvetica Neue"/>
                <a:cs typeface="Helvetica Neue"/>
              </a:rPr>
              <a:t>2,416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E0A4C-2B5E-4DC6-B1A7-905E3781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257675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rPr>
              <a:t>AI code reviews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76F37-66A9-4327-966E-7ABBABE9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857250"/>
            <a:ext cx="6429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rPr>
              <a:t>72 configurations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494A8-1A68-499E-8D0D-F33EDD6B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048500"/>
            <a:ext cx="13287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F4F1E9"/>
                </a:solidFill>
                <a:latin typeface="Helvetica Neue"/>
                <a:ea typeface="Helvetica Neue"/>
                <a:cs typeface="Helvetica Neue"/>
              </a:rPr>
              <a:t>8 models × 3 approaches × 3 effort levels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B0BF3-C64F-448E-987D-1379C078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715250"/>
            <a:ext cx="13287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4C1B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C4C1B9"/>
                </a:solidFill>
                <a:latin typeface="Helvetica Neue"/>
                <a:ea typeface="Helvetica Neue"/>
                <a:cs typeface="Helvetica Neue"/>
              </a:rPr>
              <a:t>Six-PR coverage: 66 complete, 6 partial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858125" y="1552575"/>
          <a:ext xmlns:a="http://schemas.openxmlformats.org/drawingml/2006/main" cx="6334125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08b8e6f07a4b42"/>
          </a:graphicData>
        </a:graphic>
      </p:graphicFrame>
    </p:spTree>
    <p:extLst>
      <p:ext uri="{BB962C8B-B14F-4D97-AF65-F5344CB8AC3E}">
        <p14:creationId xmlns:p14="http://schemas.microsoft.com/office/powerpoint/2010/main" val="1933479741"/>
      </p:ext>
    </p:extLst>
  </p:cSld>
  <p:transition advClick="0" advTm="15000"/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1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12EE67-458F-4F57-82CC-AFCA22B3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5095875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rPr>
              <a:t>42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DC458-721F-4FA2-9479-396D2C58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5000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rPr>
              <a:t>known bugs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6096000" y="2571750"/>
          <a:ext xmlns:a="http://schemas.openxmlformats.org/drawingml/2006/main" cx="8048625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97b1ccf72724073"/>
          </a:graphicData>
        </a:graphic>
      </p:graphicFrame>
    </p:spTree>
    <p:extLst>
      <p:ext uri="{BB962C8B-B14F-4D97-AF65-F5344CB8AC3E}">
        <p14:creationId xmlns:p14="http://schemas.microsoft.com/office/powerpoint/2010/main" val="2092901272"/>
      </p:ext>
    </p:extLst>
  </p:cSld>
  <p:transition advClick="0" advTm="15000"/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1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3097D-1C24-48D1-95A3-E9050188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7626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950" b="1">
                <a:solidFill>
                  <a:srgbClr val="F17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950" b="1">
                <a:solidFill>
                  <a:srgbClr val="F17A43"/>
                </a:solidFill>
                <a:latin typeface="Helvetica Neue"/>
                <a:ea typeface="Helvetica Neue"/>
                <a:cs typeface="Helvetica Neue"/>
              </a:rPr>
              <a:t>+105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A6418-BA9F-4908-AFD7-C3233959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542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rPr>
              <a:t>verified defects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BB6CE-B5F0-4023-A38C-D25E82B7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3341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C4C1B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C4C1B9"/>
                </a:solidFill>
                <a:latin typeface="Helvetica Neue"/>
                <a:ea typeface="Helvetica Neue"/>
                <a:cs typeface="Helvetica Neue"/>
              </a:rPr>
              <a:t>147 in total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096000" y="2571750"/>
          <a:ext xmlns:a="http://schemas.openxmlformats.org/drawingml/2006/main" cx="8048625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e609deaa08843cf"/>
          </a:graphicData>
        </a:graphic>
      </p:graphicFrame>
    </p:spTree>
    <p:extLst>
      <p:ext uri="{BB962C8B-B14F-4D97-AF65-F5344CB8AC3E}">
        <p14:creationId xmlns:p14="http://schemas.microsoft.com/office/powerpoint/2010/main" val="1806164167"/>
      </p:ext>
    </p:extLst>
  </p:cSld>
  <p:transition advClick="0" advTm="15000"/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1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32390C-BA23-4592-ACEA-22D836C3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3411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6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rPr>
              <a:t>Same model. Better process.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9A0BB-7CB6-49A3-9F50-62E54E9C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9293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92938F"/>
                </a:solidFill>
                <a:latin typeface="Helvetica Neue"/>
                <a:ea typeface="Helvetica Neue"/>
                <a:cs typeface="Helvetica Neue"/>
              </a:rPr>
              <a:t>One prompt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740BA3-30BB-407D-847C-B693A1CB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9925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rPr>
              <a:t>Change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13576-9B1D-4A52-AF28-A81DF226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09925"/>
            <a:ext cx="2333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F3282-D7F2-4089-8DF9-F6FFBFC9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209925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rPr>
              <a:t>Findings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CAFA1-12ED-454C-9999-FB17EFF4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52825"/>
            <a:ext cx="3476625" cy="9525"/>
          </a:xfrm>
          <a:custGeom xmlns:a="http://schemas.openxmlformats.org/drawingml/2006/main">
            <a:pathLst>
              <a:path w="3476625" h="9525">
                <a:moveTo>
                  <a:pt x="0" y="0"/>
                </a:moveTo>
                <a:lnTo>
                  <a:pt x="3476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92938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CC88A9-ADA5-4559-BBAA-0CA2C63E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76625"/>
            <a:ext cx="152400" cy="152400"/>
          </a:xfrm>
          <a:custGeom xmlns:a="http://schemas.openxmlformats.org/drawingml/2006/main">
            <a:pathLst>
              <a:path w="152400" h="152400">
                <a:moveTo>
                  <a:pt x="152400" y="76200"/>
                </a:moveTo>
                <a:lnTo>
                  <a:pt x="0" y="0"/>
                </a:lnTo>
                <a:lnTo>
                  <a:pt x="0" y="152400"/>
                </a:lnTo>
                <a:lnTo>
                  <a:pt x="152400" y="76200"/>
                </a:lnTo>
              </a:path>
            </a:pathLst>
          </a:custGeom>
          <a:solidFill xmlns:a="http://schemas.openxmlformats.org/drawingml/2006/main">
            <a:srgbClr val="92938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B23CF-5BDB-4474-B1B4-7E7057A5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52825"/>
            <a:ext cx="2562225" cy="9525"/>
          </a:xfrm>
          <a:custGeom xmlns:a="http://schemas.openxmlformats.org/drawingml/2006/main">
            <a:pathLst>
              <a:path w="2562225" h="9525">
                <a:moveTo>
                  <a:pt x="0" y="0"/>
                </a:moveTo>
                <a:lnTo>
                  <a:pt x="256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92938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E51F3-619E-46E7-9F9A-24A9D109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3476625"/>
            <a:ext cx="152400" cy="152400"/>
          </a:xfrm>
          <a:custGeom xmlns:a="http://schemas.openxmlformats.org/drawingml/2006/main">
            <a:pathLst>
              <a:path w="152400" h="152400">
                <a:moveTo>
                  <a:pt x="152400" y="76200"/>
                </a:moveTo>
                <a:lnTo>
                  <a:pt x="0" y="0"/>
                </a:lnTo>
                <a:lnTo>
                  <a:pt x="0" y="152400"/>
                </a:lnTo>
                <a:lnTo>
                  <a:pt x="152400" y="76200"/>
                </a:lnTo>
              </a:path>
            </a:pathLst>
          </a:custGeom>
          <a:solidFill xmlns:a="http://schemas.openxmlformats.org/drawingml/2006/main">
            <a:srgbClr val="9293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941067-05A8-4466-8B95-7E40003D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17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17A43"/>
                </a:solidFill>
                <a:latin typeface="Helvetica Neue"/>
                <a:ea typeface="Helvetica Neue"/>
                <a:cs typeface="Helvetica Neue"/>
              </a:rPr>
              <a:t>A harness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375D00-A37A-44DB-B8CB-55AFA1E0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531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rPr>
              <a:t>Change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EB7F01-7391-47E9-88EC-A11457CE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15315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17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17A43"/>
                </a:solidFill>
                <a:latin typeface="Helvetica Neue"/>
                <a:ea typeface="Helvetica Neue"/>
                <a:cs typeface="Helvetica Neue"/>
              </a:rPr>
              <a:t>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516BAB-D3BB-41D5-8CB7-287FDF13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61531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17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17A43"/>
                </a:solidFill>
                <a:latin typeface="Helvetica Neue"/>
                <a:ea typeface="Helvetica Neue"/>
                <a:cs typeface="Helvetica Neue"/>
              </a:rPr>
              <a:t>Combine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93A50B-DD37-4565-A1B5-6FC10670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1531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rPr>
              <a:t>Findings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3F65F7-43F9-4583-B2FD-BD859EBB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14850"/>
            <a:ext cx="4905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17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17A43"/>
                </a:solidFill>
                <a:latin typeface="Helvetica Neue"/>
                <a:ea typeface="Helvetica Neue"/>
                <a:cs typeface="Helvetica Neue"/>
              </a:rPr>
              <a:t>Focused reviews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EE534E-0750-4E7E-B44E-81DC4124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6486525"/>
            <a:ext cx="400050" cy="9525"/>
          </a:xfrm>
          <a:custGeom xmlns:a="http://schemas.openxmlformats.org/drawingml/2006/main">
            <a:pathLst>
              <a:path w="400050" h="952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92938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D8933A-51CD-450B-957D-DC8F7C7F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6410325"/>
            <a:ext cx="152400" cy="152400"/>
          </a:xfrm>
          <a:custGeom xmlns:a="http://schemas.openxmlformats.org/drawingml/2006/main">
            <a:pathLst>
              <a:path w="152400" h="152400">
                <a:moveTo>
                  <a:pt x="152400" y="76200"/>
                </a:moveTo>
                <a:lnTo>
                  <a:pt x="0" y="0"/>
                </a:lnTo>
                <a:lnTo>
                  <a:pt x="0" y="152400"/>
                </a:lnTo>
                <a:lnTo>
                  <a:pt x="152400" y="76200"/>
                </a:lnTo>
              </a:path>
            </a:pathLst>
          </a:custGeom>
          <a:solidFill xmlns:a="http://schemas.openxmlformats.org/drawingml/2006/main">
            <a:srgbClr val="92938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CA1D28-5EB1-434C-BE02-F14AD4D9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4292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rPr>
              <a:t>Security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AC396E-71F8-4F12-9409-24D4405A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705475"/>
            <a:ext cx="628650" cy="781050"/>
          </a:xfrm>
          <a:custGeom xmlns:a="http://schemas.openxmlformats.org/drawingml/2006/main">
            <a:pathLst>
              <a:path w="628650" h="781050">
                <a:moveTo>
                  <a:pt x="0" y="781050"/>
                </a:moveTo>
                <a:lnTo>
                  <a:pt x="342900" y="781050"/>
                </a:lnTo>
                <a:lnTo>
                  <a:pt x="342900" y="0"/>
                </a:ln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17A4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B38A65-8250-4250-88B1-DACAC11E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705475"/>
            <a:ext cx="285750" cy="781050"/>
          </a:xfrm>
          <a:custGeom xmlns:a="http://schemas.openxmlformats.org/drawingml/2006/main">
            <a:pathLst>
              <a:path w="285750" h="781050">
                <a:moveTo>
                  <a:pt x="0" y="0"/>
                </a:moveTo>
                <a:lnTo>
                  <a:pt x="228600" y="0"/>
                </a:lnTo>
                <a:lnTo>
                  <a:pt x="228600" y="781050"/>
                </a:lnTo>
                <a:lnTo>
                  <a:pt x="285750" y="7810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17A4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D69DFE-995C-4001-9303-6166E4C3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61531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rPr>
              <a:t>Architecture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16EB15-1465-48FB-B7F6-8CBB4344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6429375"/>
            <a:ext cx="628650" cy="57150"/>
          </a:xfrm>
          <a:custGeom xmlns:a="http://schemas.openxmlformats.org/drawingml/2006/main">
            <a:pathLst>
              <a:path w="628650" h="57150">
                <a:moveTo>
                  <a:pt x="0" y="57150"/>
                </a:moveTo>
                <a:lnTo>
                  <a:pt x="342900" y="57150"/>
                </a:lnTo>
                <a:lnTo>
                  <a:pt x="342900" y="0"/>
                </a:ln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17A4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A5E7D9-5B82-452C-8FE7-A20F829C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29375"/>
            <a:ext cx="285750" cy="57150"/>
          </a:xfrm>
          <a:custGeom xmlns:a="http://schemas.openxmlformats.org/drawingml/2006/main">
            <a:pathLst>
              <a:path w="285750" h="57150">
                <a:moveTo>
                  <a:pt x="0" y="0"/>
                </a:moveTo>
                <a:lnTo>
                  <a:pt x="228600" y="0"/>
                </a:lnTo>
                <a:lnTo>
                  <a:pt x="228600" y="57150"/>
                </a:lnTo>
                <a:lnTo>
                  <a:pt x="28575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17A4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AFAAD2-F911-44B0-AFF9-2270BEC5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68770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rPr>
              <a:t>Tests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9DBEE6-E189-459F-909B-3C54E94A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6486525"/>
            <a:ext cx="628650" cy="666750"/>
          </a:xfrm>
          <a:custGeom xmlns:a="http://schemas.openxmlformats.org/drawingml/2006/main">
            <a:pathLst>
              <a:path w="628650" h="666750">
                <a:moveTo>
                  <a:pt x="0" y="0"/>
                </a:moveTo>
                <a:lnTo>
                  <a:pt x="342900" y="0"/>
                </a:lnTo>
                <a:lnTo>
                  <a:pt x="342900" y="666750"/>
                </a:lnTo>
                <a:lnTo>
                  <a:pt x="62865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17A4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E76BC2-4B98-4B48-AD75-EABEB1A1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86525"/>
            <a:ext cx="285750" cy="666750"/>
          </a:xfrm>
          <a:custGeom xmlns:a="http://schemas.openxmlformats.org/drawingml/2006/main">
            <a:pathLst>
              <a:path w="285750" h="666750">
                <a:moveTo>
                  <a:pt x="0" y="666750"/>
                </a:moveTo>
                <a:lnTo>
                  <a:pt x="228600" y="666750"/>
                </a:lnTo>
                <a:lnTo>
                  <a:pt x="228600" y="0"/>
                </a:ln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17A4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232669-509F-493E-AE89-7484B68C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7553325"/>
            <a:ext cx="104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C4C1B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C4C1B9"/>
                </a:solidFill>
                <a:latin typeface="Helvetica Neue"/>
                <a:ea typeface="Helvetica Neue"/>
                <a:cs typeface="Helvetica Neue"/>
              </a:rPr>
              <a:t>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6841B9-3371-40CA-87BC-BC382721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486525"/>
            <a:ext cx="200025" cy="9525"/>
          </a:xfrm>
          <a:custGeom xmlns:a="http://schemas.openxmlformats.org/drawingml/2006/main">
            <a:pathLst>
              <a:path w="200025" h="9525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92938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30DE4C-EE25-4ECF-89AA-0ABBF69D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325" y="6410325"/>
            <a:ext cx="152400" cy="152400"/>
          </a:xfrm>
          <a:custGeom xmlns:a="http://schemas.openxmlformats.org/drawingml/2006/main">
            <a:pathLst>
              <a:path w="152400" h="152400">
                <a:moveTo>
                  <a:pt x="152400" y="76200"/>
                </a:moveTo>
                <a:lnTo>
                  <a:pt x="0" y="0"/>
                </a:lnTo>
                <a:lnTo>
                  <a:pt x="0" y="152400"/>
                </a:lnTo>
                <a:lnTo>
                  <a:pt x="152400" y="76200"/>
                </a:lnTo>
              </a:path>
            </a:pathLst>
          </a:custGeom>
          <a:solidFill xmlns:a="http://schemas.openxmlformats.org/drawingml/2006/main">
            <a:srgbClr val="92938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1150906"/>
      </p:ext>
    </p:extLst>
  </p:cSld>
  <p:transition advClick="0" advTm="15000"/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1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A4BD1-427A-4E0E-BFE7-26877314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047750"/>
            <a:ext cx="6858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0" b="1">
                <a:solidFill>
                  <a:srgbClr val="F17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0" b="1">
                <a:solidFill>
                  <a:srgbClr val="F17A43"/>
                </a:solidFill>
                <a:latin typeface="Helvetica Neue"/>
                <a:ea typeface="Helvetica Neue"/>
                <a:cs typeface="Helvetica Neue"/>
              </a:rPr>
              <a:t>39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A8C54-34BA-4CA7-89B1-78A447E9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05300"/>
            <a:ext cx="5572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rPr>
              <a:t>of 42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24C37-F180-4F44-9075-E2EF7E99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67400"/>
            <a:ext cx="6143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rPr>
              <a:t>matched comparisons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E72507-BEDA-4F5D-918D-DB58F476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62750"/>
            <a:ext cx="581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0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0">
                <a:solidFill>
                  <a:srgbClr val="F4F1E9"/>
                </a:solidFill>
                <a:latin typeface="Helvetica Neue"/>
                <a:ea typeface="Helvetica Neue"/>
                <a:cs typeface="Helvetica Neue"/>
              </a:rPr>
              <a:t>found more bugs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7143750" y="1285875"/>
          <a:ext xmlns:a="http://schemas.openxmlformats.org/drawingml/2006/main" cx="7096125" cy="6048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694a418a704fb1"/>
          </a:graphicData>
        </a:graphic>
      </p:graphicFrame>
    </p:spTree>
    <p:extLst>
      <p:ext uri="{BB962C8B-B14F-4D97-AF65-F5344CB8AC3E}">
        <p14:creationId xmlns:p14="http://schemas.microsoft.com/office/powerpoint/2010/main" val="1861717021"/>
      </p:ext>
    </p:extLst>
  </p:cSld>
  <p:transition advClick="0" advTm="15000"/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1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90161-DA14-4732-9EBE-084CBFD0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23950"/>
            <a:ext cx="132397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0" b="1">
                <a:solidFill>
                  <a:srgbClr val="F17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0" b="1">
                <a:solidFill>
                  <a:srgbClr val="F17A43"/>
                </a:solidFill>
                <a:latin typeface="Helvetica Neue"/>
                <a:ea typeface="Helvetica Neue"/>
                <a:cs typeface="Helvetica Neue"/>
              </a:rPr>
              <a:t>10×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E29EE4-0747-4262-B430-F91DBC01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314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025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025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rPr>
              <a:t>the tokens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B0BDA1-6364-4B56-8CD8-039C4F99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181850"/>
            <a:ext cx="1190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C4C1B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C4C1B9"/>
                </a:solidFill>
                <a:latin typeface="Helvetica Neue"/>
                <a:ea typeface="Helvetica Neue"/>
                <a:cs typeface="Helvetica Neue"/>
              </a:rPr>
              <a:t>Median matched comparison</a:t>
            </a:r>
          </a:p>
        </p:txBody>
      </p:sp>
    </p:spTree>
    <p:extLst>
      <p:ext uri="{BB962C8B-B14F-4D97-AF65-F5344CB8AC3E}">
        <p14:creationId xmlns:p14="http://schemas.microsoft.com/office/powerpoint/2010/main" val="1100776010"/>
      </p:ext>
    </p:extLst>
  </p:cSld>
  <p:transition advClick="0" advTm="15000"/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1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541458a3274ea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B17C3-8BCC-4A7C-AD5C-E7F72CCF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681037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rPr>
              <a:t>More</a:t>
            </a:r>
          </a:p>
          <a:p xmlns:a="http://schemas.openxmlformats.org/drawingml/2006/main">
            <a:pPr>
              <a:defRPr sz="90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rPr>
              <a:t>thinking?</a:t>
            </a:r>
          </a:p>
        </p:txBody>
      </p:sp>
    </p:spTree>
    <p:extLst>
      <p:ext uri="{BB962C8B-B14F-4D97-AF65-F5344CB8AC3E}">
        <p14:creationId xmlns:p14="http://schemas.microsoft.com/office/powerpoint/2010/main" val="1498445291"/>
      </p:ext>
    </p:extLst>
  </p:cSld>
  <p:transition advClick="0" advTm="15000"/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1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EDB3E-AE63-4269-A41D-DAA4AFA7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3411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6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rPr>
              <a:t>Often, no clear gain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06C32-1566-4257-9A9B-D2163678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33575"/>
            <a:ext cx="1333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C4C1B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C4C1B9"/>
                </a:solidFill>
                <a:latin typeface="Helvetica Neue"/>
                <a:ea typeface="Helvetica Neue"/>
                <a:cs typeface="Helvetica Neue"/>
              </a:rPr>
              <a:t>High vs. medium reasoning on benchmark F1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1143000" y="2714625"/>
          <a:ext xmlns:a="http://schemas.openxmlformats.org/drawingml/2006/main" cx="12954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badf05e44245d4"/>
          </a:graphicData>
        </a:graphic>
      </p:graphicFrame>
    </p:spTree>
    <p:extLst>
      <p:ext uri="{BB962C8B-B14F-4D97-AF65-F5344CB8AC3E}">
        <p14:creationId xmlns:p14="http://schemas.microsoft.com/office/powerpoint/2010/main" val="1971511001"/>
      </p:ext>
    </p:extLst>
  </p:cSld>
  <p:transition advClick="0" advTm="15000"/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1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2165D-B3AA-4242-87A2-71918F05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3411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6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rPr>
              <a:t>This setup found more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D268E-D433-4CA7-A498-204EC6F8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33575"/>
            <a:ext cx="1333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C4C1B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C4C1B9"/>
                </a:solidFill>
                <a:latin typeface="Helvetica Neue"/>
                <a:ea typeface="Helvetica Neue"/>
                <a:cs typeface="Helvetica Neue"/>
              </a:rPr>
              <a:t>Verified bugs found across six PRs, out of 147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1143000" y="2714625"/>
          <a:ext xmlns:a="http://schemas.openxmlformats.org/drawingml/2006/main" cx="12954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1f6bc9e9f2145c7"/>
          </a:graphicData>
        </a:graphic>
      </p:graphicFrame>
    </p:spTree>
    <p:extLst>
      <p:ext uri="{BB962C8B-B14F-4D97-AF65-F5344CB8AC3E}">
        <p14:creationId xmlns:p14="http://schemas.microsoft.com/office/powerpoint/2010/main" val="843931452"/>
      </p:ext>
    </p:extLst>
  </p:cSld>
  <p:transition advClick="0" advTm="15000"/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1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0569EA-8FF2-4AFF-9C6A-76ECC0BC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3411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6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rPr>
              <a:t>1/55 the API cost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7E5EB-E265-4D2E-9F15-25958B05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33575"/>
            <a:ext cx="1333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C4C1B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C4C1B9"/>
                </a:solidFill>
                <a:latin typeface="Helvetica Neue"/>
                <a:ea typeface="Helvetica Neue"/>
                <a:cs typeface="Helvetica Neue"/>
              </a:rPr>
              <a:t>Mean API cost per review, at study list prices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1143000" y="2714625"/>
          <a:ext xmlns:a="http://schemas.openxmlformats.org/drawingml/2006/main" cx="12954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c8ae12128184b5a"/>
          </a:graphicData>
        </a:graphic>
      </p:graphicFrame>
    </p:spTree>
    <p:extLst>
      <p:ext uri="{BB962C8B-B14F-4D97-AF65-F5344CB8AC3E}">
        <p14:creationId xmlns:p14="http://schemas.microsoft.com/office/powerpoint/2010/main" val="396094880"/>
      </p:ext>
    </p:extLst>
  </p:cSld>
  <p:transition advClick="0" advTm="15000"/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11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E8E83-1945-4AB4-8A72-C72B9F3E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3411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6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rPr>
              <a:t>Nearly twice as fast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C3124-2BCE-464D-B41B-6195FEC9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33575"/>
            <a:ext cx="1333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C4C1B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C4C1B9"/>
                </a:solidFill>
                <a:latin typeface="Helvetica Neue"/>
                <a:ea typeface="Helvetica Neue"/>
                <a:cs typeface="Helvetica Neue"/>
              </a:rPr>
              <a:t>Mean elapsed time per review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1143000" y="2714625"/>
          <a:ext xmlns:a="http://schemas.openxmlformats.org/drawingml/2006/main" cx="12954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3808c9f00c4a30"/>
          </a:graphicData>
        </a:graphic>
      </p:graphicFrame>
    </p:spTree>
    <p:extLst>
      <p:ext uri="{BB962C8B-B14F-4D97-AF65-F5344CB8AC3E}">
        <p14:creationId xmlns:p14="http://schemas.microsoft.com/office/powerpoint/2010/main" val="1269746908"/>
      </p:ext>
    </p:extLst>
  </p:cSld>
  <p:transition advClick="0" advTm="15000"/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11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7F9ED-CCF9-48F1-883B-706E7745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542925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375" b="1">
                <a:solidFill>
                  <a:srgbClr val="F17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375" b="1">
                <a:solidFill>
                  <a:srgbClr val="F17A43"/>
                </a:solidFill>
                <a:latin typeface="Helvetica Neue"/>
                <a:ea typeface="Helvetica Neue"/>
                <a:cs typeface="Helvetica Neue"/>
              </a:rPr>
              <a:t>59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2695D-988E-487F-BD50-D98AD993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rPr>
              <a:t>bugs missed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96928-D43A-47E8-8D9E-2B6989F7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858000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C4C1B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C4C1B9"/>
                </a:solidFill>
                <a:latin typeface="Helvetica Neue"/>
                <a:ea typeface="Helvetica Neue"/>
                <a:cs typeface="Helvetica Neue"/>
              </a:rPr>
              <a:t>Even the best found 88 / 147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096000" y="2571750"/>
          <a:ext xmlns:a="http://schemas.openxmlformats.org/drawingml/2006/main" cx="8048625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9bfd6db72384e99"/>
          </a:graphicData>
        </a:graphic>
      </p:graphicFrame>
    </p:spTree>
    <p:extLst>
      <p:ext uri="{BB962C8B-B14F-4D97-AF65-F5344CB8AC3E}">
        <p14:creationId xmlns:p14="http://schemas.microsoft.com/office/powerpoint/2010/main" val="749062368"/>
      </p:ext>
    </p:extLst>
  </p:cSld>
  <p:transition advClick="0" advTm="15000"/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11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0E338-EBC8-4CCF-9524-FD867D84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476375"/>
            <a:ext cx="1333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45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45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rPr>
              <a:t>50 PRs.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A2B03-BF95-41DA-B6EF-BC2EA525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57625"/>
            <a:ext cx="13335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975" b="1">
                <a:solidFill>
                  <a:srgbClr val="F17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75" b="1">
                <a:solidFill>
                  <a:srgbClr val="F17A43"/>
                </a:solidFill>
                <a:latin typeface="Helvetica Neue"/>
                <a:ea typeface="Helvetica Neue"/>
                <a:cs typeface="Helvetica Neue"/>
              </a:rPr>
              <a:t>Five codebases.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6BF37-5517-4785-87AE-4D092682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734175"/>
            <a:ext cx="1285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4C1B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C4C1B9"/>
                </a:solidFill>
                <a:latin typeface="Helvetica Neue"/>
                <a:ea typeface="Helvetica Neue"/>
                <a:cs typeface="Helvetica Neue"/>
              </a:rPr>
              <a:t>Full campaign: 2,416 healthy reviews</a:t>
            </a:r>
          </a:p>
        </p:txBody>
      </p:sp>
    </p:spTree>
    <p:extLst>
      <p:ext uri="{BB962C8B-B14F-4D97-AF65-F5344CB8AC3E}">
        <p14:creationId xmlns:p14="http://schemas.microsoft.com/office/powerpoint/2010/main" val="1102391628"/>
      </p:ext>
    </p:extLst>
  </p:cSld>
  <p:transition advClick="0" advTm="15000"/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11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67926-9C56-4E0C-85D7-8886C38C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13335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85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85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rPr>
              <a:t>Find bugs.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295C4-320C-42AD-BD49-B6D790E1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67175"/>
            <a:ext cx="13525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200" b="1">
                <a:solidFill>
                  <a:srgbClr val="F17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200" b="1">
                <a:solidFill>
                  <a:srgbClr val="F17A43"/>
                </a:solidFill>
                <a:latin typeface="Helvetica Neue"/>
                <a:ea typeface="Helvetica Neue"/>
                <a:cs typeface="Helvetica Neue"/>
              </a:rPr>
              <a:t>Before users do.</a:t>
            </a:r>
          </a:p>
        </p:txBody>
      </p:sp>
    </p:spTree>
    <p:extLst>
      <p:ext uri="{BB962C8B-B14F-4D97-AF65-F5344CB8AC3E}">
        <p14:creationId xmlns:p14="http://schemas.microsoft.com/office/powerpoint/2010/main" val="207896542"/>
      </p:ext>
    </p:extLst>
  </p:cSld>
  <p:transition advClick="0" advTm="15000"/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011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4D5569-782C-4F7D-B1B3-4C12BCE1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276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E16F4-14DC-47BE-A0BF-0CEFADCE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05125"/>
            <a:ext cx="466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rPr>
              <a:t>Reproduce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3728F-F9FD-46CA-AFDE-7953C910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905125"/>
            <a:ext cx="161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rPr>
              <a:t>Fix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05C68-1816-4D9B-BE0F-9DF138B5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905125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rPr>
              <a:t>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62816-8B91-44F5-919C-92115B01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67100"/>
            <a:ext cx="409575" cy="9525"/>
          </a:xfrm>
          <a:custGeom xmlns:a="http://schemas.openxmlformats.org/drawingml/2006/main">
            <a:pathLst>
              <a:path w="409575" h="9525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92938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948DD-0969-4084-9216-E05B0EB0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90900"/>
            <a:ext cx="152400" cy="152400"/>
          </a:xfrm>
          <a:custGeom xmlns:a="http://schemas.openxmlformats.org/drawingml/2006/main">
            <a:pathLst>
              <a:path w="152400" h="152400">
                <a:moveTo>
                  <a:pt x="152400" y="76200"/>
                </a:moveTo>
                <a:lnTo>
                  <a:pt x="0" y="0"/>
                </a:lnTo>
                <a:lnTo>
                  <a:pt x="0" y="152400"/>
                </a:lnTo>
                <a:lnTo>
                  <a:pt x="152400" y="76200"/>
                </a:lnTo>
              </a:path>
            </a:pathLst>
          </a:custGeom>
          <a:solidFill xmlns:a="http://schemas.openxmlformats.org/drawingml/2006/main">
            <a:srgbClr val="92938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C867F9-7FAD-4292-A77B-F95BF57C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467100"/>
            <a:ext cx="771525" cy="9525"/>
          </a:xfrm>
          <a:custGeom xmlns:a="http://schemas.openxmlformats.org/drawingml/2006/main">
            <a:pathLst>
              <a:path w="771525" h="9525">
                <a:moveTo>
                  <a:pt x="0" y="0"/>
                </a:moveTo>
                <a:lnTo>
                  <a:pt x="771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92938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2DC37-AB30-4765-B265-61738A2F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90900"/>
            <a:ext cx="152400" cy="152400"/>
          </a:xfrm>
          <a:custGeom xmlns:a="http://schemas.openxmlformats.org/drawingml/2006/main">
            <a:pathLst>
              <a:path w="152400" h="152400">
                <a:moveTo>
                  <a:pt x="152400" y="76200"/>
                </a:moveTo>
                <a:lnTo>
                  <a:pt x="0" y="0"/>
                </a:lnTo>
                <a:lnTo>
                  <a:pt x="0" y="152400"/>
                </a:lnTo>
                <a:lnTo>
                  <a:pt x="152400" y="76200"/>
                </a:lnTo>
              </a:path>
            </a:pathLst>
          </a:custGeom>
          <a:solidFill xmlns:a="http://schemas.openxmlformats.org/drawingml/2006/main">
            <a:srgbClr val="92938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98336-F78E-4B64-918F-AC59752A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3467100"/>
            <a:ext cx="952500" cy="9525"/>
          </a:xfrm>
          <a:custGeom xmlns:a="http://schemas.openxmlformats.org/drawingml/2006/main"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92938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C9F94-0591-4C50-B16E-87ECC360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3390900"/>
            <a:ext cx="152400" cy="152400"/>
          </a:xfrm>
          <a:custGeom xmlns:a="http://schemas.openxmlformats.org/drawingml/2006/main">
            <a:pathLst>
              <a:path w="152400" h="152400">
                <a:moveTo>
                  <a:pt x="152400" y="76200"/>
                </a:moveTo>
                <a:lnTo>
                  <a:pt x="0" y="0"/>
                </a:lnTo>
                <a:lnTo>
                  <a:pt x="0" y="152400"/>
                </a:lnTo>
                <a:lnTo>
                  <a:pt x="152400" y="76200"/>
                </a:lnTo>
              </a:path>
            </a:pathLst>
          </a:custGeom>
          <a:solidFill xmlns:a="http://schemas.openxmlformats.org/drawingml/2006/main">
            <a:srgbClr val="92938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80C72-C8C0-446F-A636-BFB85DC4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29100"/>
            <a:ext cx="11239500" cy="1971675"/>
          </a:xfrm>
          <a:custGeom xmlns:a="http://schemas.openxmlformats.org/drawingml/2006/main">
            <a:pathLst>
              <a:path w="11239500" h="1971675">
                <a:moveTo>
                  <a:pt x="11239500" y="9525"/>
                </a:moveTo>
                <a:lnTo>
                  <a:pt x="11239500" y="1971675"/>
                </a:lnTo>
                <a:lnTo>
                  <a:pt x="0" y="197167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F17A4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3AD841-F570-497A-8A17-6FA6A73D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29100"/>
            <a:ext cx="9525" cy="523875"/>
          </a:xfrm>
          <a:custGeom xmlns:a="http://schemas.openxmlformats.org/drawingml/2006/main">
            <a:pathLst>
              <a:path w="9525" h="523875">
                <a:moveTo>
                  <a:pt x="0" y="523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F17A4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A51287-E8F0-463D-87BE-CC43989E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229100"/>
            <a:ext cx="152400" cy="152400"/>
          </a:xfrm>
          <a:custGeom xmlns:a="http://schemas.openxmlformats.org/drawingml/2006/main">
            <a:pathLst>
              <a:path w="152400" h="152400">
                <a:moveTo>
                  <a:pt x="76200" y="0"/>
                </a:moveTo>
                <a:lnTo>
                  <a:pt x="0" y="152400"/>
                </a:lnTo>
                <a:lnTo>
                  <a:pt x="152400" y="152400"/>
                </a:lnTo>
                <a:lnTo>
                  <a:pt x="76200" y="0"/>
                </a:lnTo>
              </a:path>
            </a:pathLst>
          </a:custGeom>
          <a:solidFill xmlns:a="http://schemas.openxmlformats.org/drawingml/2006/main">
            <a:srgbClr val="F17A4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D8AAAD-D0CC-4C28-94BC-26468F3F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6515100"/>
            <a:ext cx="438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F17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200" b="1">
                <a:solidFill>
                  <a:srgbClr val="F17A43"/>
                </a:solidFill>
                <a:latin typeface="Helvetica Neue"/>
                <a:ea typeface="Helvetica Neue"/>
                <a:cs typeface="Helvetica Neue"/>
              </a:rPr>
              <a:t>Repeat</a:t>
            </a:r>
          </a:p>
        </p:txBody>
      </p:sp>
    </p:spTree>
    <p:extLst>
      <p:ext uri="{BB962C8B-B14F-4D97-AF65-F5344CB8AC3E}">
        <p14:creationId xmlns:p14="http://schemas.microsoft.com/office/powerpoint/2010/main" val="1295922274"/>
      </p:ext>
    </p:extLst>
  </p:cSld>
  <p:transition advClick="0" advTm="15000"/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011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68545-9F74-4B5C-9950-6E53BB26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2858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0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rPr>
              <a:t>Use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ED576-31E5-4B7D-90B8-47D4C847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13525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400" b="1">
                <a:solidFill>
                  <a:srgbClr val="F17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400" b="1">
                <a:solidFill>
                  <a:srgbClr val="F17A43"/>
                </a:solidFill>
                <a:latin typeface="Helvetica Neue"/>
                <a:ea typeface="Helvetica Neue"/>
                <a:cs typeface="Helvetica Neue"/>
              </a:rPr>
              <a:t>harness.</a:t>
            </a:r>
          </a:p>
        </p:txBody>
      </p:sp>
    </p:spTree>
    <p:extLst>
      <p:ext uri="{BB962C8B-B14F-4D97-AF65-F5344CB8AC3E}">
        <p14:creationId xmlns:p14="http://schemas.microsoft.com/office/powerpoint/2010/main" val="383180974"/>
      </p:ext>
    </p:extLst>
  </p:cSld>
  <p:transition advClick="0" advTm="15000"/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011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80D6D-F765-41B4-8A7E-ED5FA8A7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81150"/>
            <a:ext cx="1352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75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75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rPr>
              <a:t>Start low.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BAC8A5-4DDC-44CB-A013-498B1BB3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13620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275" b="1">
                <a:solidFill>
                  <a:srgbClr val="F17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275" b="1">
                <a:solidFill>
                  <a:srgbClr val="F17A43"/>
                </a:solidFill>
                <a:latin typeface="Helvetica Neue"/>
                <a:ea typeface="Helvetica Neue"/>
                <a:cs typeface="Helvetica Neue"/>
              </a:rPr>
              <a:t>Try open weights.</a:t>
            </a:r>
          </a:p>
        </p:txBody>
      </p:sp>
    </p:spTree>
    <p:extLst>
      <p:ext uri="{BB962C8B-B14F-4D97-AF65-F5344CB8AC3E}">
        <p14:creationId xmlns:p14="http://schemas.microsoft.com/office/powerpoint/2010/main" val="701574628"/>
      </p:ext>
    </p:extLst>
  </p:cSld>
  <p:transition advClick="0" advTm="15000"/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011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80FC6-9387-4F1A-8E57-E4F73E42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1175"/>
            <a:ext cx="13430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325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325" b="1">
                <a:solidFill>
                  <a:srgbClr val="F4F1E9"/>
                </a:solidFill>
                <a:latin typeface="Helvetica Neue"/>
                <a:ea typeface="Helvetica Neue"/>
                <a:cs typeface="Helvetica Neue"/>
              </a:rPr>
              <a:t>Follow the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2405C6-06BA-4C28-8E1D-5B660761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14775"/>
            <a:ext cx="13525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550" b="1">
                <a:solidFill>
                  <a:srgbClr val="F17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550" b="1">
                <a:solidFill>
                  <a:srgbClr val="F17A43"/>
                </a:solidFill>
                <a:latin typeface="Helvetica Neue"/>
                <a:ea typeface="Helvetica Neue"/>
                <a:cs typeface="Helvetica Neue"/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1683839157"/>
      </p:ext>
    </p:extLst>
  </p:cSld>
  <p:transition advClick="0" advTm="15000"/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2026-09-29T04:43:38.0270000Z</dcterms:created>
  <dcterms:modified xsi:type="dcterms:W3CDTF">2026-09-29T04:43:38.0270000Z</dcterms:modified>
</coreProperties>
</file>